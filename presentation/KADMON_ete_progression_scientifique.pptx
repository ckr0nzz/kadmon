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RE-ID</c:v>
                </c:pt>
              </c:strCache>
            </c:strRef>
          </c:tx>
          <c:spPr>
            <a:solidFill>
              <a:srgbClr val="22D3C5"/>
            </a:solidFill>
            <a:effectLst/>
          </c:spPr>
          <c:invertIfNegative val="0"/>
          <c:dLbls>
            <c:numFmt formatCode="0.00&quot; %&quot;" sourceLinked="0"/>
            <c:txPr>
              <a:bodyPr/>
              <a:lstStyle/>
              <a:p>
                <a:pPr>
                  <a:defRPr b="0" i="0" strike="noStrike" sz="1200" u="none">
                    <a:solidFill>
                      <a:srgbClr val="F4FAFC"/>
                    </a:solidFill>
                    <a:latin typeface="Arial"/>
                  </a:defRPr>
                </a:pPr>
              </a:p>
            </c:txPr>
            <c:showLegendKey val="0"/>
            <c:showVal val="1"/>
            <c:showCatName val="0"/>
            <c:showSerName val="0"/>
            <c:showPercent val="0"/>
            <c:showBubbleSize val="0"/>
            <c:showLeaderLines val="0"/>
          </c:dLbls>
          <c:cat>
            <c:multiLvlStrRef>
              <c:f>Sheet1!$A$2:$A$7</c:f>
              <c:multiLvlStrCache>
                <c:ptCount val="6"/>
                <c:lvl>
                  <c:pt idx="0">
                    <c:v>QB +
Partial</c:v>
                  </c:pt>
                  <c:pt idx="1">
                    <c:v>QB +
Sinkhorn</c:v>
                  </c:pt>
                  <c:pt idx="2">
                    <c:v>KM +
Partial</c:v>
                  </c:pt>
                  <c:pt idx="3">
                    <c:v>KM +
Sinkhorn</c:v>
                  </c:pt>
                  <c:pt idx="4">
                    <c:v>Bin +
Partial</c:v>
                  </c:pt>
                  <c:pt idx="5">
                    <c:v>Bin +
Sinkhorn</c:v>
                  </c:pt>
                </c:lvl>
              </c:multiLvlStrCache>
            </c:multiLvlStrRef>
          </c:cat>
          <c:val>
            <c:numRef>
              <c:f>Sheet1!$B$2:$B$7</c:f>
              <c:numCache>
                <c:formatCode>General</c:formatCode>
                <c:ptCount val="6"/>
                <c:pt idx="0">
                  <c:v>93.55</c:v>
                </c:pt>
                <c:pt idx="1">
                  <c:v>90.32</c:v>
                </c:pt>
                <c:pt idx="2">
                  <c:v>100</c:v>
                </c:pt>
                <c:pt idx="3">
                  <c:v>93.55</c:v>
                </c:pt>
                <c:pt idx="4">
                  <c:v>96.77</c:v>
                </c:pt>
                <c:pt idx="5">
                  <c:v>96.77</c:v>
                </c:pt>
              </c:numCache>
            </c:numRef>
          </c:val>
        </c:ser>
        <c:dLbls>
          <c:numFmt formatCode="0.00&quot; %&quot;" sourceLinked="0"/>
          <c:txPr>
            <a:bodyPr/>
            <a:lstStyle/>
            <a:p>
              <a:pPr>
                <a:defRPr b="0" i="0" strike="noStrike" sz="1200" u="none">
                  <a:solidFill>
                    <a:srgbClr val="F4FAF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8C1C9"/>
                </a:solidFill>
                <a:latin typeface="Arial"/>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8C1C9"/>
                </a:solidFill>
                <a:latin typeface="Arial"/>
              </a:defRPr>
            </a:pPr>
            <a:endParaRPr lang="en-US"/>
          </a:p>
        </c:txPr>
        <c:crossAx val="2094734554"/>
        <c:crosses val="autoZero"/>
        <c:crossBetween val="between"/>
        <c:majorUnit val="5"/>
      </c:valAx>
      <c:spPr>
        <a:solidFill>
          <a:srgbClr val="06151B">
            <a:alpha val="0"/>
          </a:srgbClr>
        </a:solidFill>
        <a:ln>
          <a:noFill/>
        </a:ln>
        <a:effectLst/>
      </c:spPr>
    </c:plotArea>
    <c:plotVisOnly val="1"/>
    <c:dispBlanksAs val="span"/>
  </c:chart>
  <c:spPr>
    <a:solidFill>
      <a:srgbClr val="06151B">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Présenter le projet comme une progression : apprendre le domaine, choisir une question faisable, construire plusieurs pipelines et terminer avec une cartographie exploratoire des déplacements.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secondes. Dire que la difficulté initiale était double : apprendre les objets mathématiques manipulés et comprendre leur relation avec la biologie. L’emplacement de droite peut recevoir une capture personnelle de tractogramme ou un schéma pédagogique.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secondes. Montrer la croissance du périmètre : la tractographie entraîne vers l’acquisition, la reconstruction, les modèles de diffusion et la registration. Le message n’est pas de détailler chaque terme, mais de montrer pourquoi un choix de direction devenait nécessaire.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C’est le pivot narratif : il était impossible de tout maîtriser et d’avancer expérimentalement en quatre mois. Il fallait réduire le problème sans abandonner l’objectif à long terme.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secondes. Expliquer le nom initial et l’ambition HCP contre PPMI. Le blocage n’était pas scientifique seulement : l’accès aux données PPMI exige des démarches incompatibles avec le calendrier.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Présenter la reformulation proposée avec Étienne comme une étape logique de validation : avant de chercher une différence pathologique, le pipeline doit reconnaître la répétition d’un individu et séparer les individus différents.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secondes. Introduire uniquement les objets nécessaires : représentants, masses, coût MDF et plan de transport. Insister sur le fait qu’un plan répartit de la masse et n’est pas un matching 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Montrer pourquoi les poids doivent refléter les tailles de clusters. Partial OT peut laisser de côté une partie de la masse, ce qui rend la comparaison robuste aux portions mal expliquées.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Chiffres extraits du trial Optuna 75. Mentionner CST_L et IFOF_R sans proposer d’explication causale. La taille du bundle peut être une hypothèse, mais elle n’est pas démontrée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secondes. Transition nette : le pipeline fonctionne, mais le budget de représentants varie entre sujets et les centroïdes ne sont pas forcément de vraies streamlines.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Ne pas afficher de temps précis : les notebooks historiques ne fournissent pas un benchmark K-médoïdes propre et comparable. Présenter uniquement la raison computationnelle de l’abandon.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secondes. Résultat extrait du trial Optuna 44 : K=40, masse 0,63, Top-1 100 %. Souligner que cela démontre que la représentation compressée conserve suffisamment d’information dans cette expérience, pas que la méthode généralisera.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secondes. Même avec 100 % de RE-ID, la question anatomique reste ouverte : QuickBundles et K-Means produisent des représentants artificiels.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secondes. Formulation importante : Sinkhorn n’est pas un matching presque un-à-un. La régularisation entropique diffuse le transport. Le plan peut guider LDDMM, mais plan OT et champ diffeomorphe sont des objets différents.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Les valeurs viennent des trials anatomiques Optuna. La liste agrège les échecs observés dans les profils Sinkhorn et l’analyse à budget comparable. Dire clairement que LDDMM n’est pas une réussite du projet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Le qualificatif « intermédiaire » s’applique au temps de compression observé sur la paire 103818→135528 du notebook de comparaison : environ 1,2 s, contre 0,1–0,2 s pour QuickBundles et 2,2–3,2 s pour K-Means. Ne pas le généraliser comme benchmark universel.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secondes. Valeurs extraites des six trials documentés dans le README et la base Optuna. Les nombres de représentants sont des moyennes sur l’étude, tandis que les paramètres sont ceux des profils anatomiques.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Slide d’honnêteté scientifique. Le principal risque est le confounding : si les datasets sont acquis ou reconstruits différemment, la métrique peut détecter le pipeline plutôt que la biologie.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secondes. Pour chaque représentant source, on prend la ligne correspondante du plan OT. Les masses de cette ligne servent de poids pour calculer le barycentre des cibles orientées. La différence entre cette projection et la source donne le déplacement estimé. Le calcul exige un espace physique commun RASMM et ne garantit ni continuité ni inversibilité.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à 45 secondes selon la vidéo. Remplacer le cadre par la vidéo FURY existante. L’animation interpole linéairement les positions; elle ne représente pas un chemin géodésique ni une déformation anatomiquement contrainte.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secondes. La conclusion globale est la construction et la comparaison des pipelines, pas seulement le score maximal. Le projet établit une première validation d’identité géométrique et ouvre la voie vers la comparaison pathologique, sous réserve d’harmonisation et de validation anatomique.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51B"/>
        </a:solidFill>
      </p:bgPr>
    </p:bg>
    <p:spTree>
      <p:nvGrpSpPr>
        <p:cNvPr id="1" name=""/>
        <p:cNvGrpSpPr/>
        <p:nvPr/>
      </p:nvGrpSpPr>
      <p:grpSpPr>
        <a:xfrm>
          <a:off x="0" y="0"/>
          <a:ext cx="0" cy="0"/>
          <a:chOff x="0" y="0"/>
          <a:chExt cx="0" cy="0"/>
        </a:xfrm>
      </p:grpSpPr>
      <p:sp>
        <p:nvSpPr>
          <p:cNvPr id="2" name="Shape 0"/>
          <p:cNvSpPr/>
          <p:nvPr/>
        </p:nvSpPr>
        <p:spPr>
          <a:xfrm rot="1080000">
            <a:off x="7635240" y="-1005840"/>
            <a:ext cx="5394960" cy="5394960"/>
          </a:xfrm>
          <a:prstGeom prst="arc">
            <a:avLst/>
          </a:prstGeom>
          <a:solidFill>
            <a:srgbClr val="22D3C5">
              <a:alpha val="17000"/>
            </a:srgbClr>
          </a:solidFill>
          <a:ln w="12700">
            <a:solidFill>
              <a:srgbClr val="22D3C5">
                <a:alpha val="65000"/>
              </a:srgbClr>
            </a:solidFill>
            <a:prstDash val="solid"/>
          </a:ln>
        </p:spPr>
      </p:sp>
      <p:sp>
        <p:nvSpPr>
          <p:cNvPr id="3" name="Shape 1"/>
          <p:cNvSpPr/>
          <p:nvPr/>
        </p:nvSpPr>
        <p:spPr>
          <a:xfrm rot="12300000">
            <a:off x="8458200" y="594360"/>
            <a:ext cx="3840480" cy="3840480"/>
          </a:xfrm>
          <a:prstGeom prst="arc">
            <a:avLst/>
          </a:prstGeom>
          <a:solidFill>
            <a:srgbClr val="FF9B55">
              <a:alpha val="11000"/>
            </a:srgbClr>
          </a:solidFill>
          <a:ln w="12700">
            <a:solidFill>
              <a:srgbClr val="FF9B55">
                <a:alpha val="55000"/>
              </a:srgbClr>
            </a:solidFill>
            <a:prstDash val="solid"/>
          </a:ln>
        </p:spPr>
      </p:sp>
      <p:sp>
        <p:nvSpPr>
          <p:cNvPr id="4" name="Text 2"/>
          <p:cNvSpPr/>
          <p:nvPr/>
        </p:nvSpPr>
        <p:spPr>
          <a:xfrm>
            <a:off x="640080" y="1234440"/>
            <a:ext cx="6583680" cy="749808"/>
          </a:xfrm>
          <a:prstGeom prst="rect">
            <a:avLst/>
          </a:prstGeom>
          <a:noFill/>
          <a:ln/>
        </p:spPr>
        <p:txBody>
          <a:bodyPr wrap="square" lIns="0" tIns="0" rIns="0" bIns="0" rtlCol="0" anchor="ctr"/>
          <a:lstStyle/>
          <a:p>
            <a:pPr indent="0" marL="0">
              <a:buNone/>
            </a:pPr>
            <a:r>
              <a:rPr lang="en-US" sz="4700" b="1" spc="180" kern="0" dirty="0">
                <a:solidFill>
                  <a:srgbClr val="F4FAFC"/>
                </a:solidFill>
              </a:rPr>
              <a:t>KADMON</a:t>
            </a:r>
            <a:endParaRPr lang="en-US" sz="4700" dirty="0"/>
          </a:p>
        </p:txBody>
      </p:sp>
      <p:sp>
        <p:nvSpPr>
          <p:cNvPr id="5" name="Text 3"/>
          <p:cNvSpPr/>
          <p:nvPr/>
        </p:nvSpPr>
        <p:spPr>
          <a:xfrm>
            <a:off x="658368" y="2240280"/>
            <a:ext cx="6720840" cy="1078992"/>
          </a:xfrm>
          <a:prstGeom prst="rect">
            <a:avLst/>
          </a:prstGeom>
          <a:noFill/>
          <a:ln/>
        </p:spPr>
        <p:txBody>
          <a:bodyPr wrap="square" lIns="0" tIns="0" rIns="0" bIns="0" rtlCol="0" anchor="ctr">
            <a:normAutofit/>
          </a:bodyPr>
          <a:lstStyle/>
          <a:p>
            <a:pPr indent="0" marL="0">
              <a:buNone/>
            </a:pPr>
            <a:r>
              <a:rPr lang="en-US" sz="2700" b="1" dirty="0">
                <a:solidFill>
                  <a:srgbClr val="F4FAFC"/>
                </a:solidFill>
              </a:rPr>
              <a:t>De la découverte de la tractographie</a:t>
            </a:r>
            <a:endParaRPr lang="en-US" sz="2700" dirty="0"/>
          </a:p>
          <a:p>
            <a:pPr indent="0" marL="0">
              <a:buNone/>
            </a:pPr>
            <a:r>
              <a:rPr lang="en-US" sz="2700" b="1" dirty="0">
                <a:solidFill>
                  <a:srgbClr val="F4FAFC"/>
                </a:solidFill>
              </a:rPr>
              <a:t>à la cartographie de déviations</a:t>
            </a:r>
            <a:endParaRPr lang="en-US" sz="2700" dirty="0"/>
          </a:p>
        </p:txBody>
      </p:sp>
      <p:sp>
        <p:nvSpPr>
          <p:cNvPr id="6" name="Text 4"/>
          <p:cNvSpPr/>
          <p:nvPr/>
        </p:nvSpPr>
        <p:spPr>
          <a:xfrm>
            <a:off x="658368" y="3611880"/>
            <a:ext cx="5029200" cy="365760"/>
          </a:xfrm>
          <a:prstGeom prst="rect">
            <a:avLst/>
          </a:prstGeom>
          <a:noFill/>
          <a:ln/>
        </p:spPr>
        <p:txBody>
          <a:bodyPr wrap="square" lIns="0" tIns="0" rIns="0" bIns="0" rtlCol="0" anchor="ctr"/>
          <a:lstStyle/>
          <a:p>
            <a:pPr indent="0" marL="0">
              <a:buNone/>
            </a:pPr>
            <a:r>
              <a:rPr lang="en-US" sz="1800" dirty="0">
                <a:solidFill>
                  <a:srgbClr val="22D3C5"/>
                </a:solidFill>
              </a:rPr>
              <a:t>Une enquête scientifique en quatre mois</a:t>
            </a:r>
            <a:endParaRPr lang="en-US" sz="1800" dirty="0"/>
          </a:p>
        </p:txBody>
      </p:sp>
      <p:sp>
        <p:nvSpPr>
          <p:cNvPr id="7" name="Shape 5"/>
          <p:cNvSpPr/>
          <p:nvPr/>
        </p:nvSpPr>
        <p:spPr>
          <a:xfrm>
            <a:off x="658368" y="4370832"/>
            <a:ext cx="1325880" cy="310896"/>
          </a:xfrm>
          <a:prstGeom prst="roundRect">
            <a:avLst>
              <a:gd name="adj" fmla="val 17647"/>
            </a:avLst>
          </a:prstGeom>
          <a:solidFill>
            <a:srgbClr val="55BFFF">
              <a:alpha val="15000"/>
            </a:srgbClr>
          </a:solidFill>
          <a:ln w="12700">
            <a:solidFill>
              <a:srgbClr val="55BFFF"/>
            </a:solidFill>
            <a:prstDash val="solid"/>
          </a:ln>
        </p:spPr>
      </p:sp>
      <p:sp>
        <p:nvSpPr>
          <p:cNvPr id="8" name="Text 6"/>
          <p:cNvSpPr/>
          <p:nvPr/>
        </p:nvSpPr>
        <p:spPr>
          <a:xfrm>
            <a:off x="722376" y="4443984"/>
            <a:ext cx="1197864" cy="137160"/>
          </a:xfrm>
          <a:prstGeom prst="rect">
            <a:avLst/>
          </a:prstGeom>
          <a:noFill/>
          <a:ln/>
        </p:spPr>
        <p:txBody>
          <a:bodyPr wrap="square" lIns="0" tIns="0" rIns="0" bIns="0" rtlCol="0" anchor="ctr">
            <a:normAutofit/>
          </a:bodyPr>
          <a:lstStyle/>
          <a:p>
            <a:pPr algn="ctr" indent="0" marL="0">
              <a:buNone/>
            </a:pPr>
            <a:r>
              <a:rPr lang="en-US" sz="950" b="1" dirty="0">
                <a:solidFill>
                  <a:srgbClr val="55BFFF"/>
                </a:solidFill>
              </a:rPr>
              <a:t>COMPRESSION</a:t>
            </a:r>
            <a:endParaRPr lang="en-US" sz="950" dirty="0"/>
          </a:p>
        </p:txBody>
      </p:sp>
      <p:sp>
        <p:nvSpPr>
          <p:cNvPr id="9" name="Shape 7"/>
          <p:cNvSpPr/>
          <p:nvPr/>
        </p:nvSpPr>
        <p:spPr>
          <a:xfrm>
            <a:off x="2148840" y="4370832"/>
            <a:ext cx="1828800" cy="310896"/>
          </a:xfrm>
          <a:prstGeom prst="roundRect">
            <a:avLst>
              <a:gd name="adj" fmla="val 17647"/>
            </a:avLst>
          </a:prstGeom>
          <a:solidFill>
            <a:srgbClr val="FF9B55">
              <a:alpha val="15000"/>
            </a:srgbClr>
          </a:solidFill>
          <a:ln w="12700">
            <a:solidFill>
              <a:srgbClr val="FF9B55"/>
            </a:solidFill>
            <a:prstDash val="solid"/>
          </a:ln>
        </p:spPr>
      </p:sp>
      <p:sp>
        <p:nvSpPr>
          <p:cNvPr id="10" name="Text 8"/>
          <p:cNvSpPr/>
          <p:nvPr/>
        </p:nvSpPr>
        <p:spPr>
          <a:xfrm>
            <a:off x="2212848" y="4443984"/>
            <a:ext cx="1700784" cy="137160"/>
          </a:xfrm>
          <a:prstGeom prst="rect">
            <a:avLst/>
          </a:prstGeom>
          <a:noFill/>
          <a:ln/>
        </p:spPr>
        <p:txBody>
          <a:bodyPr wrap="square" lIns="0" tIns="0" rIns="0" bIns="0" rtlCol="0" anchor="ctr">
            <a:normAutofit/>
          </a:bodyPr>
          <a:lstStyle/>
          <a:p>
            <a:pPr algn="ctr" indent="0" marL="0">
              <a:buNone/>
            </a:pPr>
            <a:r>
              <a:rPr lang="en-US" sz="950" b="1" dirty="0">
                <a:solidFill>
                  <a:srgbClr val="FF9B55"/>
                </a:solidFill>
              </a:rPr>
              <a:t>OPTIMAL TRANSPORT</a:t>
            </a:r>
            <a:endParaRPr lang="en-US" sz="950" dirty="0"/>
          </a:p>
        </p:txBody>
      </p:sp>
      <p:sp>
        <p:nvSpPr>
          <p:cNvPr id="11" name="Shape 9"/>
          <p:cNvSpPr/>
          <p:nvPr/>
        </p:nvSpPr>
        <p:spPr>
          <a:xfrm>
            <a:off x="4142232" y="4370832"/>
            <a:ext cx="841248" cy="310896"/>
          </a:xfrm>
          <a:prstGeom prst="roundRect">
            <a:avLst>
              <a:gd name="adj" fmla="val 17647"/>
            </a:avLst>
          </a:prstGeom>
          <a:solidFill>
            <a:srgbClr val="22D3C5">
              <a:alpha val="15000"/>
            </a:srgbClr>
          </a:solidFill>
          <a:ln w="12700">
            <a:solidFill>
              <a:srgbClr val="22D3C5"/>
            </a:solidFill>
            <a:prstDash val="solid"/>
          </a:ln>
        </p:spPr>
      </p:sp>
      <p:sp>
        <p:nvSpPr>
          <p:cNvPr id="12" name="Text 10"/>
          <p:cNvSpPr/>
          <p:nvPr/>
        </p:nvSpPr>
        <p:spPr>
          <a:xfrm>
            <a:off x="4206240" y="4443984"/>
            <a:ext cx="713232" cy="137160"/>
          </a:xfrm>
          <a:prstGeom prst="rect">
            <a:avLst/>
          </a:prstGeom>
          <a:noFill/>
          <a:ln/>
        </p:spPr>
        <p:txBody>
          <a:bodyPr wrap="square" lIns="0" tIns="0" rIns="0" bIns="0" rtlCol="0" anchor="ctr">
            <a:normAutofit/>
          </a:bodyPr>
          <a:lstStyle/>
          <a:p>
            <a:pPr algn="ctr" indent="0" marL="0">
              <a:buNone/>
            </a:pPr>
            <a:r>
              <a:rPr lang="en-US" sz="950" b="1" dirty="0">
                <a:solidFill>
                  <a:srgbClr val="22D3C5"/>
                </a:solidFill>
              </a:rPr>
              <a:t>RE-ID</a:t>
            </a:r>
            <a:endParaRPr lang="en-US" sz="950" dirty="0"/>
          </a:p>
        </p:txBody>
      </p:sp>
      <p:sp>
        <p:nvSpPr>
          <p:cNvPr id="13" name="Shape 11"/>
          <p:cNvSpPr/>
          <p:nvPr/>
        </p:nvSpPr>
        <p:spPr>
          <a:xfrm>
            <a:off x="5148072" y="4370832"/>
            <a:ext cx="1389888" cy="310896"/>
          </a:xfrm>
          <a:prstGeom prst="roundRect">
            <a:avLst>
              <a:gd name="adj" fmla="val 17647"/>
            </a:avLst>
          </a:prstGeom>
          <a:solidFill>
            <a:srgbClr val="7EE081">
              <a:alpha val="15000"/>
            </a:srgbClr>
          </a:solidFill>
          <a:ln w="12700">
            <a:solidFill>
              <a:srgbClr val="7EE081"/>
            </a:solidFill>
            <a:prstDash val="solid"/>
          </a:ln>
        </p:spPr>
      </p:sp>
      <p:sp>
        <p:nvSpPr>
          <p:cNvPr id="14" name="Text 12"/>
          <p:cNvSpPr/>
          <p:nvPr/>
        </p:nvSpPr>
        <p:spPr>
          <a:xfrm>
            <a:off x="5212080" y="4443984"/>
            <a:ext cx="1261872" cy="137160"/>
          </a:xfrm>
          <a:prstGeom prst="rect">
            <a:avLst/>
          </a:prstGeom>
          <a:noFill/>
          <a:ln/>
        </p:spPr>
        <p:txBody>
          <a:bodyPr wrap="square" lIns="0" tIns="0" rIns="0" bIns="0" rtlCol="0" anchor="ctr">
            <a:normAutofit/>
          </a:bodyPr>
          <a:lstStyle/>
          <a:p>
            <a:pPr algn="ctr" indent="0" marL="0">
              <a:buNone/>
            </a:pPr>
            <a:r>
              <a:rPr lang="en-US" sz="950" b="1" dirty="0">
                <a:solidFill>
                  <a:srgbClr val="7EE081"/>
                </a:solidFill>
              </a:rPr>
              <a:t>DÉPLACEMENTS</a:t>
            </a:r>
            <a:endParaRPr lang="en-US" sz="950" dirty="0"/>
          </a:p>
        </p:txBody>
      </p:sp>
      <p:sp>
        <p:nvSpPr>
          <p:cNvPr id="15" name="Text 13"/>
          <p:cNvSpPr/>
          <p:nvPr/>
        </p:nvSpPr>
        <p:spPr>
          <a:xfrm>
            <a:off x="658368" y="5989320"/>
            <a:ext cx="6217920" cy="256032"/>
          </a:xfrm>
          <a:prstGeom prst="rect">
            <a:avLst/>
          </a:prstGeom>
          <a:noFill/>
          <a:ln/>
        </p:spPr>
        <p:txBody>
          <a:bodyPr wrap="square" lIns="0" tIns="0" rIns="0" bIns="0" rtlCol="0" anchor="ctr"/>
          <a:lstStyle/>
          <a:p>
            <a:pPr indent="0" marL="0">
              <a:buNone/>
            </a:pPr>
            <a:r>
              <a:rPr lang="en-US" sz="1150" dirty="0">
                <a:solidFill>
                  <a:srgbClr val="A8C1C9"/>
                </a:solidFill>
              </a:rPr>
              <a:t>Projet d’été · UQO · supervision : Étienne St-Onge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COMPRÉHENSION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02</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Au départ : deux mondes à apprendre en parallèle</a:t>
            </a:r>
            <a:endParaRPr lang="en-US" sz="2700" dirty="0"/>
          </a:p>
        </p:txBody>
      </p:sp>
      <p:sp>
        <p:nvSpPr>
          <p:cNvPr id="7" name="Shape 5"/>
          <p:cNvSpPr/>
          <p:nvPr/>
        </p:nvSpPr>
        <p:spPr>
          <a:xfrm>
            <a:off x="548640" y="1417320"/>
            <a:ext cx="3246120" cy="4343400"/>
          </a:xfrm>
          <a:prstGeom prst="roundRect">
            <a:avLst>
              <a:gd name="adj" fmla="val 1972"/>
            </a:avLst>
          </a:prstGeom>
          <a:solidFill>
            <a:srgbClr val="102831"/>
          </a:solidFill>
          <a:ln w="12700">
            <a:solidFill>
              <a:srgbClr val="31545E"/>
            </a:solidFill>
            <a:prstDash val="solid"/>
          </a:ln>
        </p:spPr>
      </p:sp>
      <p:sp>
        <p:nvSpPr>
          <p:cNvPr id="8" name="Shape 6"/>
          <p:cNvSpPr/>
          <p:nvPr/>
        </p:nvSpPr>
        <p:spPr>
          <a:xfrm>
            <a:off x="548640" y="1417320"/>
            <a:ext cx="50292" cy="4343400"/>
          </a:xfrm>
          <a:prstGeom prst="rect">
            <a:avLst/>
          </a:prstGeom>
          <a:solidFill>
            <a:srgbClr val="55BFFF"/>
          </a:solidFill>
          <a:ln w="12700">
            <a:solidFill>
              <a:srgbClr val="06151B">
                <a:alpha val="0"/>
              </a:srgbClr>
            </a:solidFill>
            <a:prstDash val="solid"/>
          </a:ln>
        </p:spPr>
      </p:sp>
      <p:sp>
        <p:nvSpPr>
          <p:cNvPr id="9" name="Text 7"/>
          <p:cNvSpPr/>
          <p:nvPr/>
        </p:nvSpPr>
        <p:spPr>
          <a:xfrm>
            <a:off x="768096" y="1618488"/>
            <a:ext cx="2834640" cy="502920"/>
          </a:xfrm>
          <a:prstGeom prst="rect">
            <a:avLst/>
          </a:prstGeom>
          <a:noFill/>
          <a:ln/>
        </p:spPr>
        <p:txBody>
          <a:bodyPr wrap="square" lIns="0" tIns="0" rIns="0" bIns="0" rtlCol="0" anchor="ctr">
            <a:normAutofit/>
          </a:bodyPr>
          <a:lstStyle/>
          <a:p>
            <a:pPr indent="0" marL="0">
              <a:buNone/>
            </a:pPr>
            <a:r>
              <a:rPr lang="en-US" sz="2700" b="1" dirty="0">
                <a:solidFill>
                  <a:srgbClr val="55BFFF"/>
                </a:solidFill>
              </a:rPr>
              <a:t>GÉOMÉTRIE</a:t>
            </a:r>
            <a:endParaRPr lang="en-US" sz="2700" dirty="0"/>
          </a:p>
        </p:txBody>
      </p:sp>
      <p:sp>
        <p:nvSpPr>
          <p:cNvPr id="10" name="Text 8"/>
          <p:cNvSpPr/>
          <p:nvPr/>
        </p:nvSpPr>
        <p:spPr>
          <a:xfrm>
            <a:off x="768096" y="2221992"/>
            <a:ext cx="283464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Représentation tractographique</a:t>
            </a:r>
            <a:endParaRPr lang="en-US" sz="1550" dirty="0"/>
          </a:p>
        </p:txBody>
      </p:sp>
      <p:sp>
        <p:nvSpPr>
          <p:cNvPr id="11" name="Text 9"/>
          <p:cNvSpPr/>
          <p:nvPr/>
        </p:nvSpPr>
        <p:spPr>
          <a:xfrm>
            <a:off x="768096" y="2633472"/>
            <a:ext cx="2834640" cy="2926080"/>
          </a:xfrm>
          <a:prstGeom prst="rect">
            <a:avLst/>
          </a:prstGeom>
          <a:noFill/>
          <a:ln/>
        </p:spPr>
        <p:txBody>
          <a:bodyPr wrap="square" lIns="0" tIns="0" rIns="0" bIns="0" rtlCol="0" anchor="t">
            <a:normAutofit/>
          </a:bodyPr>
          <a:lstStyle/>
          <a:p>
            <a:pPr indent="0" marL="0">
              <a:buNone/>
            </a:pPr>
            <a:r>
              <a:rPr lang="en-US" sz="1270" dirty="0">
                <a:solidFill>
                  <a:srgbClr val="A8C1C9"/>
                </a:solidFill>
              </a:rPr>
              <a:t>streamline</a:t>
            </a:r>
            <a:endParaRPr lang="en-US" sz="1270" dirty="0"/>
          </a:p>
          <a:p>
            <a:pPr indent="0" marL="0">
              <a:buNone/>
            </a:pPr>
            <a:r>
              <a:rPr lang="en-US" sz="1270" dirty="0">
                <a:solidFill>
                  <a:srgbClr val="A8C1C9"/>
                </a:solidFill>
              </a:rPr>
              <a:t>bundle</a:t>
            </a:r>
            <a:endParaRPr lang="en-US" sz="1270" dirty="0"/>
          </a:p>
          <a:p>
            <a:pPr indent="0" marL="0">
              <a:buNone/>
            </a:pPr>
            <a:r>
              <a:rPr lang="en-US" sz="1270" dirty="0">
                <a:solidFill>
                  <a:srgbClr val="A8C1C9"/>
                </a:solidFill>
              </a:rPr>
              <a:t>tractogramme</a:t>
            </a:r>
            <a:endParaRPr lang="en-US" sz="1270" dirty="0"/>
          </a:p>
          <a:p>
            <a:pPr indent="0" marL="0">
              <a:buNone/>
            </a:pPr>
            <a:r>
              <a:rPr lang="en-US" sz="1270" dirty="0">
                <a:solidFill>
                  <a:srgbClr val="A8C1C9"/>
                </a:solidFill>
              </a:rPr>
              <a:t>norme L2</a:t>
            </a:r>
            <a:endParaRPr lang="en-US" sz="1270" dirty="0"/>
          </a:p>
          <a:p>
            <a:pPr indent="0" marL="0">
              <a:buNone/>
            </a:pPr>
            <a:r>
              <a:rPr lang="en-US" sz="1270" dirty="0">
                <a:solidFill>
                  <a:srgbClr val="A8C1C9"/>
                </a:solidFill>
              </a:rPr>
              <a:t>MDF</a:t>
            </a:r>
            <a:endParaRPr lang="en-US" sz="1270" dirty="0"/>
          </a:p>
        </p:txBody>
      </p:sp>
      <p:sp>
        <p:nvSpPr>
          <p:cNvPr id="12" name="Shape 10"/>
          <p:cNvSpPr/>
          <p:nvPr/>
        </p:nvSpPr>
        <p:spPr>
          <a:xfrm>
            <a:off x="4050792" y="1417320"/>
            <a:ext cx="3246120" cy="4343400"/>
          </a:xfrm>
          <a:prstGeom prst="roundRect">
            <a:avLst>
              <a:gd name="adj" fmla="val 1972"/>
            </a:avLst>
          </a:prstGeom>
          <a:solidFill>
            <a:srgbClr val="102831"/>
          </a:solidFill>
          <a:ln w="12700">
            <a:solidFill>
              <a:srgbClr val="31545E"/>
            </a:solidFill>
            <a:prstDash val="solid"/>
          </a:ln>
        </p:spPr>
      </p:sp>
      <p:sp>
        <p:nvSpPr>
          <p:cNvPr id="13" name="Shape 11"/>
          <p:cNvSpPr/>
          <p:nvPr/>
        </p:nvSpPr>
        <p:spPr>
          <a:xfrm>
            <a:off x="4050792" y="1417320"/>
            <a:ext cx="50292" cy="4343400"/>
          </a:xfrm>
          <a:prstGeom prst="rect">
            <a:avLst/>
          </a:prstGeom>
          <a:solidFill>
            <a:srgbClr val="7EE081"/>
          </a:solidFill>
          <a:ln w="12700">
            <a:solidFill>
              <a:srgbClr val="06151B">
                <a:alpha val="0"/>
              </a:srgbClr>
            </a:solidFill>
            <a:prstDash val="solid"/>
          </a:ln>
        </p:spPr>
      </p:sp>
      <p:sp>
        <p:nvSpPr>
          <p:cNvPr id="14" name="Text 12"/>
          <p:cNvSpPr/>
          <p:nvPr/>
        </p:nvSpPr>
        <p:spPr>
          <a:xfrm>
            <a:off x="4270248" y="1618488"/>
            <a:ext cx="2834640" cy="502920"/>
          </a:xfrm>
          <a:prstGeom prst="rect">
            <a:avLst/>
          </a:prstGeom>
          <a:noFill/>
          <a:ln/>
        </p:spPr>
        <p:txBody>
          <a:bodyPr wrap="square" lIns="0" tIns="0" rIns="0" bIns="0" rtlCol="0" anchor="ctr">
            <a:normAutofit/>
          </a:bodyPr>
          <a:lstStyle/>
          <a:p>
            <a:pPr indent="0" marL="0">
              <a:buNone/>
            </a:pPr>
            <a:r>
              <a:rPr lang="en-US" sz="2700" b="1" dirty="0">
                <a:solidFill>
                  <a:srgbClr val="7EE081"/>
                </a:solidFill>
              </a:rPr>
              <a:t>BIOLOGIE</a:t>
            </a:r>
            <a:endParaRPr lang="en-US" sz="2700" dirty="0"/>
          </a:p>
        </p:txBody>
      </p:sp>
      <p:sp>
        <p:nvSpPr>
          <p:cNvPr id="15" name="Text 13"/>
          <p:cNvSpPr/>
          <p:nvPr/>
        </p:nvSpPr>
        <p:spPr>
          <a:xfrm>
            <a:off x="4270248" y="2221992"/>
            <a:ext cx="283464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Interprétation biologique</a:t>
            </a:r>
            <a:endParaRPr lang="en-US" sz="1550" dirty="0"/>
          </a:p>
        </p:txBody>
      </p:sp>
      <p:sp>
        <p:nvSpPr>
          <p:cNvPr id="16" name="Text 14"/>
          <p:cNvSpPr/>
          <p:nvPr/>
        </p:nvSpPr>
        <p:spPr>
          <a:xfrm>
            <a:off x="4270248" y="2633472"/>
            <a:ext cx="2834640" cy="2926080"/>
          </a:xfrm>
          <a:prstGeom prst="rect">
            <a:avLst/>
          </a:prstGeom>
          <a:noFill/>
          <a:ln/>
        </p:spPr>
        <p:txBody>
          <a:bodyPr wrap="square" lIns="0" tIns="0" rIns="0" bIns="0" rtlCol="0" anchor="t">
            <a:normAutofit/>
          </a:bodyPr>
          <a:lstStyle/>
          <a:p>
            <a:pPr indent="0" marL="0">
              <a:buNone/>
            </a:pPr>
            <a:r>
              <a:rPr lang="en-US" sz="1270" dirty="0">
                <a:solidFill>
                  <a:srgbClr val="A8C1C9"/>
                </a:solidFill>
              </a:rPr>
              <a:t>neurones et axones</a:t>
            </a:r>
            <a:endParaRPr lang="en-US" sz="1270" dirty="0"/>
          </a:p>
          <a:p>
            <a:pPr indent="0" marL="0">
              <a:buNone/>
            </a:pPr>
            <a:r>
              <a:rPr lang="en-US" sz="1270" dirty="0">
                <a:solidFill>
                  <a:srgbClr val="A8C1C9"/>
                </a:solidFill>
              </a:rPr>
              <a:t>matière blanche / grise</a:t>
            </a:r>
            <a:endParaRPr lang="en-US" sz="1270" dirty="0"/>
          </a:p>
          <a:p>
            <a:pPr indent="0" marL="0">
              <a:buNone/>
            </a:pPr>
            <a:r>
              <a:rPr lang="en-US" sz="1270" dirty="0">
                <a:solidFill>
                  <a:srgbClr val="A8C1C9"/>
                </a:solidFill>
              </a:rPr>
              <a:t>cellules gliales</a:t>
            </a:r>
            <a:endParaRPr lang="en-US" sz="1270" dirty="0"/>
          </a:p>
          <a:p>
            <a:pPr indent="0" marL="0">
              <a:buNone/>
            </a:pPr>
            <a:r>
              <a:rPr lang="en-US" sz="1270" dirty="0">
                <a:solidFill>
                  <a:srgbClr val="A8C1C9"/>
                </a:solidFill>
              </a:rPr>
              <a:t>limites du signal indirect</a:t>
            </a:r>
            <a:endParaRPr lang="en-US" sz="1270" dirty="0"/>
          </a:p>
        </p:txBody>
      </p:sp>
      <p:sp>
        <p:nvSpPr>
          <p:cNvPr id="17" name="Shape 15"/>
          <p:cNvSpPr/>
          <p:nvPr/>
        </p:nvSpPr>
        <p:spPr>
          <a:xfrm>
            <a:off x="7571232" y="1417320"/>
            <a:ext cx="4023360" cy="4343400"/>
          </a:xfrm>
          <a:prstGeom prst="roundRect">
            <a:avLst>
              <a:gd name="adj" fmla="val 1364"/>
            </a:avLst>
          </a:prstGeom>
          <a:solidFill>
            <a:srgbClr val="102831">
              <a:alpha val="85000"/>
            </a:srgbClr>
          </a:solidFill>
          <a:ln w="12700">
            <a:solidFill>
              <a:srgbClr val="55BFFF"/>
            </a:solidFill>
            <a:prstDash val="solid"/>
          </a:ln>
        </p:spPr>
      </p:sp>
      <p:sp>
        <p:nvSpPr>
          <p:cNvPr id="18" name="Text 16"/>
          <p:cNvSpPr/>
          <p:nvPr/>
        </p:nvSpPr>
        <p:spPr>
          <a:xfrm>
            <a:off x="7799832" y="3314700"/>
            <a:ext cx="3566160" cy="274320"/>
          </a:xfrm>
          <a:prstGeom prst="rect">
            <a:avLst/>
          </a:prstGeom>
          <a:noFill/>
          <a:ln/>
        </p:spPr>
        <p:txBody>
          <a:bodyPr wrap="square" lIns="0" tIns="0" rIns="0" bIns="0" rtlCol="0" anchor="ctr">
            <a:normAutofit/>
          </a:bodyPr>
          <a:lstStyle/>
          <a:p>
            <a:pPr algn="ctr" indent="0" marL="0">
              <a:buNone/>
            </a:pPr>
            <a:r>
              <a:rPr lang="en-US" sz="1700" b="1" dirty="0">
                <a:solidFill>
                  <a:srgbClr val="55BFFF"/>
                </a:solidFill>
              </a:rPr>
              <a:t>IMAGE À AJOUTER</a:t>
            </a:r>
            <a:endParaRPr lang="en-US" sz="1700" dirty="0"/>
          </a:p>
        </p:txBody>
      </p:sp>
      <p:sp>
        <p:nvSpPr>
          <p:cNvPr id="19" name="Text 17"/>
          <p:cNvSpPr/>
          <p:nvPr/>
        </p:nvSpPr>
        <p:spPr>
          <a:xfrm>
            <a:off x="7799832" y="3698748"/>
            <a:ext cx="3566160" cy="201168"/>
          </a:xfrm>
          <a:prstGeom prst="rect">
            <a:avLst/>
          </a:prstGeom>
          <a:noFill/>
          <a:ln/>
        </p:spPr>
        <p:txBody>
          <a:bodyPr wrap="square" lIns="0" tIns="0" rIns="0" bIns="0" rtlCol="0" anchor="ctr">
            <a:normAutofit/>
          </a:bodyPr>
          <a:lstStyle/>
          <a:p>
            <a:pPr algn="ctr" indent="0" marL="0">
              <a:buNone/>
            </a:pPr>
            <a:r>
              <a:rPr lang="en-US" sz="1100" dirty="0">
                <a:solidFill>
                  <a:srgbClr val="A8C1C9"/>
                </a:solidFill>
              </a:rPr>
              <a:t>tractogramme + schéma matière blanche</a:t>
            </a:r>
            <a:endParaRPr lang="en-US" sz="1100" dirty="0"/>
          </a:p>
        </p:txBody>
      </p:sp>
      <p:sp>
        <p:nvSpPr>
          <p:cNvPr id="20" name="Text 18"/>
          <p:cNvSpPr/>
          <p:nvPr/>
        </p:nvSpPr>
        <p:spPr>
          <a:xfrm>
            <a:off x="1143000" y="5989320"/>
            <a:ext cx="9875520" cy="256032"/>
          </a:xfrm>
          <a:prstGeom prst="rect">
            <a:avLst/>
          </a:prstGeom>
          <a:noFill/>
          <a:ln/>
        </p:spPr>
        <p:txBody>
          <a:bodyPr wrap="square" lIns="0" tIns="0" rIns="0" bIns="0" rtlCol="0" anchor="ctr"/>
          <a:lstStyle/>
          <a:p>
            <a:pPr algn="ctr" indent="0" marL="0">
              <a:buNone/>
            </a:pPr>
            <a:r>
              <a:rPr lang="en-US" sz="1300" b="1" dirty="0">
                <a:solidFill>
                  <a:srgbClr val="22D3C5"/>
                </a:solidFill>
              </a:rPr>
              <a:t>Comprendre ce que l’on calcule — et ce que les données représentent réellement.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COMPRÉHENSION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03</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Chaque réponse ouvrait trois nouvelles questions</a:t>
            </a:r>
            <a:endParaRPr lang="en-US" sz="2700" dirty="0"/>
          </a:p>
        </p:txBody>
      </p:sp>
      <p:sp>
        <p:nvSpPr>
          <p:cNvPr id="7" name="Text 5"/>
          <p:cNvSpPr/>
          <p:nvPr/>
        </p:nvSpPr>
        <p:spPr>
          <a:xfrm>
            <a:off x="365760" y="1024128"/>
            <a:ext cx="10927080" cy="292608"/>
          </a:xfrm>
          <a:prstGeom prst="rect">
            <a:avLst/>
          </a:prstGeom>
          <a:noFill/>
          <a:ln/>
        </p:spPr>
        <p:txBody>
          <a:bodyPr wrap="square" lIns="0" tIns="0" rIns="0" bIns="0" rtlCol="0" anchor="ctr">
            <a:normAutofit/>
          </a:bodyPr>
          <a:lstStyle/>
          <a:p>
            <a:pPr indent="0" marL="0">
              <a:buNone/>
            </a:pPr>
            <a:r>
              <a:rPr lang="en-US" sz="1350" dirty="0">
                <a:solidFill>
                  <a:srgbClr val="A8C1C9"/>
                </a:solidFill>
              </a:rPr>
              <a:t>État de l’art initial : Handbook of Diffusion MR Tractography · DIPY Workshop 2022</a:t>
            </a:r>
            <a:endParaRPr lang="en-US" sz="1350" dirty="0"/>
          </a:p>
        </p:txBody>
      </p:sp>
      <p:sp>
        <p:nvSpPr>
          <p:cNvPr id="8" name="Shape 6"/>
          <p:cNvSpPr/>
          <p:nvPr/>
        </p:nvSpPr>
        <p:spPr>
          <a:xfrm>
            <a:off x="914400" y="1691640"/>
            <a:ext cx="1828800" cy="786384"/>
          </a:xfrm>
          <a:prstGeom prst="ellipse">
            <a:avLst/>
          </a:prstGeom>
          <a:solidFill>
            <a:srgbClr val="173640"/>
          </a:solidFill>
          <a:ln w="12700">
            <a:solidFill>
              <a:srgbClr val="22D3C5"/>
            </a:solidFill>
            <a:prstDash val="solid"/>
          </a:ln>
        </p:spPr>
      </p:sp>
      <p:sp>
        <p:nvSpPr>
          <p:cNvPr id="9" name="Text 7"/>
          <p:cNvSpPr/>
          <p:nvPr/>
        </p:nvSpPr>
        <p:spPr>
          <a:xfrm>
            <a:off x="1042416" y="1956816"/>
            <a:ext cx="1572768" cy="201168"/>
          </a:xfrm>
          <a:prstGeom prst="rect">
            <a:avLst/>
          </a:prstGeom>
          <a:noFill/>
          <a:ln/>
        </p:spPr>
        <p:txBody>
          <a:bodyPr wrap="square" lIns="0" tIns="0" rIns="0" bIns="0" rtlCol="0" anchor="ctr">
            <a:normAutofit/>
          </a:bodyPr>
          <a:lstStyle/>
          <a:p>
            <a:pPr algn="ctr" indent="0" marL="0">
              <a:buNone/>
            </a:pPr>
            <a:r>
              <a:rPr lang="en-US" sz="1300" b="1" dirty="0">
                <a:solidFill>
                  <a:srgbClr val="F4FAFC"/>
                </a:solidFill>
              </a:rPr>
              <a:t>diffusion MRI</a:t>
            </a:r>
            <a:endParaRPr lang="en-US" sz="1300" dirty="0"/>
          </a:p>
        </p:txBody>
      </p:sp>
      <p:sp>
        <p:nvSpPr>
          <p:cNvPr id="10" name="Shape 8"/>
          <p:cNvSpPr/>
          <p:nvPr/>
        </p:nvSpPr>
        <p:spPr>
          <a:xfrm>
            <a:off x="3703320" y="1508760"/>
            <a:ext cx="1828800" cy="786384"/>
          </a:xfrm>
          <a:prstGeom prst="ellipse">
            <a:avLst/>
          </a:prstGeom>
          <a:solidFill>
            <a:srgbClr val="173640"/>
          </a:solidFill>
          <a:ln w="12700">
            <a:solidFill>
              <a:srgbClr val="55BFFF"/>
            </a:solidFill>
            <a:prstDash val="solid"/>
          </a:ln>
        </p:spPr>
      </p:sp>
      <p:sp>
        <p:nvSpPr>
          <p:cNvPr id="11" name="Text 9"/>
          <p:cNvSpPr/>
          <p:nvPr/>
        </p:nvSpPr>
        <p:spPr>
          <a:xfrm>
            <a:off x="3831336" y="1773936"/>
            <a:ext cx="1572768" cy="201168"/>
          </a:xfrm>
          <a:prstGeom prst="rect">
            <a:avLst/>
          </a:prstGeom>
          <a:noFill/>
          <a:ln/>
        </p:spPr>
        <p:txBody>
          <a:bodyPr wrap="square" lIns="0" tIns="0" rIns="0" bIns="0" rtlCol="0" anchor="ctr">
            <a:normAutofit/>
          </a:bodyPr>
          <a:lstStyle/>
          <a:p>
            <a:pPr algn="ctr" indent="0" marL="0">
              <a:buNone/>
            </a:pPr>
            <a:r>
              <a:rPr lang="en-US" sz="1300" b="1" dirty="0">
                <a:solidFill>
                  <a:srgbClr val="F4FAFC"/>
                </a:solidFill>
              </a:rPr>
              <a:t>DTI / DKI</a:t>
            </a:r>
            <a:endParaRPr lang="en-US" sz="1300" dirty="0"/>
          </a:p>
        </p:txBody>
      </p:sp>
      <p:sp>
        <p:nvSpPr>
          <p:cNvPr id="12" name="Shape 10"/>
          <p:cNvSpPr/>
          <p:nvPr/>
        </p:nvSpPr>
        <p:spPr>
          <a:xfrm>
            <a:off x="6583680" y="1737360"/>
            <a:ext cx="1828800" cy="786384"/>
          </a:xfrm>
          <a:prstGeom prst="ellipse">
            <a:avLst/>
          </a:prstGeom>
          <a:solidFill>
            <a:srgbClr val="173640"/>
          </a:solidFill>
          <a:ln w="12700">
            <a:solidFill>
              <a:srgbClr val="7EE081"/>
            </a:solidFill>
            <a:prstDash val="solid"/>
          </a:ln>
        </p:spPr>
      </p:sp>
      <p:sp>
        <p:nvSpPr>
          <p:cNvPr id="13" name="Text 11"/>
          <p:cNvSpPr/>
          <p:nvPr/>
        </p:nvSpPr>
        <p:spPr>
          <a:xfrm>
            <a:off x="6711696" y="2002536"/>
            <a:ext cx="1572768" cy="201168"/>
          </a:xfrm>
          <a:prstGeom prst="rect">
            <a:avLst/>
          </a:prstGeom>
          <a:noFill/>
          <a:ln/>
        </p:spPr>
        <p:txBody>
          <a:bodyPr wrap="square" lIns="0" tIns="0" rIns="0" bIns="0" rtlCol="0" anchor="ctr">
            <a:normAutofit/>
          </a:bodyPr>
          <a:lstStyle/>
          <a:p>
            <a:pPr algn="ctr" indent="0" marL="0">
              <a:buNone/>
            </a:pPr>
            <a:r>
              <a:rPr lang="en-US" sz="1300" b="1" dirty="0">
                <a:solidFill>
                  <a:srgbClr val="F4FAFC"/>
                </a:solidFill>
              </a:rPr>
              <a:t>mouvement brownien</a:t>
            </a:r>
            <a:endParaRPr lang="en-US" sz="1300" dirty="0"/>
          </a:p>
        </p:txBody>
      </p:sp>
      <p:sp>
        <p:nvSpPr>
          <p:cNvPr id="14" name="Shape 12"/>
          <p:cNvSpPr/>
          <p:nvPr/>
        </p:nvSpPr>
        <p:spPr>
          <a:xfrm>
            <a:off x="9372600" y="1481328"/>
            <a:ext cx="1828800" cy="786384"/>
          </a:xfrm>
          <a:prstGeom prst="ellipse">
            <a:avLst/>
          </a:prstGeom>
          <a:solidFill>
            <a:srgbClr val="173640"/>
          </a:solidFill>
          <a:ln w="12700">
            <a:solidFill>
              <a:srgbClr val="FF9B55"/>
            </a:solidFill>
            <a:prstDash val="solid"/>
          </a:ln>
        </p:spPr>
      </p:sp>
      <p:sp>
        <p:nvSpPr>
          <p:cNvPr id="15" name="Text 13"/>
          <p:cNvSpPr/>
          <p:nvPr/>
        </p:nvSpPr>
        <p:spPr>
          <a:xfrm>
            <a:off x="9500616" y="1746504"/>
            <a:ext cx="1572768" cy="201168"/>
          </a:xfrm>
          <a:prstGeom prst="rect">
            <a:avLst/>
          </a:prstGeom>
          <a:noFill/>
          <a:ln/>
        </p:spPr>
        <p:txBody>
          <a:bodyPr wrap="square" lIns="0" tIns="0" rIns="0" bIns="0" rtlCol="0" anchor="ctr">
            <a:normAutofit/>
          </a:bodyPr>
          <a:lstStyle/>
          <a:p>
            <a:pPr algn="ctr" indent="0" marL="0">
              <a:buNone/>
            </a:pPr>
            <a:r>
              <a:rPr lang="en-US" sz="1300" b="1" dirty="0">
                <a:solidFill>
                  <a:srgbClr val="F4FAFC"/>
                </a:solidFill>
              </a:rPr>
              <a:t>acquisition</a:t>
            </a:r>
            <a:endParaRPr lang="en-US" sz="1300" dirty="0"/>
          </a:p>
        </p:txBody>
      </p:sp>
      <p:sp>
        <p:nvSpPr>
          <p:cNvPr id="16" name="Shape 14"/>
          <p:cNvSpPr/>
          <p:nvPr/>
        </p:nvSpPr>
        <p:spPr>
          <a:xfrm>
            <a:off x="1371600" y="4096512"/>
            <a:ext cx="1828800" cy="786384"/>
          </a:xfrm>
          <a:prstGeom prst="ellipse">
            <a:avLst/>
          </a:prstGeom>
          <a:solidFill>
            <a:srgbClr val="173640"/>
          </a:solidFill>
          <a:ln w="12700">
            <a:solidFill>
              <a:srgbClr val="FF9B55"/>
            </a:solidFill>
            <a:prstDash val="solid"/>
          </a:ln>
        </p:spPr>
      </p:sp>
      <p:sp>
        <p:nvSpPr>
          <p:cNvPr id="17" name="Text 15"/>
          <p:cNvSpPr/>
          <p:nvPr/>
        </p:nvSpPr>
        <p:spPr>
          <a:xfrm>
            <a:off x="1499616" y="4361688"/>
            <a:ext cx="1572768" cy="201168"/>
          </a:xfrm>
          <a:prstGeom prst="rect">
            <a:avLst/>
          </a:prstGeom>
          <a:noFill/>
          <a:ln/>
        </p:spPr>
        <p:txBody>
          <a:bodyPr wrap="square" lIns="0" tIns="0" rIns="0" bIns="0" rtlCol="0" anchor="ctr">
            <a:normAutofit/>
          </a:bodyPr>
          <a:lstStyle/>
          <a:p>
            <a:pPr algn="ctr" indent="0" marL="0">
              <a:buNone/>
            </a:pPr>
            <a:r>
              <a:rPr lang="en-US" sz="1300" b="1" dirty="0">
                <a:solidFill>
                  <a:srgbClr val="F4FAFC"/>
                </a:solidFill>
              </a:rPr>
              <a:t>denoising</a:t>
            </a:r>
            <a:endParaRPr lang="en-US" sz="1300" dirty="0"/>
          </a:p>
        </p:txBody>
      </p:sp>
      <p:sp>
        <p:nvSpPr>
          <p:cNvPr id="18" name="Shape 16"/>
          <p:cNvSpPr/>
          <p:nvPr/>
        </p:nvSpPr>
        <p:spPr>
          <a:xfrm>
            <a:off x="4251960" y="4251960"/>
            <a:ext cx="1828800" cy="786384"/>
          </a:xfrm>
          <a:prstGeom prst="ellipse">
            <a:avLst/>
          </a:prstGeom>
          <a:solidFill>
            <a:srgbClr val="173640"/>
          </a:solidFill>
          <a:ln w="12700">
            <a:solidFill>
              <a:srgbClr val="22D3C5"/>
            </a:solidFill>
            <a:prstDash val="solid"/>
          </a:ln>
        </p:spPr>
      </p:sp>
      <p:sp>
        <p:nvSpPr>
          <p:cNvPr id="19" name="Text 17"/>
          <p:cNvSpPr/>
          <p:nvPr/>
        </p:nvSpPr>
        <p:spPr>
          <a:xfrm>
            <a:off x="4379976" y="4517136"/>
            <a:ext cx="1572768" cy="201168"/>
          </a:xfrm>
          <a:prstGeom prst="rect">
            <a:avLst/>
          </a:prstGeom>
          <a:noFill/>
          <a:ln/>
        </p:spPr>
        <p:txBody>
          <a:bodyPr wrap="square" lIns="0" tIns="0" rIns="0" bIns="0" rtlCol="0" anchor="ctr">
            <a:normAutofit/>
          </a:bodyPr>
          <a:lstStyle/>
          <a:p>
            <a:pPr algn="ctr" indent="0" marL="0">
              <a:buNone/>
            </a:pPr>
            <a:r>
              <a:rPr lang="en-US" sz="1300" b="1" dirty="0">
                <a:solidFill>
                  <a:srgbClr val="F4FAFC"/>
                </a:solidFill>
              </a:rPr>
              <a:t>reconstruction</a:t>
            </a:r>
            <a:endParaRPr lang="en-US" sz="1300" dirty="0"/>
          </a:p>
        </p:txBody>
      </p:sp>
      <p:sp>
        <p:nvSpPr>
          <p:cNvPr id="20" name="Shape 18"/>
          <p:cNvSpPr/>
          <p:nvPr/>
        </p:nvSpPr>
        <p:spPr>
          <a:xfrm>
            <a:off x="7132320" y="4041648"/>
            <a:ext cx="1828800" cy="786384"/>
          </a:xfrm>
          <a:prstGeom prst="ellipse">
            <a:avLst/>
          </a:prstGeom>
          <a:solidFill>
            <a:srgbClr val="173640"/>
          </a:solidFill>
          <a:ln w="12700">
            <a:solidFill>
              <a:srgbClr val="55BFFF"/>
            </a:solidFill>
            <a:prstDash val="solid"/>
          </a:ln>
        </p:spPr>
      </p:sp>
      <p:sp>
        <p:nvSpPr>
          <p:cNvPr id="21" name="Text 19"/>
          <p:cNvSpPr/>
          <p:nvPr/>
        </p:nvSpPr>
        <p:spPr>
          <a:xfrm>
            <a:off x="7260336" y="4306824"/>
            <a:ext cx="1572768" cy="201168"/>
          </a:xfrm>
          <a:prstGeom prst="rect">
            <a:avLst/>
          </a:prstGeom>
          <a:noFill/>
          <a:ln/>
        </p:spPr>
        <p:txBody>
          <a:bodyPr wrap="square" lIns="0" tIns="0" rIns="0" bIns="0" rtlCol="0" anchor="ctr">
            <a:normAutofit/>
          </a:bodyPr>
          <a:lstStyle/>
          <a:p>
            <a:pPr algn="ctr" indent="0" marL="0">
              <a:buNone/>
            </a:pPr>
            <a:r>
              <a:rPr lang="en-US" sz="1300" b="1" dirty="0">
                <a:solidFill>
                  <a:srgbClr val="F4FAFC"/>
                </a:solidFill>
              </a:rPr>
              <a:t>registration</a:t>
            </a:r>
            <a:endParaRPr lang="en-US" sz="1300" dirty="0"/>
          </a:p>
        </p:txBody>
      </p:sp>
      <p:sp>
        <p:nvSpPr>
          <p:cNvPr id="22" name="Shape 20"/>
          <p:cNvSpPr/>
          <p:nvPr/>
        </p:nvSpPr>
        <p:spPr>
          <a:xfrm>
            <a:off x="9464040" y="4315968"/>
            <a:ext cx="1828800" cy="786384"/>
          </a:xfrm>
          <a:prstGeom prst="ellipse">
            <a:avLst/>
          </a:prstGeom>
          <a:solidFill>
            <a:srgbClr val="173640"/>
          </a:solidFill>
          <a:ln w="12700">
            <a:solidFill>
              <a:srgbClr val="7EE081"/>
            </a:solidFill>
            <a:prstDash val="solid"/>
          </a:ln>
        </p:spPr>
      </p:sp>
      <p:sp>
        <p:nvSpPr>
          <p:cNvPr id="23" name="Text 21"/>
          <p:cNvSpPr/>
          <p:nvPr/>
        </p:nvSpPr>
        <p:spPr>
          <a:xfrm>
            <a:off x="9592056" y="4581144"/>
            <a:ext cx="1572768" cy="201168"/>
          </a:xfrm>
          <a:prstGeom prst="rect">
            <a:avLst/>
          </a:prstGeom>
          <a:noFill/>
          <a:ln/>
        </p:spPr>
        <p:txBody>
          <a:bodyPr wrap="square" lIns="0" tIns="0" rIns="0" bIns="0" rtlCol="0" anchor="ctr">
            <a:normAutofit/>
          </a:bodyPr>
          <a:lstStyle/>
          <a:p>
            <a:pPr algn="ctr" indent="0" marL="0">
              <a:buNone/>
            </a:pPr>
            <a:r>
              <a:rPr lang="en-US" sz="1300" b="1" dirty="0">
                <a:solidFill>
                  <a:srgbClr val="F4FAFC"/>
                </a:solidFill>
              </a:rPr>
              <a:t>mathématiques</a:t>
            </a:r>
            <a:endParaRPr lang="en-US" sz="1300" dirty="0"/>
          </a:p>
        </p:txBody>
      </p:sp>
      <p:sp>
        <p:nvSpPr>
          <p:cNvPr id="24" name="Shape 22"/>
          <p:cNvSpPr/>
          <p:nvPr/>
        </p:nvSpPr>
        <p:spPr>
          <a:xfrm>
            <a:off x="2651760" y="2057400"/>
            <a:ext cx="1005840" cy="0"/>
          </a:xfrm>
          <a:prstGeom prst="line">
            <a:avLst/>
          </a:prstGeom>
          <a:noFill/>
          <a:ln w="12700">
            <a:solidFill>
              <a:srgbClr val="31545E"/>
            </a:solidFill>
            <a:prstDash val="solid"/>
            <a:headEnd type="none"/>
            <a:tailEnd type="triangle"/>
          </a:ln>
        </p:spPr>
      </p:sp>
      <p:sp>
        <p:nvSpPr>
          <p:cNvPr id="25" name="Shape 23"/>
          <p:cNvSpPr/>
          <p:nvPr/>
        </p:nvSpPr>
        <p:spPr>
          <a:xfrm>
            <a:off x="5486400" y="1965960"/>
            <a:ext cx="1005840" cy="0"/>
          </a:xfrm>
          <a:prstGeom prst="line">
            <a:avLst/>
          </a:prstGeom>
          <a:noFill/>
          <a:ln w="12700">
            <a:solidFill>
              <a:srgbClr val="31545E"/>
            </a:solidFill>
            <a:prstDash val="solid"/>
            <a:headEnd type="none"/>
            <a:tailEnd type="triangle"/>
          </a:ln>
        </p:spPr>
      </p:sp>
      <p:sp>
        <p:nvSpPr>
          <p:cNvPr id="26" name="Shape 24"/>
          <p:cNvSpPr/>
          <p:nvPr/>
        </p:nvSpPr>
        <p:spPr>
          <a:xfrm>
            <a:off x="8366760" y="1993392"/>
            <a:ext cx="914400" cy="0"/>
          </a:xfrm>
          <a:prstGeom prst="line">
            <a:avLst/>
          </a:prstGeom>
          <a:noFill/>
          <a:ln w="12700">
            <a:solidFill>
              <a:srgbClr val="31545E"/>
            </a:solidFill>
            <a:prstDash val="solid"/>
            <a:headEnd type="none"/>
            <a:tailEnd type="triangle"/>
          </a:ln>
        </p:spPr>
      </p:sp>
      <p:sp>
        <p:nvSpPr>
          <p:cNvPr id="27" name="Shape 25"/>
          <p:cNvSpPr/>
          <p:nvPr/>
        </p:nvSpPr>
        <p:spPr>
          <a:xfrm>
            <a:off x="2697480" y="4251960"/>
            <a:ext cx="1463040" cy="0"/>
          </a:xfrm>
          <a:prstGeom prst="line">
            <a:avLst/>
          </a:prstGeom>
          <a:noFill/>
          <a:ln w="12700">
            <a:solidFill>
              <a:srgbClr val="31545E"/>
            </a:solidFill>
            <a:prstDash val="solid"/>
            <a:headEnd type="none"/>
            <a:tailEnd type="triangle"/>
          </a:ln>
        </p:spPr>
      </p:sp>
      <p:sp>
        <p:nvSpPr>
          <p:cNvPr id="28" name="Shape 26"/>
          <p:cNvSpPr/>
          <p:nvPr/>
        </p:nvSpPr>
        <p:spPr>
          <a:xfrm>
            <a:off x="6080760" y="4270248"/>
            <a:ext cx="1005840" cy="0"/>
          </a:xfrm>
          <a:prstGeom prst="line">
            <a:avLst/>
          </a:prstGeom>
          <a:noFill/>
          <a:ln w="12700">
            <a:solidFill>
              <a:srgbClr val="31545E"/>
            </a:solidFill>
            <a:prstDash val="solid"/>
            <a:headEnd type="none"/>
            <a:tailEnd type="triangle"/>
          </a:ln>
        </p:spPr>
      </p:sp>
      <p:sp>
        <p:nvSpPr>
          <p:cNvPr id="29" name="Shape 27"/>
          <p:cNvSpPr/>
          <p:nvPr/>
        </p:nvSpPr>
        <p:spPr>
          <a:xfrm>
            <a:off x="9006840" y="4325112"/>
            <a:ext cx="502920" cy="0"/>
          </a:xfrm>
          <a:prstGeom prst="line">
            <a:avLst/>
          </a:prstGeom>
          <a:noFill/>
          <a:ln w="12700">
            <a:solidFill>
              <a:srgbClr val="31545E"/>
            </a:solidFill>
            <a:prstDash val="solid"/>
            <a:headEnd type="none"/>
            <a:tailEnd type="triangle"/>
          </a:ln>
        </p:spPr>
      </p:sp>
      <p:sp>
        <p:nvSpPr>
          <p:cNvPr id="30" name="Shape 28"/>
          <p:cNvSpPr/>
          <p:nvPr/>
        </p:nvSpPr>
        <p:spPr>
          <a:xfrm>
            <a:off x="6035040" y="2468880"/>
            <a:ext cx="0" cy="1417320"/>
          </a:xfrm>
          <a:prstGeom prst="line">
            <a:avLst/>
          </a:prstGeom>
          <a:noFill/>
          <a:ln w="12700">
            <a:solidFill>
              <a:srgbClr val="31545E"/>
            </a:solidFill>
            <a:prstDash val="solid"/>
            <a:tailEnd type="triangle"/>
          </a:ln>
        </p:spPr>
      </p:sp>
      <p:sp>
        <p:nvSpPr>
          <p:cNvPr id="31" name="Text 29"/>
          <p:cNvSpPr/>
          <p:nvPr/>
        </p:nvSpPr>
        <p:spPr>
          <a:xfrm>
            <a:off x="1920240" y="5715000"/>
            <a:ext cx="8412480" cy="420624"/>
          </a:xfrm>
          <a:prstGeom prst="rect">
            <a:avLst/>
          </a:prstGeom>
          <a:noFill/>
          <a:ln/>
        </p:spPr>
        <p:txBody>
          <a:bodyPr wrap="square" lIns="0" tIns="0" rIns="0" bIns="0" rtlCol="0" anchor="ctr"/>
          <a:lstStyle/>
          <a:p>
            <a:pPr algn="ctr" indent="0" marL="0">
              <a:buNone/>
            </a:pPr>
            <a:r>
              <a:rPr lang="en-US" sz="2000" b="1" dirty="0">
                <a:solidFill>
                  <a:srgbClr val="FF9B55"/>
                </a:solidFill>
              </a:rPr>
              <a:t>L’espace conceptuel grandissait plus vite que le temps disponible.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DÉCISION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04</a:t>
            </a:r>
            <a:endParaRPr lang="en-US" sz="850" dirty="0"/>
          </a:p>
        </p:txBody>
      </p:sp>
      <p:sp>
        <p:nvSpPr>
          <p:cNvPr id="6" name="Text 4"/>
          <p:cNvSpPr/>
          <p:nvPr/>
        </p:nvSpPr>
        <p:spPr>
          <a:xfrm>
            <a:off x="822960" y="1005840"/>
            <a:ext cx="4114800" cy="502920"/>
          </a:xfrm>
          <a:prstGeom prst="rect">
            <a:avLst/>
          </a:prstGeom>
          <a:noFill/>
          <a:ln/>
        </p:spPr>
        <p:txBody>
          <a:bodyPr wrap="square" lIns="0" tIns="0" rIns="0" bIns="0" rtlCol="0" anchor="ctr"/>
          <a:lstStyle/>
          <a:p>
            <a:pPr algn="ctr" indent="0" marL="0">
              <a:buNone/>
            </a:pPr>
            <a:r>
              <a:rPr lang="en-US" sz="3100" b="1" dirty="0">
                <a:solidFill>
                  <a:srgbClr val="55BFFF"/>
                </a:solidFill>
              </a:rPr>
              <a:t>Curiosité scientifique</a:t>
            </a:r>
            <a:endParaRPr lang="en-US" sz="3100" dirty="0"/>
          </a:p>
        </p:txBody>
      </p:sp>
      <p:sp>
        <p:nvSpPr>
          <p:cNvPr id="7" name="Text 5"/>
          <p:cNvSpPr/>
          <p:nvPr/>
        </p:nvSpPr>
        <p:spPr>
          <a:xfrm>
            <a:off x="7178040" y="1005840"/>
            <a:ext cx="4114800" cy="502920"/>
          </a:xfrm>
          <a:prstGeom prst="rect">
            <a:avLst/>
          </a:prstGeom>
          <a:noFill/>
          <a:ln/>
        </p:spPr>
        <p:txBody>
          <a:bodyPr wrap="square" lIns="0" tIns="0" rIns="0" bIns="0" rtlCol="0" anchor="ctr"/>
          <a:lstStyle/>
          <a:p>
            <a:pPr algn="ctr" indent="0" marL="0">
              <a:buNone/>
            </a:pPr>
            <a:r>
              <a:rPr lang="en-US" sz="3100" b="1" dirty="0">
                <a:solidFill>
                  <a:srgbClr val="FF9B55"/>
                </a:solidFill>
              </a:rPr>
              <a:t>Temps expérimental</a:t>
            </a:r>
            <a:endParaRPr lang="en-US" sz="3100" dirty="0"/>
          </a:p>
        </p:txBody>
      </p:sp>
      <p:sp>
        <p:nvSpPr>
          <p:cNvPr id="8" name="Shape 6"/>
          <p:cNvSpPr/>
          <p:nvPr/>
        </p:nvSpPr>
        <p:spPr>
          <a:xfrm>
            <a:off x="1920240" y="2907792"/>
            <a:ext cx="8412480" cy="0"/>
          </a:xfrm>
          <a:prstGeom prst="line">
            <a:avLst/>
          </a:prstGeom>
          <a:noFill/>
          <a:ln w="12700">
            <a:solidFill>
              <a:srgbClr val="F4FAFC"/>
            </a:solidFill>
            <a:prstDash val="solid"/>
          </a:ln>
        </p:spPr>
      </p:sp>
      <p:sp>
        <p:nvSpPr>
          <p:cNvPr id="9" name="Shape 7"/>
          <p:cNvSpPr/>
          <p:nvPr/>
        </p:nvSpPr>
        <p:spPr>
          <a:xfrm rot="10800000">
            <a:off x="5641848" y="2724912"/>
            <a:ext cx="868680" cy="594360"/>
          </a:xfrm>
          <a:prstGeom prst="triangle">
            <a:avLst/>
          </a:prstGeom>
          <a:solidFill>
            <a:srgbClr val="22D3C5"/>
          </a:solidFill>
          <a:ln w="12700">
            <a:solidFill>
              <a:srgbClr val="06151B">
                <a:alpha val="0"/>
              </a:srgbClr>
            </a:solidFill>
            <a:prstDash val="solid"/>
          </a:ln>
        </p:spPr>
      </p:sp>
      <p:sp>
        <p:nvSpPr>
          <p:cNvPr id="10" name="Shape 8"/>
          <p:cNvSpPr/>
          <p:nvPr/>
        </p:nvSpPr>
        <p:spPr>
          <a:xfrm>
            <a:off x="1024128" y="2304288"/>
            <a:ext cx="2057400" cy="1115568"/>
          </a:xfrm>
          <a:prstGeom prst="ellipse">
            <a:avLst/>
          </a:prstGeom>
          <a:solidFill>
            <a:srgbClr val="173640"/>
          </a:solidFill>
          <a:ln w="12700">
            <a:solidFill>
              <a:srgbClr val="55BFFF"/>
            </a:solidFill>
            <a:prstDash val="solid"/>
          </a:ln>
        </p:spPr>
      </p:sp>
      <p:sp>
        <p:nvSpPr>
          <p:cNvPr id="11" name="Text 9"/>
          <p:cNvSpPr/>
          <p:nvPr/>
        </p:nvSpPr>
        <p:spPr>
          <a:xfrm>
            <a:off x="1252728" y="2578608"/>
            <a:ext cx="1600200" cy="438912"/>
          </a:xfrm>
          <a:prstGeom prst="rect">
            <a:avLst/>
          </a:prstGeom>
          <a:noFill/>
          <a:ln/>
        </p:spPr>
        <p:txBody>
          <a:bodyPr wrap="square" lIns="0" tIns="0" rIns="0" bIns="0" rtlCol="0" anchor="ctr"/>
          <a:lstStyle/>
          <a:p>
            <a:pPr algn="ctr" indent="0" marL="0">
              <a:buNone/>
            </a:pPr>
            <a:r>
              <a:rPr lang="en-US" sz="1500" b="1" dirty="0">
                <a:solidFill>
                  <a:srgbClr val="F4FAFC"/>
                </a:solidFill>
              </a:rPr>
              <a:t>tout comprendre</a:t>
            </a:r>
            <a:endParaRPr lang="en-US" sz="1500" dirty="0"/>
          </a:p>
          <a:p>
            <a:pPr algn="ctr" indent="0" marL="0">
              <a:buNone/>
            </a:pPr>
            <a:r>
              <a:rPr lang="en-US" sz="1500" b="1" dirty="0">
                <a:solidFill>
                  <a:srgbClr val="F4FAFC"/>
                </a:solidFill>
              </a:rPr>
              <a:t>en profondeur</a:t>
            </a:r>
            <a:endParaRPr lang="en-US" sz="1500" dirty="0"/>
          </a:p>
        </p:txBody>
      </p:sp>
      <p:sp>
        <p:nvSpPr>
          <p:cNvPr id="12" name="Shape 10"/>
          <p:cNvSpPr/>
          <p:nvPr/>
        </p:nvSpPr>
        <p:spPr>
          <a:xfrm>
            <a:off x="9098280" y="2304288"/>
            <a:ext cx="2057400" cy="1115568"/>
          </a:xfrm>
          <a:prstGeom prst="ellipse">
            <a:avLst/>
          </a:prstGeom>
          <a:solidFill>
            <a:srgbClr val="173640"/>
          </a:solidFill>
          <a:ln w="12700">
            <a:solidFill>
              <a:srgbClr val="FF9B55"/>
            </a:solidFill>
            <a:prstDash val="solid"/>
          </a:ln>
        </p:spPr>
      </p:sp>
      <p:sp>
        <p:nvSpPr>
          <p:cNvPr id="13" name="Text 11"/>
          <p:cNvSpPr/>
          <p:nvPr/>
        </p:nvSpPr>
        <p:spPr>
          <a:xfrm>
            <a:off x="9308592" y="2578608"/>
            <a:ext cx="1627632" cy="438912"/>
          </a:xfrm>
          <a:prstGeom prst="rect">
            <a:avLst/>
          </a:prstGeom>
          <a:noFill/>
          <a:ln/>
        </p:spPr>
        <p:txBody>
          <a:bodyPr wrap="square" lIns="0" tIns="0" rIns="0" bIns="0" rtlCol="0" anchor="ctr"/>
          <a:lstStyle/>
          <a:p>
            <a:pPr algn="ctr" indent="0" marL="0">
              <a:buNone/>
            </a:pPr>
            <a:r>
              <a:rPr lang="en-US" sz="1500" b="1" dirty="0">
                <a:solidFill>
                  <a:srgbClr val="F4FAFC"/>
                </a:solidFill>
              </a:rPr>
              <a:t>produire des</a:t>
            </a:r>
            <a:endParaRPr lang="en-US" sz="1500" dirty="0"/>
          </a:p>
          <a:p>
            <a:pPr algn="ctr" indent="0" marL="0">
              <a:buNone/>
            </a:pPr>
            <a:r>
              <a:rPr lang="en-US" sz="1500" b="1" dirty="0">
                <a:solidFill>
                  <a:srgbClr val="F4FAFC"/>
                </a:solidFill>
              </a:rPr>
              <a:t>résultats vérifiables</a:t>
            </a:r>
            <a:endParaRPr lang="en-US" sz="1500" dirty="0"/>
          </a:p>
        </p:txBody>
      </p:sp>
      <p:sp>
        <p:nvSpPr>
          <p:cNvPr id="14" name="Text 12"/>
          <p:cNvSpPr/>
          <p:nvPr/>
        </p:nvSpPr>
        <p:spPr>
          <a:xfrm>
            <a:off x="5074920" y="3840480"/>
            <a:ext cx="2057400" cy="685800"/>
          </a:xfrm>
          <a:prstGeom prst="rect">
            <a:avLst/>
          </a:prstGeom>
          <a:noFill/>
          <a:ln/>
        </p:spPr>
        <p:txBody>
          <a:bodyPr wrap="square" lIns="0" tIns="0" rIns="0" bIns="0" rtlCol="0" anchor="ctr"/>
          <a:lstStyle/>
          <a:p>
            <a:pPr algn="ctr" indent="0" marL="0">
              <a:buNone/>
            </a:pPr>
            <a:r>
              <a:rPr lang="en-US" sz="3900" b="1" dirty="0">
                <a:solidFill>
                  <a:srgbClr val="22D3C5"/>
                </a:solidFill>
              </a:rPr>
              <a:t>4 mois</a:t>
            </a:r>
            <a:endParaRPr lang="en-US" sz="3900" dirty="0"/>
          </a:p>
        </p:txBody>
      </p:sp>
      <p:sp>
        <p:nvSpPr>
          <p:cNvPr id="15" name="Text 13"/>
          <p:cNvSpPr/>
          <p:nvPr/>
        </p:nvSpPr>
        <p:spPr>
          <a:xfrm>
            <a:off x="1234440" y="5166360"/>
            <a:ext cx="9738360" cy="640080"/>
          </a:xfrm>
          <a:prstGeom prst="rect">
            <a:avLst/>
          </a:prstGeom>
          <a:noFill/>
          <a:ln/>
        </p:spPr>
        <p:txBody>
          <a:bodyPr wrap="square" lIns="0" tIns="0" rIns="0" bIns="0" rtlCol="0" anchor="ctr">
            <a:normAutofit/>
          </a:bodyPr>
          <a:lstStyle/>
          <a:p>
            <a:pPr algn="ctr" indent="0" marL="0">
              <a:buNone/>
            </a:pPr>
            <a:r>
              <a:rPr lang="en-US" sz="2300" b="1" dirty="0">
                <a:solidFill>
                  <a:srgbClr val="F4FAFC"/>
                </a:solidFill>
              </a:rPr>
              <a:t>Choisir une question suffisamment fondamentale pour avancer — sans perdre la finalité biologique.</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QUESTION INITIALE</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05</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KADMON devait d’abord chercher la déviation pathologique</a:t>
            </a:r>
            <a:endParaRPr lang="en-US" sz="2700" dirty="0"/>
          </a:p>
        </p:txBody>
      </p:sp>
      <p:sp>
        <p:nvSpPr>
          <p:cNvPr id="7" name="Text 5"/>
          <p:cNvSpPr/>
          <p:nvPr/>
        </p:nvSpPr>
        <p:spPr>
          <a:xfrm>
            <a:off x="594360" y="1234440"/>
            <a:ext cx="10972800" cy="320040"/>
          </a:xfrm>
          <a:prstGeom prst="rect">
            <a:avLst/>
          </a:prstGeom>
          <a:noFill/>
          <a:ln/>
        </p:spPr>
        <p:txBody>
          <a:bodyPr wrap="square" lIns="0" tIns="0" rIns="0" bIns="0" rtlCol="0" anchor="ctr"/>
          <a:lstStyle/>
          <a:p>
            <a:pPr algn="ctr" indent="0" marL="0">
              <a:buNone/>
            </a:pPr>
            <a:r>
              <a:rPr lang="en-US" sz="1500" dirty="0">
                <a:solidFill>
                  <a:srgbClr val="A8C1C9"/>
                </a:solidFill>
              </a:rPr>
              <a:t>Knowledge-driven Atlas for Deviation Mapping of Neural Organization</a:t>
            </a:r>
            <a:endParaRPr lang="en-US" sz="1500" dirty="0"/>
          </a:p>
        </p:txBody>
      </p:sp>
      <p:sp>
        <p:nvSpPr>
          <p:cNvPr id="8" name="Shape 6"/>
          <p:cNvSpPr/>
          <p:nvPr/>
        </p:nvSpPr>
        <p:spPr>
          <a:xfrm>
            <a:off x="640080" y="1828800"/>
            <a:ext cx="3108960" cy="3200400"/>
          </a:xfrm>
          <a:prstGeom prst="roundRect">
            <a:avLst>
              <a:gd name="adj" fmla="val 2059"/>
            </a:avLst>
          </a:prstGeom>
          <a:solidFill>
            <a:srgbClr val="102831"/>
          </a:solidFill>
          <a:ln w="12700">
            <a:solidFill>
              <a:srgbClr val="31545E"/>
            </a:solidFill>
            <a:prstDash val="solid"/>
          </a:ln>
        </p:spPr>
      </p:sp>
      <p:sp>
        <p:nvSpPr>
          <p:cNvPr id="9" name="Shape 7"/>
          <p:cNvSpPr/>
          <p:nvPr/>
        </p:nvSpPr>
        <p:spPr>
          <a:xfrm>
            <a:off x="640080" y="1828800"/>
            <a:ext cx="50292" cy="3200400"/>
          </a:xfrm>
          <a:prstGeom prst="rect">
            <a:avLst/>
          </a:prstGeom>
          <a:solidFill>
            <a:srgbClr val="7EE081"/>
          </a:solidFill>
          <a:ln w="12700">
            <a:solidFill>
              <a:srgbClr val="06151B">
                <a:alpha val="0"/>
              </a:srgbClr>
            </a:solidFill>
            <a:prstDash val="solid"/>
          </a:ln>
        </p:spPr>
      </p:sp>
      <p:sp>
        <p:nvSpPr>
          <p:cNvPr id="10" name="Text 8"/>
          <p:cNvSpPr/>
          <p:nvPr/>
        </p:nvSpPr>
        <p:spPr>
          <a:xfrm>
            <a:off x="859536" y="2029968"/>
            <a:ext cx="2697480" cy="502920"/>
          </a:xfrm>
          <a:prstGeom prst="rect">
            <a:avLst/>
          </a:prstGeom>
          <a:noFill/>
          <a:ln/>
        </p:spPr>
        <p:txBody>
          <a:bodyPr wrap="square" lIns="0" tIns="0" rIns="0" bIns="0" rtlCol="0" anchor="ctr">
            <a:normAutofit/>
          </a:bodyPr>
          <a:lstStyle/>
          <a:p>
            <a:pPr indent="0" marL="0">
              <a:buNone/>
            </a:pPr>
            <a:r>
              <a:rPr lang="en-US" sz="2700" b="1" dirty="0">
                <a:solidFill>
                  <a:srgbClr val="7EE081"/>
                </a:solidFill>
              </a:rPr>
              <a:t>HCP</a:t>
            </a:r>
            <a:endParaRPr lang="en-US" sz="2700" dirty="0"/>
          </a:p>
        </p:txBody>
      </p:sp>
      <p:sp>
        <p:nvSpPr>
          <p:cNvPr id="11" name="Text 9"/>
          <p:cNvSpPr/>
          <p:nvPr/>
        </p:nvSpPr>
        <p:spPr>
          <a:xfrm>
            <a:off x="859536" y="2633472"/>
            <a:ext cx="269748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Référence saine</a:t>
            </a:r>
            <a:endParaRPr lang="en-US" sz="1550" dirty="0"/>
          </a:p>
        </p:txBody>
      </p:sp>
      <p:sp>
        <p:nvSpPr>
          <p:cNvPr id="12" name="Text 10"/>
          <p:cNvSpPr/>
          <p:nvPr/>
        </p:nvSpPr>
        <p:spPr>
          <a:xfrm>
            <a:off x="859536" y="3044952"/>
            <a:ext cx="2697480" cy="1783080"/>
          </a:xfrm>
          <a:prstGeom prst="rect">
            <a:avLst/>
          </a:prstGeom>
          <a:noFill/>
          <a:ln/>
        </p:spPr>
        <p:txBody>
          <a:bodyPr wrap="square" lIns="0" tIns="0" rIns="0" bIns="0" rtlCol="0" anchor="t">
            <a:normAutofit/>
          </a:bodyPr>
          <a:lstStyle/>
          <a:p>
            <a:pPr indent="0" marL="0">
              <a:buNone/>
            </a:pPr>
            <a:r>
              <a:rPr lang="en-US" sz="1270" dirty="0">
                <a:solidFill>
                  <a:srgbClr val="A8C1C9"/>
                </a:solidFill>
              </a:rPr>
              <a:t>Human Connectome Project</a:t>
            </a:r>
            <a:endParaRPr lang="en-US" sz="1270" dirty="0"/>
          </a:p>
          <a:p>
            <a:pPr indent="0" marL="0">
              <a:buNone/>
            </a:pPr>
            <a:r>
              <a:rPr lang="en-US" sz="1270" dirty="0">
                <a:solidFill>
                  <a:srgbClr val="A8C1C9"/>
                </a:solidFill>
              </a:rPr>
              <a:t>Données saines disponibles</a:t>
            </a:r>
            <a:endParaRPr lang="en-US" sz="1270" dirty="0"/>
          </a:p>
        </p:txBody>
      </p:sp>
      <p:sp>
        <p:nvSpPr>
          <p:cNvPr id="13" name="Shape 11"/>
          <p:cNvSpPr/>
          <p:nvPr/>
        </p:nvSpPr>
        <p:spPr>
          <a:xfrm>
            <a:off x="3968496" y="2971800"/>
            <a:ext cx="292608" cy="530352"/>
          </a:xfrm>
          <a:prstGeom prst="chevron">
            <a:avLst/>
          </a:prstGeom>
          <a:solidFill>
            <a:srgbClr val="31545E"/>
          </a:solidFill>
          <a:ln w="12700">
            <a:solidFill>
              <a:srgbClr val="06151B">
                <a:alpha val="0"/>
              </a:srgbClr>
            </a:solidFill>
            <a:prstDash val="solid"/>
          </a:ln>
        </p:spPr>
      </p:sp>
      <p:sp>
        <p:nvSpPr>
          <p:cNvPr id="14" name="Shape 12"/>
          <p:cNvSpPr/>
          <p:nvPr/>
        </p:nvSpPr>
        <p:spPr>
          <a:xfrm>
            <a:off x="4434840" y="1828800"/>
            <a:ext cx="3246120" cy="3200400"/>
          </a:xfrm>
          <a:prstGeom prst="roundRect">
            <a:avLst>
              <a:gd name="adj" fmla="val 2000"/>
            </a:avLst>
          </a:prstGeom>
          <a:solidFill>
            <a:srgbClr val="102831"/>
          </a:solidFill>
          <a:ln w="12700">
            <a:solidFill>
              <a:srgbClr val="31545E"/>
            </a:solidFill>
            <a:prstDash val="solid"/>
          </a:ln>
        </p:spPr>
      </p:sp>
      <p:sp>
        <p:nvSpPr>
          <p:cNvPr id="15" name="Shape 13"/>
          <p:cNvSpPr/>
          <p:nvPr/>
        </p:nvSpPr>
        <p:spPr>
          <a:xfrm>
            <a:off x="4434840" y="1828800"/>
            <a:ext cx="50292" cy="3200400"/>
          </a:xfrm>
          <a:prstGeom prst="rect">
            <a:avLst/>
          </a:prstGeom>
          <a:solidFill>
            <a:srgbClr val="22D3C5"/>
          </a:solidFill>
          <a:ln w="12700">
            <a:solidFill>
              <a:srgbClr val="06151B">
                <a:alpha val="0"/>
              </a:srgbClr>
            </a:solidFill>
            <a:prstDash val="solid"/>
          </a:ln>
        </p:spPr>
      </p:sp>
      <p:sp>
        <p:nvSpPr>
          <p:cNvPr id="16" name="Text 14"/>
          <p:cNvSpPr/>
          <p:nvPr/>
        </p:nvSpPr>
        <p:spPr>
          <a:xfrm>
            <a:off x="4654296" y="2029968"/>
            <a:ext cx="2834640" cy="502920"/>
          </a:xfrm>
          <a:prstGeom prst="rect">
            <a:avLst/>
          </a:prstGeom>
          <a:noFill/>
          <a:ln/>
        </p:spPr>
        <p:txBody>
          <a:bodyPr wrap="square" lIns="0" tIns="0" rIns="0" bIns="0" rtlCol="0" anchor="ctr">
            <a:normAutofit/>
          </a:bodyPr>
          <a:lstStyle/>
          <a:p>
            <a:pPr indent="0" marL="0">
              <a:buNone/>
            </a:pPr>
            <a:r>
              <a:rPr lang="en-US" sz="2700" b="1" dirty="0">
                <a:solidFill>
                  <a:srgbClr val="22D3C5"/>
                </a:solidFill>
              </a:rPr>
              <a:t>Δ</a:t>
            </a:r>
            <a:endParaRPr lang="en-US" sz="2700" dirty="0"/>
          </a:p>
        </p:txBody>
      </p:sp>
      <p:sp>
        <p:nvSpPr>
          <p:cNvPr id="17" name="Text 15"/>
          <p:cNvSpPr/>
          <p:nvPr/>
        </p:nvSpPr>
        <p:spPr>
          <a:xfrm>
            <a:off x="4654296" y="2633472"/>
            <a:ext cx="283464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Question envisagée</a:t>
            </a:r>
            <a:endParaRPr lang="en-US" sz="1550" dirty="0"/>
          </a:p>
        </p:txBody>
      </p:sp>
      <p:sp>
        <p:nvSpPr>
          <p:cNvPr id="18" name="Text 16"/>
          <p:cNvSpPr/>
          <p:nvPr/>
        </p:nvSpPr>
        <p:spPr>
          <a:xfrm>
            <a:off x="4654296" y="3044952"/>
            <a:ext cx="2834640" cy="1783080"/>
          </a:xfrm>
          <a:prstGeom prst="rect">
            <a:avLst/>
          </a:prstGeom>
          <a:noFill/>
          <a:ln/>
        </p:spPr>
        <p:txBody>
          <a:bodyPr wrap="square" lIns="0" tIns="0" rIns="0" bIns="0" rtlCol="0" anchor="t">
            <a:normAutofit/>
          </a:bodyPr>
          <a:lstStyle/>
          <a:p>
            <a:pPr indent="0" marL="0">
              <a:buNone/>
            </a:pPr>
            <a:r>
              <a:rPr lang="en-US" sz="1270" dirty="0">
                <a:solidFill>
                  <a:srgbClr val="A8C1C9"/>
                </a:solidFill>
              </a:rPr>
              <a:t>Comparer normal et pathologique</a:t>
            </a:r>
            <a:endParaRPr lang="en-US" sz="1270" dirty="0"/>
          </a:p>
          <a:p>
            <a:pPr indent="0" marL="0">
              <a:buNone/>
            </a:pPr>
            <a:r>
              <a:rPr lang="en-US" sz="1270" dirty="0">
                <a:solidFill>
                  <a:srgbClr val="A8C1C9"/>
                </a:solidFill>
              </a:rPr>
              <a:t>Localiser les différences de matière blanche</a:t>
            </a:r>
            <a:endParaRPr lang="en-US" sz="1270" dirty="0"/>
          </a:p>
        </p:txBody>
      </p:sp>
      <p:sp>
        <p:nvSpPr>
          <p:cNvPr id="19" name="Shape 17"/>
          <p:cNvSpPr/>
          <p:nvPr/>
        </p:nvSpPr>
        <p:spPr>
          <a:xfrm>
            <a:off x="7900416" y="2971800"/>
            <a:ext cx="292608" cy="530352"/>
          </a:xfrm>
          <a:prstGeom prst="chevron">
            <a:avLst/>
          </a:prstGeom>
          <a:solidFill>
            <a:srgbClr val="31545E"/>
          </a:solidFill>
          <a:ln w="12700">
            <a:solidFill>
              <a:srgbClr val="06151B">
                <a:alpha val="0"/>
              </a:srgbClr>
            </a:solidFill>
            <a:prstDash val="solid"/>
          </a:ln>
        </p:spPr>
      </p:sp>
      <p:sp>
        <p:nvSpPr>
          <p:cNvPr id="20" name="Shape 18"/>
          <p:cNvSpPr/>
          <p:nvPr/>
        </p:nvSpPr>
        <p:spPr>
          <a:xfrm>
            <a:off x="8366760" y="1828800"/>
            <a:ext cx="3154680" cy="3200400"/>
          </a:xfrm>
          <a:prstGeom prst="roundRect">
            <a:avLst>
              <a:gd name="adj" fmla="val 2029"/>
            </a:avLst>
          </a:prstGeom>
          <a:solidFill>
            <a:srgbClr val="102831"/>
          </a:solidFill>
          <a:ln w="12700">
            <a:solidFill>
              <a:srgbClr val="31545E"/>
            </a:solidFill>
            <a:prstDash val="solid"/>
          </a:ln>
        </p:spPr>
      </p:sp>
      <p:sp>
        <p:nvSpPr>
          <p:cNvPr id="21" name="Shape 19"/>
          <p:cNvSpPr/>
          <p:nvPr/>
        </p:nvSpPr>
        <p:spPr>
          <a:xfrm>
            <a:off x="8366760" y="1828800"/>
            <a:ext cx="50292" cy="3200400"/>
          </a:xfrm>
          <a:prstGeom prst="rect">
            <a:avLst/>
          </a:prstGeom>
          <a:solidFill>
            <a:srgbClr val="FF9B55"/>
          </a:solidFill>
          <a:ln w="12700">
            <a:solidFill>
              <a:srgbClr val="06151B">
                <a:alpha val="0"/>
              </a:srgbClr>
            </a:solidFill>
            <a:prstDash val="solid"/>
          </a:ln>
        </p:spPr>
      </p:sp>
      <p:sp>
        <p:nvSpPr>
          <p:cNvPr id="22" name="Text 20"/>
          <p:cNvSpPr/>
          <p:nvPr/>
        </p:nvSpPr>
        <p:spPr>
          <a:xfrm>
            <a:off x="8586216" y="2029968"/>
            <a:ext cx="2743200" cy="502920"/>
          </a:xfrm>
          <a:prstGeom prst="rect">
            <a:avLst/>
          </a:prstGeom>
          <a:noFill/>
          <a:ln/>
        </p:spPr>
        <p:txBody>
          <a:bodyPr wrap="square" lIns="0" tIns="0" rIns="0" bIns="0" rtlCol="0" anchor="ctr">
            <a:normAutofit/>
          </a:bodyPr>
          <a:lstStyle/>
          <a:p>
            <a:pPr indent="0" marL="0">
              <a:buNone/>
            </a:pPr>
            <a:r>
              <a:rPr lang="en-US" sz="2700" b="1" dirty="0">
                <a:solidFill>
                  <a:srgbClr val="FF9B55"/>
                </a:solidFill>
              </a:rPr>
              <a:t>PPMI</a:t>
            </a:r>
            <a:endParaRPr lang="en-US" sz="2700" dirty="0"/>
          </a:p>
        </p:txBody>
      </p:sp>
      <p:sp>
        <p:nvSpPr>
          <p:cNvPr id="23" name="Text 21"/>
          <p:cNvSpPr/>
          <p:nvPr/>
        </p:nvSpPr>
        <p:spPr>
          <a:xfrm>
            <a:off x="8586216" y="2633472"/>
            <a:ext cx="274320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Cohorte pathologique</a:t>
            </a:r>
            <a:endParaRPr lang="en-US" sz="1550" dirty="0"/>
          </a:p>
        </p:txBody>
      </p:sp>
      <p:sp>
        <p:nvSpPr>
          <p:cNvPr id="24" name="Text 22"/>
          <p:cNvSpPr/>
          <p:nvPr/>
        </p:nvSpPr>
        <p:spPr>
          <a:xfrm>
            <a:off x="8586216" y="3044952"/>
            <a:ext cx="2743200" cy="1783080"/>
          </a:xfrm>
          <a:prstGeom prst="rect">
            <a:avLst/>
          </a:prstGeom>
          <a:noFill/>
          <a:ln/>
        </p:spPr>
        <p:txBody>
          <a:bodyPr wrap="square" lIns="0" tIns="0" rIns="0" bIns="0" rtlCol="0" anchor="t">
            <a:normAutofit/>
          </a:bodyPr>
          <a:lstStyle/>
          <a:p>
            <a:pPr indent="0" marL="0">
              <a:buNone/>
            </a:pPr>
            <a:r>
              <a:rPr lang="en-US" sz="1270" dirty="0">
                <a:solidFill>
                  <a:srgbClr val="A8C1C9"/>
                </a:solidFill>
              </a:rPr>
              <a:t>Parkinson’s Progression Markers Initiative</a:t>
            </a:r>
            <a:endParaRPr lang="en-US" sz="1270" dirty="0"/>
          </a:p>
          <a:p>
            <a:pPr indent="0" marL="0">
              <a:buNone/>
            </a:pPr>
            <a:r>
              <a:rPr lang="en-US" sz="1270" dirty="0">
                <a:solidFill>
                  <a:srgbClr val="A8C1C9"/>
                </a:solidFill>
              </a:rPr>
              <a:t>Accès soumis à démarches</a:t>
            </a:r>
            <a:endParaRPr lang="en-US" sz="1270" dirty="0"/>
          </a:p>
        </p:txBody>
      </p:sp>
      <p:sp>
        <p:nvSpPr>
          <p:cNvPr id="25" name="Shape 23"/>
          <p:cNvSpPr/>
          <p:nvPr/>
        </p:nvSpPr>
        <p:spPr>
          <a:xfrm>
            <a:off x="2788920" y="5440680"/>
            <a:ext cx="6583680" cy="530352"/>
          </a:xfrm>
          <a:prstGeom prst="roundRect">
            <a:avLst/>
          </a:prstGeom>
          <a:solidFill>
            <a:srgbClr val="FF6271">
              <a:alpha val="16000"/>
            </a:srgbClr>
          </a:solidFill>
          <a:ln w="12700">
            <a:solidFill>
              <a:srgbClr val="FF6271"/>
            </a:solidFill>
            <a:prstDash val="solid"/>
          </a:ln>
        </p:spPr>
      </p:sp>
      <p:sp>
        <p:nvSpPr>
          <p:cNvPr id="26" name="Text 24"/>
          <p:cNvSpPr/>
          <p:nvPr/>
        </p:nvSpPr>
        <p:spPr>
          <a:xfrm>
            <a:off x="2971800" y="5605272"/>
            <a:ext cx="6217920" cy="182880"/>
          </a:xfrm>
          <a:prstGeom prst="rect">
            <a:avLst/>
          </a:prstGeom>
          <a:noFill/>
          <a:ln/>
        </p:spPr>
        <p:txBody>
          <a:bodyPr wrap="square" lIns="0" tIns="0" rIns="0" bIns="0" rtlCol="0" anchor="ctr"/>
          <a:lstStyle/>
          <a:p>
            <a:pPr algn="ctr" indent="0" marL="0">
              <a:buNone/>
            </a:pPr>
            <a:r>
              <a:rPr lang="en-US" sz="1250" b="1" dirty="0">
                <a:solidFill>
                  <a:srgbClr val="FF6271"/>
                </a:solidFill>
              </a:rPr>
              <a:t>Dataset public ≠ accès immédiat · irréaliste dans le calendrier disponible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REFORMULATION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06</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Avant la pathologie, vérifier l’identité géométrique</a:t>
            </a:r>
            <a:endParaRPr lang="en-US" sz="2700" dirty="0"/>
          </a:p>
        </p:txBody>
      </p:sp>
      <p:sp>
        <p:nvSpPr>
          <p:cNvPr id="7" name="Text 5"/>
          <p:cNvSpPr/>
          <p:nvPr/>
        </p:nvSpPr>
        <p:spPr>
          <a:xfrm>
            <a:off x="685800" y="1508760"/>
            <a:ext cx="2880360" cy="320040"/>
          </a:xfrm>
          <a:prstGeom prst="rect">
            <a:avLst/>
          </a:prstGeom>
          <a:noFill/>
          <a:ln/>
        </p:spPr>
        <p:txBody>
          <a:bodyPr wrap="square" lIns="0" tIns="0" rIns="0" bIns="0" rtlCol="0" anchor="ctr"/>
          <a:lstStyle/>
          <a:p>
            <a:pPr algn="ctr" indent="0" marL="0">
              <a:buNone/>
            </a:pPr>
            <a:r>
              <a:rPr lang="en-US" sz="1600" b="1" dirty="0">
                <a:solidFill>
                  <a:srgbClr val="FF9B55"/>
                </a:solidFill>
              </a:rPr>
              <a:t>Question trop tôt</a:t>
            </a:r>
            <a:endParaRPr lang="en-US" sz="1600" dirty="0"/>
          </a:p>
        </p:txBody>
      </p:sp>
      <p:sp>
        <p:nvSpPr>
          <p:cNvPr id="8" name="Shape 6"/>
          <p:cNvSpPr/>
          <p:nvPr/>
        </p:nvSpPr>
        <p:spPr>
          <a:xfrm>
            <a:off x="594360" y="1965960"/>
            <a:ext cx="3063240" cy="2240280"/>
          </a:xfrm>
          <a:prstGeom prst="roundRect">
            <a:avLst/>
          </a:prstGeom>
          <a:solidFill>
            <a:srgbClr val="102831"/>
          </a:solidFill>
          <a:ln w="12700">
            <a:solidFill>
              <a:srgbClr val="FF9B55"/>
            </a:solidFill>
            <a:prstDash val="solid"/>
          </a:ln>
        </p:spPr>
      </p:sp>
      <p:sp>
        <p:nvSpPr>
          <p:cNvPr id="9" name="Text 7"/>
          <p:cNvSpPr/>
          <p:nvPr/>
        </p:nvSpPr>
        <p:spPr>
          <a:xfrm>
            <a:off x="932688" y="2487168"/>
            <a:ext cx="2395728" cy="1024128"/>
          </a:xfrm>
          <a:prstGeom prst="rect">
            <a:avLst/>
          </a:prstGeom>
          <a:noFill/>
          <a:ln/>
        </p:spPr>
        <p:txBody>
          <a:bodyPr wrap="square" lIns="0" tIns="0" rIns="0" bIns="0" rtlCol="0" anchor="ctr">
            <a:normAutofit/>
          </a:bodyPr>
          <a:lstStyle/>
          <a:p>
            <a:pPr algn="ctr" indent="0" marL="0">
              <a:buNone/>
            </a:pPr>
            <a:r>
              <a:rPr lang="en-US" sz="2300" b="1" dirty="0">
                <a:solidFill>
                  <a:srgbClr val="F4FAFC"/>
                </a:solidFill>
              </a:rPr>
              <a:t>Sain</a:t>
            </a:r>
            <a:endParaRPr lang="en-US" sz="2300" dirty="0"/>
          </a:p>
          <a:p>
            <a:pPr algn="ctr" indent="0" marL="0">
              <a:buNone/>
            </a:pPr>
            <a:r>
              <a:rPr lang="en-US" sz="2300" b="1" dirty="0">
                <a:solidFill>
                  <a:srgbClr val="F4FAFC"/>
                </a:solidFill>
              </a:rPr>
              <a:t>vs</a:t>
            </a:r>
            <a:endParaRPr lang="en-US" sz="2300" dirty="0"/>
          </a:p>
          <a:p>
            <a:pPr algn="ctr" indent="0" marL="0">
              <a:buNone/>
            </a:pPr>
            <a:r>
              <a:rPr lang="en-US" sz="2300" b="1" dirty="0">
                <a:solidFill>
                  <a:srgbClr val="F4FAFC"/>
                </a:solidFill>
              </a:rPr>
              <a:t>pathologique</a:t>
            </a:r>
            <a:endParaRPr lang="en-US" sz="2300" dirty="0"/>
          </a:p>
        </p:txBody>
      </p:sp>
      <p:sp>
        <p:nvSpPr>
          <p:cNvPr id="10" name="Shape 8"/>
          <p:cNvSpPr/>
          <p:nvPr/>
        </p:nvSpPr>
        <p:spPr>
          <a:xfrm>
            <a:off x="3977640" y="2633472"/>
            <a:ext cx="1188720" cy="594360"/>
          </a:xfrm>
          <a:prstGeom prst="rightArrow">
            <a:avLst/>
          </a:prstGeom>
          <a:solidFill>
            <a:srgbClr val="22D3C5"/>
          </a:solidFill>
          <a:ln w="12700">
            <a:solidFill>
              <a:srgbClr val="06151B">
                <a:alpha val="0"/>
              </a:srgbClr>
            </a:solidFill>
            <a:prstDash val="solid"/>
          </a:ln>
        </p:spPr>
      </p:sp>
      <p:sp>
        <p:nvSpPr>
          <p:cNvPr id="11" name="Text 9"/>
          <p:cNvSpPr/>
          <p:nvPr/>
        </p:nvSpPr>
        <p:spPr>
          <a:xfrm>
            <a:off x="5349240" y="1508760"/>
            <a:ext cx="5669280" cy="320040"/>
          </a:xfrm>
          <a:prstGeom prst="rect">
            <a:avLst/>
          </a:prstGeom>
          <a:noFill/>
          <a:ln/>
        </p:spPr>
        <p:txBody>
          <a:bodyPr wrap="square" lIns="0" tIns="0" rIns="0" bIns="0" rtlCol="0" anchor="ctr"/>
          <a:lstStyle/>
          <a:p>
            <a:pPr algn="ctr" indent="0" marL="0">
              <a:buNone/>
            </a:pPr>
            <a:r>
              <a:rPr lang="en-US" sz="1600" b="1" dirty="0">
                <a:solidFill>
                  <a:srgbClr val="22D3C5"/>
                </a:solidFill>
              </a:rPr>
              <a:t>Question de validation</a:t>
            </a:r>
            <a:endParaRPr lang="en-US" sz="1600" dirty="0"/>
          </a:p>
        </p:txBody>
      </p:sp>
      <p:sp>
        <p:nvSpPr>
          <p:cNvPr id="12" name="Shape 10"/>
          <p:cNvSpPr/>
          <p:nvPr/>
        </p:nvSpPr>
        <p:spPr>
          <a:xfrm>
            <a:off x="5257800" y="1965960"/>
            <a:ext cx="5897880" cy="2240280"/>
          </a:xfrm>
          <a:prstGeom prst="roundRect">
            <a:avLst/>
          </a:prstGeom>
          <a:solidFill>
            <a:srgbClr val="173640"/>
          </a:solidFill>
          <a:ln w="12700">
            <a:solidFill>
              <a:srgbClr val="22D3C5"/>
            </a:solidFill>
            <a:prstDash val="solid"/>
          </a:ln>
        </p:spPr>
      </p:sp>
      <p:sp>
        <p:nvSpPr>
          <p:cNvPr id="13" name="Text 11"/>
          <p:cNvSpPr/>
          <p:nvPr/>
        </p:nvSpPr>
        <p:spPr>
          <a:xfrm>
            <a:off x="5596128" y="2450592"/>
            <a:ext cx="2148840" cy="320040"/>
          </a:xfrm>
          <a:prstGeom prst="rect">
            <a:avLst/>
          </a:prstGeom>
          <a:noFill/>
          <a:ln/>
        </p:spPr>
        <p:txBody>
          <a:bodyPr wrap="square" lIns="0" tIns="0" rIns="0" bIns="0" rtlCol="0" anchor="ctr"/>
          <a:lstStyle/>
          <a:p>
            <a:pPr algn="ctr" indent="0" marL="0">
              <a:buNone/>
            </a:pPr>
            <a:r>
              <a:rPr lang="en-US" sz="2200" b="1" dirty="0">
                <a:solidFill>
                  <a:srgbClr val="7EE081"/>
                </a:solidFill>
              </a:rPr>
              <a:t>Même individu</a:t>
            </a:r>
            <a:endParaRPr lang="en-US" sz="2200" dirty="0"/>
          </a:p>
        </p:txBody>
      </p:sp>
      <p:sp>
        <p:nvSpPr>
          <p:cNvPr id="14" name="Text 12"/>
          <p:cNvSpPr/>
          <p:nvPr/>
        </p:nvSpPr>
        <p:spPr>
          <a:xfrm>
            <a:off x="7818120" y="2414016"/>
            <a:ext cx="685800" cy="411480"/>
          </a:xfrm>
          <a:prstGeom prst="rect">
            <a:avLst/>
          </a:prstGeom>
          <a:noFill/>
          <a:ln/>
        </p:spPr>
        <p:txBody>
          <a:bodyPr wrap="square" lIns="0" tIns="0" rIns="0" bIns="0" rtlCol="0" anchor="ctr"/>
          <a:lstStyle/>
          <a:p>
            <a:pPr algn="ctr" indent="0" marL="0">
              <a:buNone/>
            </a:pPr>
            <a:r>
              <a:rPr lang="en-US" sz="3100" b="1" dirty="0">
                <a:solidFill>
                  <a:srgbClr val="F4FAFC"/>
                </a:solidFill>
              </a:rPr>
              <a:t>≠</a:t>
            </a:r>
            <a:endParaRPr lang="en-US" sz="3100" dirty="0"/>
          </a:p>
        </p:txBody>
      </p:sp>
      <p:sp>
        <p:nvSpPr>
          <p:cNvPr id="15" name="Text 13"/>
          <p:cNvSpPr/>
          <p:nvPr/>
        </p:nvSpPr>
        <p:spPr>
          <a:xfrm>
            <a:off x="8458200" y="2450592"/>
            <a:ext cx="2331720" cy="320040"/>
          </a:xfrm>
          <a:prstGeom prst="rect">
            <a:avLst/>
          </a:prstGeom>
          <a:noFill/>
          <a:ln/>
        </p:spPr>
        <p:txBody>
          <a:bodyPr wrap="square" lIns="0" tIns="0" rIns="0" bIns="0" rtlCol="0" anchor="ctr"/>
          <a:lstStyle/>
          <a:p>
            <a:pPr algn="ctr" indent="0" marL="0">
              <a:buNone/>
            </a:pPr>
            <a:r>
              <a:rPr lang="en-US" sz="2200" b="1" dirty="0">
                <a:solidFill>
                  <a:srgbClr val="FF9B55"/>
                </a:solidFill>
              </a:rPr>
              <a:t>Individus différents</a:t>
            </a:r>
            <a:endParaRPr lang="en-US" sz="2200" dirty="0"/>
          </a:p>
        </p:txBody>
      </p:sp>
      <p:sp>
        <p:nvSpPr>
          <p:cNvPr id="16" name="Text 14"/>
          <p:cNvSpPr/>
          <p:nvPr/>
        </p:nvSpPr>
        <p:spPr>
          <a:xfrm>
            <a:off x="5623560" y="3337560"/>
            <a:ext cx="2194560" cy="237744"/>
          </a:xfrm>
          <a:prstGeom prst="rect">
            <a:avLst/>
          </a:prstGeom>
          <a:noFill/>
          <a:ln/>
        </p:spPr>
        <p:txBody>
          <a:bodyPr wrap="square" lIns="0" tIns="0" rIns="0" bIns="0" rtlCol="0" anchor="ctr"/>
          <a:lstStyle/>
          <a:p>
            <a:pPr algn="ctr" indent="0" marL="0">
              <a:buNone/>
            </a:pPr>
            <a:r>
              <a:rPr lang="en-US" sz="1300" dirty="0">
                <a:solidFill>
                  <a:srgbClr val="A8C1C9"/>
                </a:solidFill>
              </a:rPr>
              <a:t>intra-sujet : retest reconnu</a:t>
            </a:r>
            <a:endParaRPr lang="en-US" sz="1300" dirty="0"/>
          </a:p>
        </p:txBody>
      </p:sp>
      <p:sp>
        <p:nvSpPr>
          <p:cNvPr id="17" name="Text 15"/>
          <p:cNvSpPr/>
          <p:nvPr/>
        </p:nvSpPr>
        <p:spPr>
          <a:xfrm>
            <a:off x="8549640" y="3337560"/>
            <a:ext cx="2057400" cy="237744"/>
          </a:xfrm>
          <a:prstGeom prst="rect">
            <a:avLst/>
          </a:prstGeom>
          <a:noFill/>
          <a:ln/>
        </p:spPr>
        <p:txBody>
          <a:bodyPr wrap="square" lIns="0" tIns="0" rIns="0" bIns="0" rtlCol="0" anchor="ctr"/>
          <a:lstStyle/>
          <a:p>
            <a:pPr algn="ctr" indent="0" marL="0">
              <a:buNone/>
            </a:pPr>
            <a:r>
              <a:rPr lang="en-US" sz="1300" dirty="0">
                <a:solidFill>
                  <a:srgbClr val="A8C1C9"/>
                </a:solidFill>
              </a:rPr>
              <a:t>inter-sujet : séparé</a:t>
            </a:r>
            <a:endParaRPr lang="en-US" sz="1300" dirty="0"/>
          </a:p>
        </p:txBody>
      </p:sp>
      <p:sp>
        <p:nvSpPr>
          <p:cNvPr id="18" name="Text 16"/>
          <p:cNvSpPr/>
          <p:nvPr/>
        </p:nvSpPr>
        <p:spPr>
          <a:xfrm>
            <a:off x="1828800" y="4983480"/>
            <a:ext cx="8549640" cy="457200"/>
          </a:xfrm>
          <a:prstGeom prst="rect">
            <a:avLst/>
          </a:prstGeom>
          <a:noFill/>
          <a:ln/>
        </p:spPr>
        <p:txBody>
          <a:bodyPr wrap="square" lIns="0" tIns="0" rIns="0" bIns="0" rtlCol="0" anchor="ctr"/>
          <a:lstStyle/>
          <a:p>
            <a:pPr algn="ctr" indent="0" marL="0">
              <a:buNone/>
            </a:pPr>
            <a:r>
              <a:rPr lang="en-US" sz="2200" b="1" dirty="0">
                <a:solidFill>
                  <a:srgbClr val="F4FAFC"/>
                </a:solidFill>
              </a:rPr>
              <a:t>RE-ID = test de cohérence du pipeline, pas nouvelle finalité du projet.</a:t>
            </a:r>
            <a:endParaRPr lang="en-US" sz="2200" dirty="0"/>
          </a:p>
        </p:txBody>
      </p:sp>
      <p:sp>
        <p:nvSpPr>
          <p:cNvPr id="19" name="Text 17"/>
          <p:cNvSpPr/>
          <p:nvPr/>
        </p:nvSpPr>
        <p:spPr>
          <a:xfrm>
            <a:off x="1097280" y="5715000"/>
            <a:ext cx="9966960" cy="320040"/>
          </a:xfrm>
          <a:prstGeom prst="rect">
            <a:avLst/>
          </a:prstGeom>
          <a:noFill/>
          <a:ln/>
        </p:spPr>
        <p:txBody>
          <a:bodyPr wrap="square" lIns="0" tIns="0" rIns="0" bIns="0" rtlCol="0" anchor="ctr"/>
          <a:lstStyle/>
          <a:p>
            <a:pPr algn="ctr" indent="0" marL="0">
              <a:buNone/>
            </a:pPr>
            <a:r>
              <a:rPr lang="en-US" sz="1500" dirty="0">
                <a:solidFill>
                  <a:srgbClr val="22D3C5"/>
                </a:solidFill>
              </a:rPr>
              <a:t>Question centrale : comparer deux bundles tout en conservant une cohérence anatomique.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OPTIMAL TRANSPORT</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07</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Comparer des distributions de représentants</a:t>
            </a:r>
            <a:endParaRPr lang="en-US" sz="2700" dirty="0"/>
          </a:p>
        </p:txBody>
      </p:sp>
      <p:sp>
        <p:nvSpPr>
          <p:cNvPr id="7" name="Shape 5"/>
          <p:cNvSpPr/>
          <p:nvPr/>
        </p:nvSpPr>
        <p:spPr>
          <a:xfrm>
            <a:off x="502920" y="1554480"/>
            <a:ext cx="2286000" cy="3474720"/>
          </a:xfrm>
          <a:prstGeom prst="roundRect">
            <a:avLst>
              <a:gd name="adj" fmla="val 2800"/>
            </a:avLst>
          </a:prstGeom>
          <a:solidFill>
            <a:srgbClr val="102831"/>
          </a:solidFill>
          <a:ln w="12700">
            <a:solidFill>
              <a:srgbClr val="31545E"/>
            </a:solidFill>
            <a:prstDash val="solid"/>
          </a:ln>
        </p:spPr>
      </p:sp>
      <p:sp>
        <p:nvSpPr>
          <p:cNvPr id="8" name="Shape 6"/>
          <p:cNvSpPr/>
          <p:nvPr/>
        </p:nvSpPr>
        <p:spPr>
          <a:xfrm>
            <a:off x="502920" y="1554480"/>
            <a:ext cx="50292" cy="3474720"/>
          </a:xfrm>
          <a:prstGeom prst="rect">
            <a:avLst/>
          </a:prstGeom>
          <a:solidFill>
            <a:srgbClr val="55BFFF"/>
          </a:solidFill>
          <a:ln w="12700">
            <a:solidFill>
              <a:srgbClr val="06151B">
                <a:alpha val="0"/>
              </a:srgbClr>
            </a:solidFill>
            <a:prstDash val="solid"/>
          </a:ln>
        </p:spPr>
      </p:sp>
      <p:sp>
        <p:nvSpPr>
          <p:cNvPr id="9" name="Text 7"/>
          <p:cNvSpPr/>
          <p:nvPr/>
        </p:nvSpPr>
        <p:spPr>
          <a:xfrm>
            <a:off x="722376" y="1755648"/>
            <a:ext cx="1874520" cy="502920"/>
          </a:xfrm>
          <a:prstGeom prst="rect">
            <a:avLst/>
          </a:prstGeom>
          <a:noFill/>
          <a:ln/>
        </p:spPr>
        <p:txBody>
          <a:bodyPr wrap="square" lIns="0" tIns="0" rIns="0" bIns="0" rtlCol="0" anchor="ctr">
            <a:normAutofit/>
          </a:bodyPr>
          <a:lstStyle/>
          <a:p>
            <a:pPr indent="0" marL="0">
              <a:buNone/>
            </a:pPr>
            <a:r>
              <a:rPr lang="en-US" sz="2700" b="1" dirty="0">
                <a:solidFill>
                  <a:srgbClr val="55BFFF"/>
                </a:solidFill>
              </a:rPr>
              <a:t>A</a:t>
            </a:r>
            <a:endParaRPr lang="en-US" sz="2700" dirty="0"/>
          </a:p>
        </p:txBody>
      </p:sp>
      <p:sp>
        <p:nvSpPr>
          <p:cNvPr id="10" name="Text 8"/>
          <p:cNvSpPr/>
          <p:nvPr/>
        </p:nvSpPr>
        <p:spPr>
          <a:xfrm>
            <a:off x="722376" y="2359152"/>
            <a:ext cx="1874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Source</a:t>
            </a:r>
            <a:endParaRPr lang="en-US" sz="1550" dirty="0"/>
          </a:p>
        </p:txBody>
      </p:sp>
      <p:sp>
        <p:nvSpPr>
          <p:cNvPr id="11" name="Text 9"/>
          <p:cNvSpPr/>
          <p:nvPr/>
        </p:nvSpPr>
        <p:spPr>
          <a:xfrm>
            <a:off x="722376" y="2770632"/>
            <a:ext cx="1874520" cy="2057400"/>
          </a:xfrm>
          <a:prstGeom prst="rect">
            <a:avLst/>
          </a:prstGeom>
          <a:noFill/>
          <a:ln/>
        </p:spPr>
        <p:txBody>
          <a:bodyPr wrap="square" lIns="0" tIns="0" rIns="0" bIns="0" rtlCol="0" anchor="t">
            <a:normAutofit/>
          </a:bodyPr>
          <a:lstStyle/>
          <a:p>
            <a:pPr indent="0" marL="0">
              <a:buNone/>
            </a:pPr>
            <a:r>
              <a:rPr lang="en-US" sz="1270" dirty="0">
                <a:solidFill>
                  <a:srgbClr val="A8C1C9"/>
                </a:solidFill>
              </a:rPr>
              <a:t>Représentants xᵢ</a:t>
            </a:r>
            <a:endParaRPr lang="en-US" sz="1270" dirty="0"/>
          </a:p>
          <a:p>
            <a:pPr indent="0" marL="0">
              <a:buNone/>
            </a:pPr>
            <a:r>
              <a:rPr lang="en-US" sz="1270" dirty="0">
                <a:solidFill>
                  <a:srgbClr val="A8C1C9"/>
                </a:solidFill>
              </a:rPr>
              <a:t>Masses aᵢ</a:t>
            </a:r>
            <a:endParaRPr lang="en-US" sz="1270" dirty="0"/>
          </a:p>
        </p:txBody>
      </p:sp>
      <p:sp>
        <p:nvSpPr>
          <p:cNvPr id="12" name="Shape 10"/>
          <p:cNvSpPr/>
          <p:nvPr/>
        </p:nvSpPr>
        <p:spPr>
          <a:xfrm>
            <a:off x="2971800" y="2743200"/>
            <a:ext cx="685800" cy="457200"/>
          </a:xfrm>
          <a:prstGeom prst="rightArrow">
            <a:avLst/>
          </a:prstGeom>
          <a:solidFill>
            <a:srgbClr val="31545E"/>
          </a:solidFill>
          <a:ln w="12700">
            <a:solidFill>
              <a:srgbClr val="06151B">
                <a:alpha val="0"/>
              </a:srgbClr>
            </a:solidFill>
            <a:prstDash val="solid"/>
          </a:ln>
        </p:spPr>
      </p:sp>
      <p:sp>
        <p:nvSpPr>
          <p:cNvPr id="13" name="Shape 11"/>
          <p:cNvSpPr/>
          <p:nvPr/>
        </p:nvSpPr>
        <p:spPr>
          <a:xfrm>
            <a:off x="3794760" y="1554480"/>
            <a:ext cx="2286000" cy="3474720"/>
          </a:xfrm>
          <a:prstGeom prst="roundRect">
            <a:avLst>
              <a:gd name="adj" fmla="val 2800"/>
            </a:avLst>
          </a:prstGeom>
          <a:solidFill>
            <a:srgbClr val="102831"/>
          </a:solidFill>
          <a:ln w="12700">
            <a:solidFill>
              <a:srgbClr val="31545E"/>
            </a:solidFill>
            <a:prstDash val="solid"/>
          </a:ln>
        </p:spPr>
      </p:sp>
      <p:sp>
        <p:nvSpPr>
          <p:cNvPr id="14" name="Shape 12"/>
          <p:cNvSpPr/>
          <p:nvPr/>
        </p:nvSpPr>
        <p:spPr>
          <a:xfrm>
            <a:off x="3794760" y="1554480"/>
            <a:ext cx="50292" cy="3474720"/>
          </a:xfrm>
          <a:prstGeom prst="rect">
            <a:avLst/>
          </a:prstGeom>
          <a:solidFill>
            <a:srgbClr val="FF9B55"/>
          </a:solidFill>
          <a:ln w="12700">
            <a:solidFill>
              <a:srgbClr val="06151B">
                <a:alpha val="0"/>
              </a:srgbClr>
            </a:solidFill>
            <a:prstDash val="solid"/>
          </a:ln>
        </p:spPr>
      </p:sp>
      <p:sp>
        <p:nvSpPr>
          <p:cNvPr id="15" name="Text 13"/>
          <p:cNvSpPr/>
          <p:nvPr/>
        </p:nvSpPr>
        <p:spPr>
          <a:xfrm>
            <a:off x="4014216" y="1755648"/>
            <a:ext cx="1874520" cy="502920"/>
          </a:xfrm>
          <a:prstGeom prst="rect">
            <a:avLst/>
          </a:prstGeom>
          <a:noFill/>
          <a:ln/>
        </p:spPr>
        <p:txBody>
          <a:bodyPr wrap="square" lIns="0" tIns="0" rIns="0" bIns="0" rtlCol="0" anchor="ctr">
            <a:normAutofit/>
          </a:bodyPr>
          <a:lstStyle/>
          <a:p>
            <a:pPr indent="0" marL="0">
              <a:buNone/>
            </a:pPr>
            <a:r>
              <a:rPr lang="en-US" sz="2700" b="1" dirty="0">
                <a:solidFill>
                  <a:srgbClr val="FF9B55"/>
                </a:solidFill>
              </a:rPr>
              <a:t>C</a:t>
            </a:r>
            <a:endParaRPr lang="en-US" sz="2700" dirty="0"/>
          </a:p>
        </p:txBody>
      </p:sp>
      <p:sp>
        <p:nvSpPr>
          <p:cNvPr id="16" name="Text 14"/>
          <p:cNvSpPr/>
          <p:nvPr/>
        </p:nvSpPr>
        <p:spPr>
          <a:xfrm>
            <a:off x="4014216" y="2359152"/>
            <a:ext cx="1874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Coût</a:t>
            </a:r>
            <a:endParaRPr lang="en-US" sz="1550" dirty="0"/>
          </a:p>
        </p:txBody>
      </p:sp>
      <p:sp>
        <p:nvSpPr>
          <p:cNvPr id="17" name="Text 15"/>
          <p:cNvSpPr/>
          <p:nvPr/>
        </p:nvSpPr>
        <p:spPr>
          <a:xfrm>
            <a:off x="4014216" y="2770632"/>
            <a:ext cx="1874520" cy="2057400"/>
          </a:xfrm>
          <a:prstGeom prst="rect">
            <a:avLst/>
          </a:prstGeom>
          <a:noFill/>
          <a:ln/>
        </p:spPr>
        <p:txBody>
          <a:bodyPr wrap="square" lIns="0" tIns="0" rIns="0" bIns="0" rtlCol="0" anchor="t">
            <a:normAutofit/>
          </a:bodyPr>
          <a:lstStyle/>
          <a:p>
            <a:pPr indent="0" marL="0">
              <a:buNone/>
            </a:pPr>
            <a:r>
              <a:rPr lang="en-US" sz="1270" dirty="0">
                <a:solidFill>
                  <a:srgbClr val="A8C1C9"/>
                </a:solidFill>
              </a:rPr>
              <a:t>Matrice Cᵢⱼ</a:t>
            </a:r>
            <a:endParaRPr lang="en-US" sz="1270" dirty="0"/>
          </a:p>
          <a:p>
            <a:pPr indent="0" marL="0">
              <a:buNone/>
            </a:pPr>
            <a:r>
              <a:rPr lang="en-US" sz="1270" dirty="0">
                <a:solidFill>
                  <a:srgbClr val="A8C1C9"/>
                </a:solidFill>
              </a:rPr>
              <a:t>Distance MDF entre streamlines</a:t>
            </a:r>
            <a:endParaRPr lang="en-US" sz="1270" dirty="0"/>
          </a:p>
        </p:txBody>
      </p:sp>
      <p:sp>
        <p:nvSpPr>
          <p:cNvPr id="18" name="Shape 16"/>
          <p:cNvSpPr/>
          <p:nvPr/>
        </p:nvSpPr>
        <p:spPr>
          <a:xfrm>
            <a:off x="6263640" y="2743200"/>
            <a:ext cx="685800" cy="457200"/>
          </a:xfrm>
          <a:prstGeom prst="rightArrow">
            <a:avLst/>
          </a:prstGeom>
          <a:solidFill>
            <a:srgbClr val="31545E"/>
          </a:solidFill>
          <a:ln w="12700">
            <a:solidFill>
              <a:srgbClr val="06151B">
                <a:alpha val="0"/>
              </a:srgbClr>
            </a:solidFill>
            <a:prstDash val="solid"/>
          </a:ln>
        </p:spPr>
      </p:sp>
      <p:sp>
        <p:nvSpPr>
          <p:cNvPr id="19" name="Shape 17"/>
          <p:cNvSpPr/>
          <p:nvPr/>
        </p:nvSpPr>
        <p:spPr>
          <a:xfrm>
            <a:off x="7086600" y="1554480"/>
            <a:ext cx="2286000" cy="3474720"/>
          </a:xfrm>
          <a:prstGeom prst="roundRect">
            <a:avLst>
              <a:gd name="adj" fmla="val 2800"/>
            </a:avLst>
          </a:prstGeom>
          <a:solidFill>
            <a:srgbClr val="102831"/>
          </a:solidFill>
          <a:ln w="12700">
            <a:solidFill>
              <a:srgbClr val="31545E"/>
            </a:solidFill>
            <a:prstDash val="solid"/>
          </a:ln>
        </p:spPr>
      </p:sp>
      <p:sp>
        <p:nvSpPr>
          <p:cNvPr id="20" name="Shape 18"/>
          <p:cNvSpPr/>
          <p:nvPr/>
        </p:nvSpPr>
        <p:spPr>
          <a:xfrm>
            <a:off x="7086600" y="1554480"/>
            <a:ext cx="50292" cy="3474720"/>
          </a:xfrm>
          <a:prstGeom prst="rect">
            <a:avLst/>
          </a:prstGeom>
          <a:solidFill>
            <a:srgbClr val="22D3C5"/>
          </a:solidFill>
          <a:ln w="12700">
            <a:solidFill>
              <a:srgbClr val="06151B">
                <a:alpha val="0"/>
              </a:srgbClr>
            </a:solidFill>
            <a:prstDash val="solid"/>
          </a:ln>
        </p:spPr>
      </p:sp>
      <p:sp>
        <p:nvSpPr>
          <p:cNvPr id="21" name="Text 19"/>
          <p:cNvSpPr/>
          <p:nvPr/>
        </p:nvSpPr>
        <p:spPr>
          <a:xfrm>
            <a:off x="7306056" y="1755648"/>
            <a:ext cx="1874520" cy="502920"/>
          </a:xfrm>
          <a:prstGeom prst="rect">
            <a:avLst/>
          </a:prstGeom>
          <a:noFill/>
          <a:ln/>
        </p:spPr>
        <p:txBody>
          <a:bodyPr wrap="square" lIns="0" tIns="0" rIns="0" bIns="0" rtlCol="0" anchor="ctr">
            <a:normAutofit/>
          </a:bodyPr>
          <a:lstStyle/>
          <a:p>
            <a:pPr indent="0" marL="0">
              <a:buNone/>
            </a:pPr>
            <a:r>
              <a:rPr lang="en-US" sz="2700" b="1" dirty="0">
                <a:solidFill>
                  <a:srgbClr val="22D3C5"/>
                </a:solidFill>
              </a:rPr>
              <a:t>P</a:t>
            </a:r>
            <a:endParaRPr lang="en-US" sz="2700" dirty="0"/>
          </a:p>
        </p:txBody>
      </p:sp>
      <p:sp>
        <p:nvSpPr>
          <p:cNvPr id="22" name="Text 20"/>
          <p:cNvSpPr/>
          <p:nvPr/>
        </p:nvSpPr>
        <p:spPr>
          <a:xfrm>
            <a:off x="7306056" y="2359152"/>
            <a:ext cx="1874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Transport</a:t>
            </a:r>
            <a:endParaRPr lang="en-US" sz="1550" dirty="0"/>
          </a:p>
        </p:txBody>
      </p:sp>
      <p:sp>
        <p:nvSpPr>
          <p:cNvPr id="23" name="Text 21"/>
          <p:cNvSpPr/>
          <p:nvPr/>
        </p:nvSpPr>
        <p:spPr>
          <a:xfrm>
            <a:off x="7306056" y="2770632"/>
            <a:ext cx="1874520" cy="2057400"/>
          </a:xfrm>
          <a:prstGeom prst="rect">
            <a:avLst/>
          </a:prstGeom>
          <a:noFill/>
          <a:ln/>
        </p:spPr>
        <p:txBody>
          <a:bodyPr wrap="square" lIns="0" tIns="0" rIns="0" bIns="0" rtlCol="0" anchor="t">
            <a:normAutofit/>
          </a:bodyPr>
          <a:lstStyle/>
          <a:p>
            <a:pPr indent="0" marL="0">
              <a:buNone/>
            </a:pPr>
            <a:r>
              <a:rPr lang="en-US" sz="1270" dirty="0">
                <a:solidFill>
                  <a:srgbClr val="A8C1C9"/>
                </a:solidFill>
              </a:rPr>
              <a:t>Plan Pᵢⱼ</a:t>
            </a:r>
            <a:endParaRPr lang="en-US" sz="1270" dirty="0"/>
          </a:p>
          <a:p>
            <a:pPr indent="0" marL="0">
              <a:buNone/>
            </a:pPr>
            <a:r>
              <a:rPr lang="en-US" sz="1270" dirty="0">
                <a:solidFill>
                  <a:srgbClr val="A8C1C9"/>
                </a:solidFill>
              </a:rPr>
              <a:t>Quelle masse va où ?</a:t>
            </a:r>
            <a:endParaRPr lang="en-US" sz="1270" dirty="0"/>
          </a:p>
        </p:txBody>
      </p:sp>
      <p:sp>
        <p:nvSpPr>
          <p:cNvPr id="24" name="Shape 22"/>
          <p:cNvSpPr/>
          <p:nvPr/>
        </p:nvSpPr>
        <p:spPr>
          <a:xfrm>
            <a:off x="9555480" y="2743200"/>
            <a:ext cx="685800" cy="457200"/>
          </a:xfrm>
          <a:prstGeom prst="rightArrow">
            <a:avLst/>
          </a:prstGeom>
          <a:solidFill>
            <a:srgbClr val="31545E"/>
          </a:solidFill>
          <a:ln w="12700">
            <a:solidFill>
              <a:srgbClr val="06151B">
                <a:alpha val="0"/>
              </a:srgbClr>
            </a:solidFill>
            <a:prstDash val="solid"/>
          </a:ln>
        </p:spPr>
      </p:sp>
      <p:sp>
        <p:nvSpPr>
          <p:cNvPr id="25" name="Shape 23"/>
          <p:cNvSpPr/>
          <p:nvPr/>
        </p:nvSpPr>
        <p:spPr>
          <a:xfrm>
            <a:off x="10378440" y="1554480"/>
            <a:ext cx="1298448" cy="3474720"/>
          </a:xfrm>
          <a:prstGeom prst="roundRect">
            <a:avLst>
              <a:gd name="adj" fmla="val 4930"/>
            </a:avLst>
          </a:prstGeom>
          <a:solidFill>
            <a:srgbClr val="102831"/>
          </a:solidFill>
          <a:ln w="12700">
            <a:solidFill>
              <a:srgbClr val="31545E"/>
            </a:solidFill>
            <a:prstDash val="solid"/>
          </a:ln>
        </p:spPr>
      </p:sp>
      <p:sp>
        <p:nvSpPr>
          <p:cNvPr id="26" name="Shape 24"/>
          <p:cNvSpPr/>
          <p:nvPr/>
        </p:nvSpPr>
        <p:spPr>
          <a:xfrm>
            <a:off x="10378440" y="1554480"/>
            <a:ext cx="50292" cy="3474720"/>
          </a:xfrm>
          <a:prstGeom prst="rect">
            <a:avLst/>
          </a:prstGeom>
          <a:solidFill>
            <a:srgbClr val="7EE081"/>
          </a:solidFill>
          <a:ln w="12700">
            <a:solidFill>
              <a:srgbClr val="06151B">
                <a:alpha val="0"/>
              </a:srgbClr>
            </a:solidFill>
            <a:prstDash val="solid"/>
          </a:ln>
        </p:spPr>
      </p:sp>
      <p:sp>
        <p:nvSpPr>
          <p:cNvPr id="27" name="Text 25"/>
          <p:cNvSpPr/>
          <p:nvPr/>
        </p:nvSpPr>
        <p:spPr>
          <a:xfrm>
            <a:off x="10597896" y="1755648"/>
            <a:ext cx="886968" cy="502920"/>
          </a:xfrm>
          <a:prstGeom prst="rect">
            <a:avLst/>
          </a:prstGeom>
          <a:noFill/>
          <a:ln/>
        </p:spPr>
        <p:txBody>
          <a:bodyPr wrap="square" lIns="0" tIns="0" rIns="0" bIns="0" rtlCol="0" anchor="ctr">
            <a:normAutofit/>
          </a:bodyPr>
          <a:lstStyle/>
          <a:p>
            <a:pPr indent="0" marL="0">
              <a:buNone/>
            </a:pPr>
            <a:r>
              <a:rPr lang="en-US" sz="2700" b="1" dirty="0">
                <a:solidFill>
                  <a:srgbClr val="7EE081"/>
                </a:solidFill>
              </a:rPr>
              <a:t>B</a:t>
            </a:r>
            <a:endParaRPr lang="en-US" sz="2700" dirty="0"/>
          </a:p>
        </p:txBody>
      </p:sp>
      <p:sp>
        <p:nvSpPr>
          <p:cNvPr id="28" name="Text 26"/>
          <p:cNvSpPr/>
          <p:nvPr/>
        </p:nvSpPr>
        <p:spPr>
          <a:xfrm>
            <a:off x="10597896" y="2359152"/>
            <a:ext cx="886968"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Cible</a:t>
            </a:r>
            <a:endParaRPr lang="en-US" sz="1550" dirty="0"/>
          </a:p>
        </p:txBody>
      </p:sp>
      <p:sp>
        <p:nvSpPr>
          <p:cNvPr id="29" name="Text 27"/>
          <p:cNvSpPr/>
          <p:nvPr/>
        </p:nvSpPr>
        <p:spPr>
          <a:xfrm>
            <a:off x="10597896" y="2770632"/>
            <a:ext cx="886968" cy="2057400"/>
          </a:xfrm>
          <a:prstGeom prst="rect">
            <a:avLst/>
          </a:prstGeom>
          <a:noFill/>
          <a:ln/>
        </p:spPr>
        <p:txBody>
          <a:bodyPr wrap="square" lIns="0" tIns="0" rIns="0" bIns="0" rtlCol="0" anchor="t">
            <a:normAutofit/>
          </a:bodyPr>
          <a:lstStyle/>
          <a:p>
            <a:pPr indent="0" marL="0">
              <a:buNone/>
            </a:pPr>
            <a:r>
              <a:rPr lang="en-US" sz="1270" dirty="0">
                <a:solidFill>
                  <a:srgbClr val="A8C1C9"/>
                </a:solidFill>
              </a:rPr>
              <a:t>yⱼ</a:t>
            </a:r>
            <a:endParaRPr lang="en-US" sz="1270" dirty="0"/>
          </a:p>
          <a:p>
            <a:pPr indent="0" marL="0">
              <a:buNone/>
            </a:pPr>
            <a:r>
              <a:rPr lang="en-US" sz="1270" dirty="0">
                <a:solidFill>
                  <a:srgbClr val="A8C1C9"/>
                </a:solidFill>
              </a:rPr>
              <a:t>bⱼ</a:t>
            </a:r>
            <a:endParaRPr lang="en-US" sz="1270" dirty="0"/>
          </a:p>
        </p:txBody>
      </p:sp>
      <p:sp>
        <p:nvSpPr>
          <p:cNvPr id="30" name="Text 28"/>
          <p:cNvSpPr/>
          <p:nvPr/>
        </p:nvSpPr>
        <p:spPr>
          <a:xfrm>
            <a:off x="3566160" y="5440680"/>
            <a:ext cx="5074920" cy="475488"/>
          </a:xfrm>
          <a:prstGeom prst="rect">
            <a:avLst/>
          </a:prstGeom>
          <a:noFill/>
          <a:ln/>
        </p:spPr>
        <p:txBody>
          <a:bodyPr wrap="square" lIns="0" tIns="0" rIns="0" bIns="0" rtlCol="0" anchor="ctr"/>
          <a:lstStyle/>
          <a:p>
            <a:pPr algn="ctr" indent="0" marL="0">
              <a:buNone/>
            </a:pPr>
            <a:r>
              <a:rPr lang="en-US" sz="2300" b="1" dirty="0">
                <a:solidFill>
                  <a:srgbClr val="F4FAFC"/>
                </a:solidFill>
              </a:rPr>
              <a:t>minimiser  Σ Pᵢⱼ · Cᵢⱼ</a:t>
            </a:r>
            <a:endParaRPr lang="en-US" sz="2300" dirty="0"/>
          </a:p>
        </p:txBody>
      </p:sp>
      <p:sp>
        <p:nvSpPr>
          <p:cNvPr id="31" name="Text 29"/>
          <p:cNvSpPr/>
          <p:nvPr/>
        </p:nvSpPr>
        <p:spPr>
          <a:xfrm>
            <a:off x="1828800" y="5989320"/>
            <a:ext cx="8549640" cy="256032"/>
          </a:xfrm>
          <a:prstGeom prst="rect">
            <a:avLst/>
          </a:prstGeom>
          <a:noFill/>
          <a:ln/>
        </p:spPr>
        <p:txBody>
          <a:bodyPr wrap="square" lIns="0" tIns="0" rIns="0" bIns="0" rtlCol="0" anchor="ctr"/>
          <a:lstStyle/>
          <a:p>
            <a:pPr algn="ctr" indent="0" marL="0">
              <a:buNone/>
            </a:pPr>
            <a:r>
              <a:rPr lang="en-US" sz="1250" dirty="0">
                <a:solidFill>
                  <a:srgbClr val="22D3C5"/>
                </a:solidFill>
              </a:rPr>
              <a:t>L’OT cherche un transport peu coûteux — pas nécessairement un appariement 1 à 1.</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PREMIÈRE SOLUTION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08</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QuickBundles + Partial OT</a:t>
            </a:r>
            <a:endParaRPr lang="en-US" sz="2700" dirty="0"/>
          </a:p>
        </p:txBody>
      </p:sp>
      <p:sp>
        <p:nvSpPr>
          <p:cNvPr id="7" name="Text 5"/>
          <p:cNvSpPr/>
          <p:nvPr/>
        </p:nvSpPr>
        <p:spPr>
          <a:xfrm>
            <a:off x="365760" y="1024128"/>
            <a:ext cx="10927080" cy="292608"/>
          </a:xfrm>
          <a:prstGeom prst="rect">
            <a:avLst/>
          </a:prstGeom>
          <a:noFill/>
          <a:ln/>
        </p:spPr>
        <p:txBody>
          <a:bodyPr wrap="square" lIns="0" tIns="0" rIns="0" bIns="0" rtlCol="0" anchor="ctr">
            <a:normAutofit/>
          </a:bodyPr>
          <a:lstStyle/>
          <a:p>
            <a:pPr indent="0" marL="0">
              <a:buNone/>
            </a:pPr>
            <a:r>
              <a:rPr lang="en-US" sz="1350" dirty="0">
                <a:solidFill>
                  <a:srgbClr val="A8C1C9"/>
                </a:solidFill>
              </a:rPr>
              <a:t>Compresser d’abord; comparer seulement la fraction de masse la plus cohérente.</a:t>
            </a:r>
            <a:endParaRPr lang="en-US" sz="1350" dirty="0"/>
          </a:p>
        </p:txBody>
      </p:sp>
      <p:sp>
        <p:nvSpPr>
          <p:cNvPr id="8" name="Shape 6"/>
          <p:cNvSpPr/>
          <p:nvPr/>
        </p:nvSpPr>
        <p:spPr>
          <a:xfrm>
            <a:off x="594360" y="1508760"/>
            <a:ext cx="3154680" cy="4206240"/>
          </a:xfrm>
          <a:prstGeom prst="roundRect">
            <a:avLst>
              <a:gd name="adj" fmla="val 2029"/>
            </a:avLst>
          </a:prstGeom>
          <a:solidFill>
            <a:srgbClr val="102831"/>
          </a:solidFill>
          <a:ln w="12700">
            <a:solidFill>
              <a:srgbClr val="31545E"/>
            </a:solidFill>
            <a:prstDash val="solid"/>
          </a:ln>
        </p:spPr>
      </p:sp>
      <p:sp>
        <p:nvSpPr>
          <p:cNvPr id="9" name="Shape 7"/>
          <p:cNvSpPr/>
          <p:nvPr/>
        </p:nvSpPr>
        <p:spPr>
          <a:xfrm>
            <a:off x="594360" y="1508760"/>
            <a:ext cx="50292" cy="4206240"/>
          </a:xfrm>
          <a:prstGeom prst="rect">
            <a:avLst/>
          </a:prstGeom>
          <a:solidFill>
            <a:srgbClr val="55BFFF"/>
          </a:solidFill>
          <a:ln w="12700">
            <a:solidFill>
              <a:srgbClr val="06151B">
                <a:alpha val="0"/>
              </a:srgbClr>
            </a:solidFill>
            <a:prstDash val="solid"/>
          </a:ln>
        </p:spPr>
      </p:sp>
      <p:sp>
        <p:nvSpPr>
          <p:cNvPr id="10" name="Text 8"/>
          <p:cNvSpPr/>
          <p:nvPr/>
        </p:nvSpPr>
        <p:spPr>
          <a:xfrm>
            <a:off x="813816" y="1709928"/>
            <a:ext cx="2743200" cy="502920"/>
          </a:xfrm>
          <a:prstGeom prst="rect">
            <a:avLst/>
          </a:prstGeom>
          <a:noFill/>
          <a:ln/>
        </p:spPr>
        <p:txBody>
          <a:bodyPr wrap="square" lIns="0" tIns="0" rIns="0" bIns="0" rtlCol="0" anchor="ctr">
            <a:normAutofit/>
          </a:bodyPr>
          <a:lstStyle/>
          <a:p>
            <a:pPr indent="0" marL="0">
              <a:buNone/>
            </a:pPr>
            <a:r>
              <a:rPr lang="en-US" sz="2700" b="1" dirty="0">
                <a:solidFill>
                  <a:srgbClr val="55BFFF"/>
                </a:solidFill>
              </a:rPr>
              <a:t>COMPRESSION</a:t>
            </a:r>
            <a:endParaRPr lang="en-US" sz="2700" dirty="0"/>
          </a:p>
        </p:txBody>
      </p:sp>
      <p:sp>
        <p:nvSpPr>
          <p:cNvPr id="11" name="Text 9"/>
          <p:cNvSpPr/>
          <p:nvPr/>
        </p:nvSpPr>
        <p:spPr>
          <a:xfrm>
            <a:off x="813816" y="2313432"/>
            <a:ext cx="274320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QuickBundles</a:t>
            </a:r>
            <a:endParaRPr lang="en-US" sz="1550" dirty="0"/>
          </a:p>
        </p:txBody>
      </p:sp>
      <p:sp>
        <p:nvSpPr>
          <p:cNvPr id="12" name="Text 10"/>
          <p:cNvSpPr/>
          <p:nvPr/>
        </p:nvSpPr>
        <p:spPr>
          <a:xfrm>
            <a:off x="813816" y="2724912"/>
            <a:ext cx="2743200" cy="2788920"/>
          </a:xfrm>
          <a:prstGeom prst="rect">
            <a:avLst/>
          </a:prstGeom>
          <a:noFill/>
          <a:ln/>
        </p:spPr>
        <p:txBody>
          <a:bodyPr wrap="square" lIns="0" tIns="0" rIns="0" bIns="0" rtlCol="0" anchor="t">
            <a:normAutofit/>
          </a:bodyPr>
          <a:lstStyle/>
          <a:p>
            <a:pPr indent="0" marL="0">
              <a:buNone/>
            </a:pPr>
            <a:r>
              <a:rPr lang="en-US" sz="1270" dirty="0">
                <a:solidFill>
                  <a:srgbClr val="A8C1C9"/>
                </a:solidFill>
              </a:rPr>
              <a:t>Regrouper les streamlines proches</a:t>
            </a:r>
            <a:endParaRPr lang="en-US" sz="1270" dirty="0"/>
          </a:p>
          <a:p>
            <a:pPr indent="0" marL="0">
              <a:buNone/>
            </a:pPr>
            <a:r>
              <a:rPr lang="en-US" sz="1270" dirty="0">
                <a:solidFill>
                  <a:srgbClr val="A8C1C9"/>
                </a:solidFill>
              </a:rPr>
              <a:t>→ centroïdes</a:t>
            </a:r>
            <a:endParaRPr lang="en-US" sz="1270" dirty="0"/>
          </a:p>
          <a:p>
            <a:pPr indent="0" marL="0">
              <a:buNone/>
            </a:pPr>
            <a:r>
              <a:rPr lang="en-US" sz="1270" dirty="0">
                <a:solidFill>
                  <a:srgbClr val="A8C1C9"/>
                </a:solidFill>
              </a:rPr>
              <a:t>→ poids proportionnels aux clusters</a:t>
            </a:r>
            <a:endParaRPr lang="en-US" sz="1270" dirty="0"/>
          </a:p>
        </p:txBody>
      </p:sp>
      <p:sp>
        <p:nvSpPr>
          <p:cNvPr id="13" name="Shape 11"/>
          <p:cNvSpPr/>
          <p:nvPr/>
        </p:nvSpPr>
        <p:spPr>
          <a:xfrm>
            <a:off x="3931920" y="3154680"/>
            <a:ext cx="292608" cy="530352"/>
          </a:xfrm>
          <a:prstGeom prst="chevron">
            <a:avLst/>
          </a:prstGeom>
          <a:solidFill>
            <a:srgbClr val="31545E"/>
          </a:solidFill>
          <a:ln w="12700">
            <a:solidFill>
              <a:srgbClr val="06151B">
                <a:alpha val="0"/>
              </a:srgbClr>
            </a:solidFill>
            <a:prstDash val="solid"/>
          </a:ln>
        </p:spPr>
      </p:sp>
      <p:sp>
        <p:nvSpPr>
          <p:cNvPr id="14" name="Shape 12"/>
          <p:cNvSpPr/>
          <p:nvPr/>
        </p:nvSpPr>
        <p:spPr>
          <a:xfrm>
            <a:off x="4434840" y="1508760"/>
            <a:ext cx="3154680" cy="4206240"/>
          </a:xfrm>
          <a:prstGeom prst="roundRect">
            <a:avLst>
              <a:gd name="adj" fmla="val 2029"/>
            </a:avLst>
          </a:prstGeom>
          <a:solidFill>
            <a:srgbClr val="102831"/>
          </a:solidFill>
          <a:ln w="12700">
            <a:solidFill>
              <a:srgbClr val="31545E"/>
            </a:solidFill>
            <a:prstDash val="solid"/>
          </a:ln>
        </p:spPr>
      </p:sp>
      <p:sp>
        <p:nvSpPr>
          <p:cNvPr id="15" name="Shape 13"/>
          <p:cNvSpPr/>
          <p:nvPr/>
        </p:nvSpPr>
        <p:spPr>
          <a:xfrm>
            <a:off x="4434840" y="1508760"/>
            <a:ext cx="50292" cy="4206240"/>
          </a:xfrm>
          <a:prstGeom prst="rect">
            <a:avLst/>
          </a:prstGeom>
          <a:solidFill>
            <a:srgbClr val="7EE081"/>
          </a:solidFill>
          <a:ln w="12700">
            <a:solidFill>
              <a:srgbClr val="06151B">
                <a:alpha val="0"/>
              </a:srgbClr>
            </a:solidFill>
            <a:prstDash val="solid"/>
          </a:ln>
        </p:spPr>
      </p:sp>
      <p:sp>
        <p:nvSpPr>
          <p:cNvPr id="16" name="Text 14"/>
          <p:cNvSpPr/>
          <p:nvPr/>
        </p:nvSpPr>
        <p:spPr>
          <a:xfrm>
            <a:off x="4654296" y="1709928"/>
            <a:ext cx="2743200" cy="502920"/>
          </a:xfrm>
          <a:prstGeom prst="rect">
            <a:avLst/>
          </a:prstGeom>
          <a:noFill/>
          <a:ln/>
        </p:spPr>
        <p:txBody>
          <a:bodyPr wrap="square" lIns="0" tIns="0" rIns="0" bIns="0" rtlCol="0" anchor="ctr">
            <a:normAutofit/>
          </a:bodyPr>
          <a:lstStyle/>
          <a:p>
            <a:pPr indent="0" marL="0">
              <a:buNone/>
            </a:pPr>
            <a:r>
              <a:rPr lang="en-US" sz="2700" b="1" dirty="0">
                <a:solidFill>
                  <a:srgbClr val="7EE081"/>
                </a:solidFill>
              </a:rPr>
              <a:t>POIDS</a:t>
            </a:r>
            <a:endParaRPr lang="en-US" sz="2700" dirty="0"/>
          </a:p>
        </p:txBody>
      </p:sp>
      <p:sp>
        <p:nvSpPr>
          <p:cNvPr id="17" name="Text 15"/>
          <p:cNvSpPr/>
          <p:nvPr/>
        </p:nvSpPr>
        <p:spPr>
          <a:xfrm>
            <a:off x="4654296" y="2313432"/>
            <a:ext cx="274320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Masses empiriques</a:t>
            </a:r>
            <a:endParaRPr lang="en-US" sz="1550" dirty="0"/>
          </a:p>
        </p:txBody>
      </p:sp>
      <p:sp>
        <p:nvSpPr>
          <p:cNvPr id="18" name="Text 16"/>
          <p:cNvSpPr/>
          <p:nvPr/>
        </p:nvSpPr>
        <p:spPr>
          <a:xfrm>
            <a:off x="4654296" y="2724912"/>
            <a:ext cx="2743200" cy="2788920"/>
          </a:xfrm>
          <a:prstGeom prst="rect">
            <a:avLst/>
          </a:prstGeom>
          <a:noFill/>
          <a:ln/>
        </p:spPr>
        <p:txBody>
          <a:bodyPr wrap="square" lIns="0" tIns="0" rIns="0" bIns="0" rtlCol="0" anchor="t">
            <a:normAutofit/>
          </a:bodyPr>
          <a:lstStyle/>
          <a:p>
            <a:pPr indent="0" marL="0">
              <a:buNone/>
            </a:pPr>
            <a:r>
              <a:rPr lang="en-US" sz="1270" dirty="0">
                <a:solidFill>
                  <a:srgbClr val="A8C1C9"/>
                </a:solidFill>
              </a:rPr>
              <a:t>aᵢ = nᵢ / N</a:t>
            </a:r>
            <a:endParaRPr lang="en-US" sz="1270" dirty="0"/>
          </a:p>
          <a:p>
            <a:pPr indent="0" marL="0">
              <a:buNone/>
            </a:pPr>
            <a:endParaRPr lang="en-US" sz="1270" dirty="0"/>
          </a:p>
          <a:p>
            <a:pPr indent="0" marL="0">
              <a:buNone/>
            </a:pPr>
            <a:r>
              <a:rPr lang="en-US" sz="1270" dirty="0">
                <a:solidFill>
                  <a:srgbClr val="A8C1C9"/>
                </a:solidFill>
              </a:rPr>
              <a:t>nᵢ : taille du cluster</a:t>
            </a:r>
            <a:endParaRPr lang="en-US" sz="1270" dirty="0"/>
          </a:p>
          <a:p>
            <a:pPr indent="0" marL="0">
              <a:buNone/>
            </a:pPr>
            <a:r>
              <a:rPr lang="en-US" sz="1270" dirty="0">
                <a:solidFill>
                  <a:srgbClr val="A8C1C9"/>
                </a:solidFill>
              </a:rPr>
              <a:t>N : streamlines du bundle</a:t>
            </a:r>
            <a:endParaRPr lang="en-US" sz="1270" dirty="0"/>
          </a:p>
        </p:txBody>
      </p:sp>
      <p:sp>
        <p:nvSpPr>
          <p:cNvPr id="19" name="Shape 17"/>
          <p:cNvSpPr/>
          <p:nvPr/>
        </p:nvSpPr>
        <p:spPr>
          <a:xfrm>
            <a:off x="7772400" y="3154680"/>
            <a:ext cx="292608" cy="530352"/>
          </a:xfrm>
          <a:prstGeom prst="chevron">
            <a:avLst/>
          </a:prstGeom>
          <a:solidFill>
            <a:srgbClr val="31545E"/>
          </a:solidFill>
          <a:ln w="12700">
            <a:solidFill>
              <a:srgbClr val="06151B">
                <a:alpha val="0"/>
              </a:srgbClr>
            </a:solidFill>
            <a:prstDash val="solid"/>
          </a:ln>
        </p:spPr>
      </p:sp>
      <p:sp>
        <p:nvSpPr>
          <p:cNvPr id="20" name="Shape 18"/>
          <p:cNvSpPr/>
          <p:nvPr/>
        </p:nvSpPr>
        <p:spPr>
          <a:xfrm>
            <a:off x="8275320" y="1508760"/>
            <a:ext cx="3154680" cy="4206240"/>
          </a:xfrm>
          <a:prstGeom prst="roundRect">
            <a:avLst>
              <a:gd name="adj" fmla="val 2029"/>
            </a:avLst>
          </a:prstGeom>
          <a:solidFill>
            <a:srgbClr val="102831"/>
          </a:solidFill>
          <a:ln w="12700">
            <a:solidFill>
              <a:srgbClr val="31545E"/>
            </a:solidFill>
            <a:prstDash val="solid"/>
          </a:ln>
        </p:spPr>
      </p:sp>
      <p:sp>
        <p:nvSpPr>
          <p:cNvPr id="21" name="Shape 19"/>
          <p:cNvSpPr/>
          <p:nvPr/>
        </p:nvSpPr>
        <p:spPr>
          <a:xfrm>
            <a:off x="8275320" y="1508760"/>
            <a:ext cx="50292" cy="4206240"/>
          </a:xfrm>
          <a:prstGeom prst="rect">
            <a:avLst/>
          </a:prstGeom>
          <a:solidFill>
            <a:srgbClr val="FF9B55"/>
          </a:solidFill>
          <a:ln w="12700">
            <a:solidFill>
              <a:srgbClr val="06151B">
                <a:alpha val="0"/>
              </a:srgbClr>
            </a:solidFill>
            <a:prstDash val="solid"/>
          </a:ln>
        </p:spPr>
      </p:sp>
      <p:sp>
        <p:nvSpPr>
          <p:cNvPr id="22" name="Text 20"/>
          <p:cNvSpPr/>
          <p:nvPr/>
        </p:nvSpPr>
        <p:spPr>
          <a:xfrm>
            <a:off x="8494776" y="1709928"/>
            <a:ext cx="2743200" cy="502920"/>
          </a:xfrm>
          <a:prstGeom prst="rect">
            <a:avLst/>
          </a:prstGeom>
          <a:noFill/>
          <a:ln/>
        </p:spPr>
        <p:txBody>
          <a:bodyPr wrap="square" lIns="0" tIns="0" rIns="0" bIns="0" rtlCol="0" anchor="ctr">
            <a:normAutofit/>
          </a:bodyPr>
          <a:lstStyle/>
          <a:p>
            <a:pPr indent="0" marL="0">
              <a:buNone/>
            </a:pPr>
            <a:r>
              <a:rPr lang="en-US" sz="2700" b="1" dirty="0">
                <a:solidFill>
                  <a:srgbClr val="FF9B55"/>
                </a:solidFill>
              </a:rPr>
              <a:t>m</a:t>
            </a:r>
            <a:endParaRPr lang="en-US" sz="2700" dirty="0"/>
          </a:p>
        </p:txBody>
      </p:sp>
      <p:sp>
        <p:nvSpPr>
          <p:cNvPr id="23" name="Text 21"/>
          <p:cNvSpPr/>
          <p:nvPr/>
        </p:nvSpPr>
        <p:spPr>
          <a:xfrm>
            <a:off x="8494776" y="2313432"/>
            <a:ext cx="274320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Partial OT</a:t>
            </a:r>
            <a:endParaRPr lang="en-US" sz="1550" dirty="0"/>
          </a:p>
        </p:txBody>
      </p:sp>
      <p:sp>
        <p:nvSpPr>
          <p:cNvPr id="24" name="Text 22"/>
          <p:cNvSpPr/>
          <p:nvPr/>
        </p:nvSpPr>
        <p:spPr>
          <a:xfrm>
            <a:off x="8494776" y="2724912"/>
            <a:ext cx="2743200" cy="2788920"/>
          </a:xfrm>
          <a:prstGeom prst="rect">
            <a:avLst/>
          </a:prstGeom>
          <a:noFill/>
          <a:ln/>
        </p:spPr>
        <p:txBody>
          <a:bodyPr wrap="square" lIns="0" tIns="0" rIns="0" bIns="0" rtlCol="0" anchor="t">
            <a:normAutofit/>
          </a:bodyPr>
          <a:lstStyle/>
          <a:p>
            <a:pPr indent="0" marL="0">
              <a:buNone/>
            </a:pPr>
            <a:r>
              <a:rPr lang="en-US" sz="1270" dirty="0">
                <a:solidFill>
                  <a:srgbClr val="A8C1C9"/>
                </a:solidFill>
              </a:rPr>
              <a:t>Transporter une masse m &lt; 1</a:t>
            </a:r>
            <a:endParaRPr lang="en-US" sz="1270" dirty="0"/>
          </a:p>
          <a:p>
            <a:pPr indent="0" marL="0">
              <a:buNone/>
            </a:pPr>
            <a:r>
              <a:rPr lang="en-US" sz="1270" dirty="0">
                <a:solidFill>
                  <a:srgbClr val="A8C1C9"/>
                </a:solidFill>
              </a:rPr>
              <a:t>Ignorer les correspondances les plus coûteuses</a:t>
            </a:r>
            <a:endParaRPr lang="en-US" sz="1270" dirty="0"/>
          </a:p>
        </p:txBody>
      </p:sp>
      <p:sp>
        <p:nvSpPr>
          <p:cNvPr id="25" name="Text 23"/>
          <p:cNvSpPr/>
          <p:nvPr/>
        </p:nvSpPr>
        <p:spPr>
          <a:xfrm>
            <a:off x="1097280" y="5989320"/>
            <a:ext cx="9966960" cy="274320"/>
          </a:xfrm>
          <a:prstGeom prst="rect">
            <a:avLst/>
          </a:prstGeom>
          <a:noFill/>
          <a:ln/>
        </p:spPr>
        <p:txBody>
          <a:bodyPr wrap="square" lIns="0" tIns="0" rIns="0" bIns="0" rtlCol="0" anchor="ctr"/>
          <a:lstStyle/>
          <a:p>
            <a:pPr algn="ctr" indent="0" marL="0">
              <a:buNone/>
            </a:pPr>
            <a:r>
              <a:rPr lang="en-US" sz="1300" b="1" dirty="0">
                <a:solidFill>
                  <a:srgbClr val="F4FAFC"/>
                </a:solidFill>
              </a:rPr>
              <a:t>Hypothèse : la portion commune du bundle suffit pour reconnaître l’identité.</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OPTUNA · QB + PARTIAL OT</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09</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Premier pipeline fonctionnel — mais un compromis apparaît</a:t>
            </a:r>
            <a:endParaRPr lang="en-US" sz="2700" dirty="0"/>
          </a:p>
        </p:txBody>
      </p:sp>
      <p:sp>
        <p:nvSpPr>
          <p:cNvPr id="7" name="Shape 5"/>
          <p:cNvSpPr/>
          <p:nvPr/>
        </p:nvSpPr>
        <p:spPr>
          <a:xfrm>
            <a:off x="594360" y="1417320"/>
            <a:ext cx="2103120" cy="868680"/>
          </a:xfrm>
          <a:prstGeom prst="roundRect">
            <a:avLst>
              <a:gd name="adj" fmla="val 5263"/>
            </a:avLst>
          </a:prstGeom>
          <a:solidFill>
            <a:srgbClr val="173640"/>
          </a:solidFill>
          <a:ln w="12700">
            <a:solidFill>
              <a:srgbClr val="31545E"/>
            </a:solidFill>
            <a:prstDash val="solid"/>
          </a:ln>
        </p:spPr>
      </p:sp>
      <p:sp>
        <p:nvSpPr>
          <p:cNvPr id="8" name="Text 6"/>
          <p:cNvSpPr/>
          <p:nvPr/>
        </p:nvSpPr>
        <p:spPr>
          <a:xfrm>
            <a:off x="722376" y="1563624"/>
            <a:ext cx="1847088" cy="292608"/>
          </a:xfrm>
          <a:prstGeom prst="rect">
            <a:avLst/>
          </a:prstGeom>
          <a:noFill/>
          <a:ln/>
        </p:spPr>
        <p:txBody>
          <a:bodyPr wrap="square" lIns="0" tIns="0" rIns="0" bIns="0" rtlCol="0" anchor="ctr">
            <a:normAutofit/>
          </a:bodyPr>
          <a:lstStyle/>
          <a:p>
            <a:pPr algn="ctr" indent="0" marL="0">
              <a:buNone/>
            </a:pPr>
            <a:r>
              <a:rPr lang="en-US" sz="2100" b="1" dirty="0">
                <a:solidFill>
                  <a:srgbClr val="22D3C5"/>
                </a:solidFill>
              </a:rPr>
              <a:t>93,55 %</a:t>
            </a:r>
            <a:endParaRPr lang="en-US" sz="2100" dirty="0"/>
          </a:p>
        </p:txBody>
      </p:sp>
      <p:sp>
        <p:nvSpPr>
          <p:cNvPr id="9" name="Text 7"/>
          <p:cNvSpPr/>
          <p:nvPr/>
        </p:nvSpPr>
        <p:spPr>
          <a:xfrm>
            <a:off x="722376" y="1956816"/>
            <a:ext cx="1847088" cy="146304"/>
          </a:xfrm>
          <a:prstGeom prst="rect">
            <a:avLst/>
          </a:prstGeom>
          <a:noFill/>
          <a:ln/>
        </p:spPr>
        <p:txBody>
          <a:bodyPr wrap="square" lIns="0" tIns="0" rIns="0" bIns="0" rtlCol="0" anchor="ctr">
            <a:normAutofit/>
          </a:bodyPr>
          <a:lstStyle/>
          <a:p>
            <a:pPr algn="ctr" indent="0" marL="0">
              <a:buNone/>
            </a:pPr>
            <a:r>
              <a:rPr lang="en-US" sz="950" dirty="0">
                <a:solidFill>
                  <a:srgbClr val="A8C1C9"/>
                </a:solidFill>
              </a:rPr>
              <a:t>RE-ID Top-1</a:t>
            </a:r>
            <a:endParaRPr lang="en-US" sz="950" dirty="0"/>
          </a:p>
        </p:txBody>
      </p:sp>
      <p:sp>
        <p:nvSpPr>
          <p:cNvPr id="10" name="Shape 8"/>
          <p:cNvSpPr/>
          <p:nvPr/>
        </p:nvSpPr>
        <p:spPr>
          <a:xfrm>
            <a:off x="2880360" y="1417320"/>
            <a:ext cx="2103120" cy="868680"/>
          </a:xfrm>
          <a:prstGeom prst="roundRect">
            <a:avLst>
              <a:gd name="adj" fmla="val 5263"/>
            </a:avLst>
          </a:prstGeom>
          <a:solidFill>
            <a:srgbClr val="173640"/>
          </a:solidFill>
          <a:ln w="12700">
            <a:solidFill>
              <a:srgbClr val="31545E"/>
            </a:solidFill>
            <a:prstDash val="solid"/>
          </a:ln>
        </p:spPr>
      </p:sp>
      <p:sp>
        <p:nvSpPr>
          <p:cNvPr id="11" name="Text 9"/>
          <p:cNvSpPr/>
          <p:nvPr/>
        </p:nvSpPr>
        <p:spPr>
          <a:xfrm>
            <a:off x="3008376" y="1563624"/>
            <a:ext cx="1847088" cy="292608"/>
          </a:xfrm>
          <a:prstGeom prst="rect">
            <a:avLst/>
          </a:prstGeom>
          <a:noFill/>
          <a:ln/>
        </p:spPr>
        <p:txBody>
          <a:bodyPr wrap="square" lIns="0" tIns="0" rIns="0" bIns="0" rtlCol="0" anchor="ctr">
            <a:normAutofit/>
          </a:bodyPr>
          <a:lstStyle/>
          <a:p>
            <a:pPr algn="ctr" indent="0" marL="0">
              <a:buNone/>
            </a:pPr>
            <a:r>
              <a:rPr lang="en-US" sz="2100" b="1" dirty="0">
                <a:solidFill>
                  <a:srgbClr val="55BFFF"/>
                </a:solidFill>
              </a:rPr>
              <a:t>1,097</a:t>
            </a:r>
            <a:endParaRPr lang="en-US" sz="2100" dirty="0"/>
          </a:p>
        </p:txBody>
      </p:sp>
      <p:sp>
        <p:nvSpPr>
          <p:cNvPr id="12" name="Text 10"/>
          <p:cNvSpPr/>
          <p:nvPr/>
        </p:nvSpPr>
        <p:spPr>
          <a:xfrm>
            <a:off x="3008376" y="1956816"/>
            <a:ext cx="1847088" cy="146304"/>
          </a:xfrm>
          <a:prstGeom prst="rect">
            <a:avLst/>
          </a:prstGeom>
          <a:noFill/>
          <a:ln/>
        </p:spPr>
        <p:txBody>
          <a:bodyPr wrap="square" lIns="0" tIns="0" rIns="0" bIns="0" rtlCol="0" anchor="ctr">
            <a:normAutofit/>
          </a:bodyPr>
          <a:lstStyle/>
          <a:p>
            <a:pPr algn="ctr" indent="0" marL="0">
              <a:buNone/>
            </a:pPr>
            <a:r>
              <a:rPr lang="en-US" sz="950" dirty="0">
                <a:solidFill>
                  <a:srgbClr val="A8C1C9"/>
                </a:solidFill>
              </a:rPr>
              <a:t>rang intra moyen</a:t>
            </a:r>
            <a:endParaRPr lang="en-US" sz="950" dirty="0"/>
          </a:p>
        </p:txBody>
      </p:sp>
      <p:sp>
        <p:nvSpPr>
          <p:cNvPr id="13" name="Shape 11"/>
          <p:cNvSpPr/>
          <p:nvPr/>
        </p:nvSpPr>
        <p:spPr>
          <a:xfrm>
            <a:off x="5166360" y="1417320"/>
            <a:ext cx="2103120" cy="868680"/>
          </a:xfrm>
          <a:prstGeom prst="roundRect">
            <a:avLst>
              <a:gd name="adj" fmla="val 5263"/>
            </a:avLst>
          </a:prstGeom>
          <a:solidFill>
            <a:srgbClr val="173640"/>
          </a:solidFill>
          <a:ln w="12700">
            <a:solidFill>
              <a:srgbClr val="31545E"/>
            </a:solidFill>
            <a:prstDash val="solid"/>
          </a:ln>
        </p:spPr>
      </p:sp>
      <p:sp>
        <p:nvSpPr>
          <p:cNvPr id="14" name="Text 12"/>
          <p:cNvSpPr/>
          <p:nvPr/>
        </p:nvSpPr>
        <p:spPr>
          <a:xfrm>
            <a:off x="5294376" y="1563624"/>
            <a:ext cx="1847088" cy="292608"/>
          </a:xfrm>
          <a:prstGeom prst="rect">
            <a:avLst/>
          </a:prstGeom>
          <a:noFill/>
          <a:ln/>
        </p:spPr>
        <p:txBody>
          <a:bodyPr wrap="square" lIns="0" tIns="0" rIns="0" bIns="0" rtlCol="0" anchor="ctr">
            <a:normAutofit/>
          </a:bodyPr>
          <a:lstStyle/>
          <a:p>
            <a:pPr algn="ctr" indent="0" marL="0">
              <a:buNone/>
            </a:pPr>
            <a:r>
              <a:rPr lang="en-US" sz="2100" b="1" dirty="0">
                <a:solidFill>
                  <a:srgbClr val="FF9B55"/>
                </a:solidFill>
              </a:rPr>
              <a:t>0,99</a:t>
            </a:r>
            <a:endParaRPr lang="en-US" sz="2100" dirty="0"/>
          </a:p>
        </p:txBody>
      </p:sp>
      <p:sp>
        <p:nvSpPr>
          <p:cNvPr id="15" name="Text 13"/>
          <p:cNvSpPr/>
          <p:nvPr/>
        </p:nvSpPr>
        <p:spPr>
          <a:xfrm>
            <a:off x="5294376" y="1956816"/>
            <a:ext cx="1847088" cy="146304"/>
          </a:xfrm>
          <a:prstGeom prst="rect">
            <a:avLst/>
          </a:prstGeom>
          <a:noFill/>
          <a:ln/>
        </p:spPr>
        <p:txBody>
          <a:bodyPr wrap="square" lIns="0" tIns="0" rIns="0" bIns="0" rtlCol="0" anchor="ctr">
            <a:normAutofit/>
          </a:bodyPr>
          <a:lstStyle/>
          <a:p>
            <a:pPr algn="ctr" indent="0" marL="0">
              <a:buNone/>
            </a:pPr>
            <a:r>
              <a:rPr lang="en-US" sz="950" dirty="0">
                <a:solidFill>
                  <a:srgbClr val="A8C1C9"/>
                </a:solidFill>
              </a:rPr>
              <a:t>masse transportée</a:t>
            </a:r>
            <a:endParaRPr lang="en-US" sz="950" dirty="0"/>
          </a:p>
        </p:txBody>
      </p:sp>
      <p:sp>
        <p:nvSpPr>
          <p:cNvPr id="16" name="Shape 14"/>
          <p:cNvSpPr/>
          <p:nvPr/>
        </p:nvSpPr>
        <p:spPr>
          <a:xfrm>
            <a:off x="7452360" y="1417320"/>
            <a:ext cx="2103120" cy="868680"/>
          </a:xfrm>
          <a:prstGeom prst="roundRect">
            <a:avLst>
              <a:gd name="adj" fmla="val 5263"/>
            </a:avLst>
          </a:prstGeom>
          <a:solidFill>
            <a:srgbClr val="173640"/>
          </a:solidFill>
          <a:ln w="12700">
            <a:solidFill>
              <a:srgbClr val="31545E"/>
            </a:solidFill>
            <a:prstDash val="solid"/>
          </a:ln>
        </p:spPr>
      </p:sp>
      <p:sp>
        <p:nvSpPr>
          <p:cNvPr id="17" name="Text 15"/>
          <p:cNvSpPr/>
          <p:nvPr/>
        </p:nvSpPr>
        <p:spPr>
          <a:xfrm>
            <a:off x="7580376" y="1563624"/>
            <a:ext cx="1847088" cy="292608"/>
          </a:xfrm>
          <a:prstGeom prst="rect">
            <a:avLst/>
          </a:prstGeom>
          <a:noFill/>
          <a:ln/>
        </p:spPr>
        <p:txBody>
          <a:bodyPr wrap="square" lIns="0" tIns="0" rIns="0" bIns="0" rtlCol="0" anchor="ctr">
            <a:normAutofit/>
          </a:bodyPr>
          <a:lstStyle/>
          <a:p>
            <a:pPr algn="ctr" indent="0" marL="0">
              <a:buNone/>
            </a:pPr>
            <a:r>
              <a:rPr lang="en-US" sz="2100" b="1" dirty="0">
                <a:solidFill>
                  <a:srgbClr val="7EE081"/>
                </a:solidFill>
              </a:rPr>
              <a:t>296</a:t>
            </a:r>
            <a:endParaRPr lang="en-US" sz="2100" dirty="0"/>
          </a:p>
        </p:txBody>
      </p:sp>
      <p:sp>
        <p:nvSpPr>
          <p:cNvPr id="18" name="Text 16"/>
          <p:cNvSpPr/>
          <p:nvPr/>
        </p:nvSpPr>
        <p:spPr>
          <a:xfrm>
            <a:off x="7580376" y="1956816"/>
            <a:ext cx="1847088" cy="146304"/>
          </a:xfrm>
          <a:prstGeom prst="rect">
            <a:avLst/>
          </a:prstGeom>
          <a:noFill/>
          <a:ln/>
        </p:spPr>
        <p:txBody>
          <a:bodyPr wrap="square" lIns="0" tIns="0" rIns="0" bIns="0" rtlCol="0" anchor="ctr">
            <a:normAutofit/>
          </a:bodyPr>
          <a:lstStyle/>
          <a:p>
            <a:pPr algn="ctr" indent="0" marL="0">
              <a:buNone/>
            </a:pPr>
            <a:r>
              <a:rPr lang="en-US" sz="950" dirty="0">
                <a:solidFill>
                  <a:srgbClr val="A8C1C9"/>
                </a:solidFill>
              </a:rPr>
              <a:t>représentants moyens</a:t>
            </a:r>
            <a:endParaRPr lang="en-US" sz="950" dirty="0"/>
          </a:p>
        </p:txBody>
      </p:sp>
      <p:sp>
        <p:nvSpPr>
          <p:cNvPr id="19" name="Shape 17"/>
          <p:cNvSpPr/>
          <p:nvPr/>
        </p:nvSpPr>
        <p:spPr>
          <a:xfrm>
            <a:off x="9738360" y="1417320"/>
            <a:ext cx="1874520" cy="868680"/>
          </a:xfrm>
          <a:prstGeom prst="roundRect">
            <a:avLst>
              <a:gd name="adj" fmla="val 5263"/>
            </a:avLst>
          </a:prstGeom>
          <a:solidFill>
            <a:srgbClr val="173640"/>
          </a:solidFill>
          <a:ln w="12700">
            <a:solidFill>
              <a:srgbClr val="31545E"/>
            </a:solidFill>
            <a:prstDash val="solid"/>
          </a:ln>
        </p:spPr>
      </p:sp>
      <p:sp>
        <p:nvSpPr>
          <p:cNvPr id="20" name="Text 18"/>
          <p:cNvSpPr/>
          <p:nvPr/>
        </p:nvSpPr>
        <p:spPr>
          <a:xfrm>
            <a:off x="9866376" y="1563624"/>
            <a:ext cx="1618488" cy="292608"/>
          </a:xfrm>
          <a:prstGeom prst="rect">
            <a:avLst/>
          </a:prstGeom>
          <a:noFill/>
          <a:ln/>
        </p:spPr>
        <p:txBody>
          <a:bodyPr wrap="square" lIns="0" tIns="0" rIns="0" bIns="0" rtlCol="0" anchor="ctr">
            <a:normAutofit/>
          </a:bodyPr>
          <a:lstStyle/>
          <a:p>
            <a:pPr algn="ctr" indent="0" marL="0">
              <a:buNone/>
            </a:pPr>
            <a:r>
              <a:rPr lang="en-US" sz="2100" b="1" dirty="0">
                <a:solidFill>
                  <a:srgbClr val="F4D35E"/>
                </a:solidFill>
              </a:rPr>
              <a:t>75</a:t>
            </a:r>
            <a:endParaRPr lang="en-US" sz="2100" dirty="0"/>
          </a:p>
        </p:txBody>
      </p:sp>
      <p:sp>
        <p:nvSpPr>
          <p:cNvPr id="21" name="Text 19"/>
          <p:cNvSpPr/>
          <p:nvPr/>
        </p:nvSpPr>
        <p:spPr>
          <a:xfrm>
            <a:off x="9866376" y="1956816"/>
            <a:ext cx="1618488" cy="146304"/>
          </a:xfrm>
          <a:prstGeom prst="rect">
            <a:avLst/>
          </a:prstGeom>
          <a:noFill/>
          <a:ln/>
        </p:spPr>
        <p:txBody>
          <a:bodyPr wrap="square" lIns="0" tIns="0" rIns="0" bIns="0" rtlCol="0" anchor="ctr">
            <a:normAutofit/>
          </a:bodyPr>
          <a:lstStyle/>
          <a:p>
            <a:pPr algn="ctr" indent="0" marL="0">
              <a:buNone/>
            </a:pPr>
            <a:r>
              <a:rPr lang="en-US" sz="950" dirty="0">
                <a:solidFill>
                  <a:srgbClr val="A8C1C9"/>
                </a:solidFill>
              </a:rPr>
              <a:t>trial anatomique</a:t>
            </a:r>
            <a:endParaRPr lang="en-US" sz="950" dirty="0"/>
          </a:p>
        </p:txBody>
      </p:sp>
      <p:sp>
        <p:nvSpPr>
          <p:cNvPr id="22" name="Shape 20"/>
          <p:cNvSpPr/>
          <p:nvPr/>
        </p:nvSpPr>
        <p:spPr>
          <a:xfrm>
            <a:off x="594360" y="2606040"/>
            <a:ext cx="7040880" cy="2606040"/>
          </a:xfrm>
          <a:prstGeom prst="roundRect">
            <a:avLst/>
          </a:prstGeom>
          <a:solidFill>
            <a:srgbClr val="102831"/>
          </a:solidFill>
          <a:ln w="12700">
            <a:solidFill>
              <a:srgbClr val="31545E"/>
            </a:solidFill>
            <a:prstDash val="solid"/>
          </a:ln>
        </p:spPr>
      </p:sp>
      <p:sp>
        <p:nvSpPr>
          <p:cNvPr id="23" name="Text 21"/>
          <p:cNvSpPr/>
          <p:nvPr/>
        </p:nvSpPr>
        <p:spPr>
          <a:xfrm>
            <a:off x="868680" y="2880360"/>
            <a:ext cx="2377440" cy="320040"/>
          </a:xfrm>
          <a:prstGeom prst="rect">
            <a:avLst/>
          </a:prstGeom>
          <a:noFill/>
          <a:ln/>
        </p:spPr>
        <p:txBody>
          <a:bodyPr wrap="square" lIns="0" tIns="0" rIns="0" bIns="0" rtlCol="0" anchor="ctr"/>
          <a:lstStyle/>
          <a:p>
            <a:pPr indent="0" marL="0">
              <a:buNone/>
            </a:pPr>
            <a:r>
              <a:rPr lang="en-US" sz="1800" b="1" dirty="0">
                <a:solidFill>
                  <a:srgbClr val="F4FAFC"/>
                </a:solidFill>
              </a:rPr>
              <a:t>Pourquoi trial 75 ?</a:t>
            </a:r>
            <a:endParaRPr lang="en-US" sz="1800" dirty="0"/>
          </a:p>
        </p:txBody>
      </p:sp>
      <p:sp>
        <p:nvSpPr>
          <p:cNvPr id="24" name="Text 22"/>
          <p:cNvSpPr/>
          <p:nvPr/>
        </p:nvSpPr>
        <p:spPr>
          <a:xfrm>
            <a:off x="914400" y="3566160"/>
            <a:ext cx="1554480" cy="320040"/>
          </a:xfrm>
          <a:prstGeom prst="rect">
            <a:avLst/>
          </a:prstGeom>
          <a:noFill/>
          <a:ln/>
        </p:spPr>
        <p:txBody>
          <a:bodyPr wrap="square" lIns="0" tIns="0" rIns="0" bIns="0" rtlCol="0" anchor="ctr"/>
          <a:lstStyle/>
          <a:p>
            <a:pPr indent="0" marL="0">
              <a:buNone/>
            </a:pPr>
            <a:r>
              <a:rPr lang="en-US" sz="1800" b="1" dirty="0">
                <a:solidFill>
                  <a:srgbClr val="55BFFF"/>
                </a:solidFill>
              </a:rPr>
              <a:t>seuil = 7 mm</a:t>
            </a:r>
            <a:endParaRPr lang="en-US" sz="1800" dirty="0"/>
          </a:p>
        </p:txBody>
      </p:sp>
      <p:sp>
        <p:nvSpPr>
          <p:cNvPr id="25" name="Text 23"/>
          <p:cNvSpPr/>
          <p:nvPr/>
        </p:nvSpPr>
        <p:spPr>
          <a:xfrm>
            <a:off x="2743200" y="3566160"/>
            <a:ext cx="1645920" cy="320040"/>
          </a:xfrm>
          <a:prstGeom prst="rect">
            <a:avLst/>
          </a:prstGeom>
          <a:noFill/>
          <a:ln/>
        </p:spPr>
        <p:txBody>
          <a:bodyPr wrap="square" lIns="0" tIns="0" rIns="0" bIns="0" rtlCol="0" anchor="ctr"/>
          <a:lstStyle/>
          <a:p>
            <a:pPr indent="0" marL="0">
              <a:buNone/>
            </a:pPr>
            <a:r>
              <a:rPr lang="en-US" sz="1800" b="1" dirty="0">
                <a:solidFill>
                  <a:srgbClr val="FF9B55"/>
                </a:solidFill>
              </a:rPr>
              <a:t>masse = 0,99</a:t>
            </a:r>
            <a:endParaRPr lang="en-US" sz="1800" dirty="0"/>
          </a:p>
        </p:txBody>
      </p:sp>
      <p:sp>
        <p:nvSpPr>
          <p:cNvPr id="26" name="Text 24"/>
          <p:cNvSpPr/>
          <p:nvPr/>
        </p:nvSpPr>
        <p:spPr>
          <a:xfrm>
            <a:off x="914400" y="4251960"/>
            <a:ext cx="6172200" cy="502920"/>
          </a:xfrm>
          <a:prstGeom prst="rect">
            <a:avLst/>
          </a:prstGeom>
          <a:noFill/>
          <a:ln/>
        </p:spPr>
        <p:txBody>
          <a:bodyPr wrap="square" lIns="0" tIns="0" rIns="0" bIns="0" rtlCol="0" anchor="ctr">
            <a:normAutofit/>
          </a:bodyPr>
          <a:lstStyle/>
          <a:p>
            <a:pPr indent="0" marL="0">
              <a:buNone/>
            </a:pPr>
            <a:r>
              <a:rPr lang="en-US" sz="1500" dirty="0">
                <a:solidFill>
                  <a:srgbClr val="A8C1C9"/>
                </a:solidFill>
              </a:rPr>
              <a:t>Résolution anatomique substantielle + couverture presque complète, tout en conservant une RE-ID forte.</a:t>
            </a:r>
            <a:endParaRPr lang="en-US" sz="1500" dirty="0"/>
          </a:p>
        </p:txBody>
      </p:sp>
      <p:sp>
        <p:nvSpPr>
          <p:cNvPr id="27" name="Shape 25"/>
          <p:cNvSpPr/>
          <p:nvPr/>
        </p:nvSpPr>
        <p:spPr>
          <a:xfrm>
            <a:off x="7909560" y="2606040"/>
            <a:ext cx="3703320" cy="2606040"/>
          </a:xfrm>
          <a:prstGeom prst="roundRect">
            <a:avLst/>
          </a:prstGeom>
          <a:solidFill>
            <a:srgbClr val="173640"/>
          </a:solidFill>
          <a:ln w="12700">
            <a:solidFill>
              <a:srgbClr val="FF9B55"/>
            </a:solidFill>
            <a:prstDash val="solid"/>
          </a:ln>
        </p:spPr>
      </p:sp>
      <p:sp>
        <p:nvSpPr>
          <p:cNvPr id="28" name="Text 26"/>
          <p:cNvSpPr/>
          <p:nvPr/>
        </p:nvSpPr>
        <p:spPr>
          <a:xfrm>
            <a:off x="8183880" y="2944368"/>
            <a:ext cx="3154680" cy="320040"/>
          </a:xfrm>
          <a:prstGeom prst="rect">
            <a:avLst/>
          </a:prstGeom>
          <a:noFill/>
          <a:ln/>
        </p:spPr>
        <p:txBody>
          <a:bodyPr wrap="square" lIns="0" tIns="0" rIns="0" bIns="0" rtlCol="0" anchor="ctr"/>
          <a:lstStyle/>
          <a:p>
            <a:pPr algn="ctr" indent="0" marL="0">
              <a:buNone/>
            </a:pPr>
            <a:r>
              <a:rPr lang="en-US" sz="1700" b="1" dirty="0">
                <a:solidFill>
                  <a:srgbClr val="FF9B55"/>
                </a:solidFill>
              </a:rPr>
              <a:t>Bundles non ré-identifiés</a:t>
            </a:r>
            <a:endParaRPr lang="en-US" sz="1700" dirty="0"/>
          </a:p>
        </p:txBody>
      </p:sp>
      <p:sp>
        <p:nvSpPr>
          <p:cNvPr id="29" name="Text 27"/>
          <p:cNvSpPr/>
          <p:nvPr/>
        </p:nvSpPr>
        <p:spPr>
          <a:xfrm>
            <a:off x="8302752" y="3767328"/>
            <a:ext cx="2926080" cy="438912"/>
          </a:xfrm>
          <a:prstGeom prst="rect">
            <a:avLst/>
          </a:prstGeom>
          <a:noFill/>
          <a:ln/>
        </p:spPr>
        <p:txBody>
          <a:bodyPr wrap="square" lIns="0" tIns="0" rIns="0" bIns="0" rtlCol="0" anchor="ctr"/>
          <a:lstStyle/>
          <a:p>
            <a:pPr algn="ctr" indent="0" marL="0">
              <a:buNone/>
            </a:pPr>
            <a:r>
              <a:rPr lang="en-US" sz="2500" b="1" dirty="0">
                <a:solidFill>
                  <a:srgbClr val="F4FAFC"/>
                </a:solidFill>
              </a:rPr>
              <a:t>CST_L  ·  IFOF_R</a:t>
            </a:r>
            <a:endParaRPr lang="en-US" sz="2500" dirty="0"/>
          </a:p>
        </p:txBody>
      </p:sp>
      <p:sp>
        <p:nvSpPr>
          <p:cNvPr id="30" name="Text 28"/>
          <p:cNvSpPr/>
          <p:nvPr/>
        </p:nvSpPr>
        <p:spPr>
          <a:xfrm>
            <a:off x="8366760" y="4498848"/>
            <a:ext cx="2788920" cy="219456"/>
          </a:xfrm>
          <a:prstGeom prst="rect">
            <a:avLst/>
          </a:prstGeom>
          <a:noFill/>
          <a:ln/>
        </p:spPr>
        <p:txBody>
          <a:bodyPr wrap="square" lIns="0" tIns="0" rIns="0" bIns="0" rtlCol="0" anchor="ctr"/>
          <a:lstStyle/>
          <a:p>
            <a:pPr algn="ctr" indent="0" marL="0">
              <a:buNone/>
            </a:pPr>
            <a:r>
              <a:rPr lang="en-US" sz="1100" dirty="0">
                <a:solidFill>
                  <a:srgbClr val="A8C1C9"/>
                </a:solidFill>
              </a:rPr>
              <a:t>Aucune cause anatomique démontrée.</a:t>
            </a:r>
            <a:endParaRPr lang="en-US" sz="1100" dirty="0"/>
          </a:p>
        </p:txBody>
      </p:sp>
      <p:sp>
        <p:nvSpPr>
          <p:cNvPr id="31" name="Text 29"/>
          <p:cNvSpPr/>
          <p:nvPr/>
        </p:nvSpPr>
        <p:spPr>
          <a:xfrm>
            <a:off x="1234440" y="5870448"/>
            <a:ext cx="9738360" cy="329184"/>
          </a:xfrm>
          <a:prstGeom prst="rect">
            <a:avLst/>
          </a:prstGeom>
          <a:noFill/>
          <a:ln/>
        </p:spPr>
        <p:txBody>
          <a:bodyPr wrap="square" lIns="0" tIns="0" rIns="0" bIns="0" rtlCol="0" anchor="ctr"/>
          <a:lstStyle/>
          <a:p>
            <a:pPr algn="ctr" indent="0" marL="0">
              <a:buNone/>
            </a:pPr>
            <a:r>
              <a:rPr lang="en-US" sz="1200" dirty="0">
                <a:solidFill>
                  <a:srgbClr val="FF9B55"/>
                </a:solidFill>
              </a:rPr>
              <a:t>La petite taille de certains bundles est une hypothèse à tester, pas une conclusion.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TRANSITION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10</a:t>
            </a:r>
            <a:endParaRPr lang="en-US" sz="850" dirty="0"/>
          </a:p>
        </p:txBody>
      </p:sp>
      <p:sp>
        <p:nvSpPr>
          <p:cNvPr id="6" name="Text 4"/>
          <p:cNvSpPr/>
          <p:nvPr/>
        </p:nvSpPr>
        <p:spPr>
          <a:xfrm>
            <a:off x="640080" y="1234440"/>
            <a:ext cx="3840480" cy="914400"/>
          </a:xfrm>
          <a:prstGeom prst="rect">
            <a:avLst/>
          </a:prstGeom>
          <a:noFill/>
          <a:ln/>
        </p:spPr>
        <p:txBody>
          <a:bodyPr wrap="square" lIns="0" tIns="0" rIns="0" bIns="0" rtlCol="0" anchor="ctr">
            <a:normAutofit/>
          </a:bodyPr>
          <a:lstStyle/>
          <a:p>
            <a:pPr algn="ctr" indent="0" marL="0">
              <a:buNone/>
            </a:pPr>
            <a:r>
              <a:rPr lang="en-US" sz="2800" b="1" dirty="0">
                <a:solidFill>
                  <a:srgbClr val="F4FAFC"/>
                </a:solidFill>
              </a:rPr>
              <a:t>QuickBundles fonctionne</a:t>
            </a:r>
            <a:endParaRPr lang="en-US" sz="2800" dirty="0"/>
          </a:p>
        </p:txBody>
      </p:sp>
      <p:sp>
        <p:nvSpPr>
          <p:cNvPr id="7" name="Text 5"/>
          <p:cNvSpPr/>
          <p:nvPr/>
        </p:nvSpPr>
        <p:spPr>
          <a:xfrm>
            <a:off x="4800600" y="2697480"/>
            <a:ext cx="2560320" cy="594360"/>
          </a:xfrm>
          <a:prstGeom prst="rect">
            <a:avLst/>
          </a:prstGeom>
          <a:noFill/>
          <a:ln/>
        </p:spPr>
        <p:txBody>
          <a:bodyPr wrap="square" lIns="0" tIns="0" rIns="0" bIns="0" rtlCol="0" anchor="ctr"/>
          <a:lstStyle/>
          <a:p>
            <a:pPr algn="ctr" indent="0" marL="0">
              <a:buNone/>
            </a:pPr>
            <a:r>
              <a:rPr lang="en-US" sz="3800" b="1" dirty="0">
                <a:solidFill>
                  <a:srgbClr val="FF9B55"/>
                </a:solidFill>
              </a:rPr>
              <a:t>MAIS</a:t>
            </a:r>
            <a:endParaRPr lang="en-US" sz="3800" dirty="0"/>
          </a:p>
        </p:txBody>
      </p:sp>
      <p:sp>
        <p:nvSpPr>
          <p:cNvPr id="8" name="Text 6"/>
          <p:cNvSpPr/>
          <p:nvPr/>
        </p:nvSpPr>
        <p:spPr>
          <a:xfrm>
            <a:off x="3730752" y="3429000"/>
            <a:ext cx="4709160" cy="777240"/>
          </a:xfrm>
          <a:prstGeom prst="rect">
            <a:avLst/>
          </a:prstGeom>
          <a:noFill/>
          <a:ln/>
        </p:spPr>
        <p:txBody>
          <a:bodyPr wrap="square" lIns="0" tIns="0" rIns="0" bIns="0" rtlCol="0" anchor="ctr">
            <a:normAutofit/>
          </a:bodyPr>
          <a:lstStyle/>
          <a:p>
            <a:pPr algn="ctr" indent="0" marL="0">
              <a:buNone/>
            </a:pPr>
            <a:r>
              <a:rPr lang="en-US" sz="2000" dirty="0">
                <a:solidFill>
                  <a:srgbClr val="A8C1C9"/>
                </a:solidFill>
              </a:rPr>
              <a:t>cardinalité variable · seuil à ajuster · centroïdes artificiels</a:t>
            </a:r>
            <a:endParaRPr lang="en-US" sz="2000" dirty="0"/>
          </a:p>
        </p:txBody>
      </p:sp>
      <p:sp>
        <p:nvSpPr>
          <p:cNvPr id="9" name="Shape 7"/>
          <p:cNvSpPr/>
          <p:nvPr/>
        </p:nvSpPr>
        <p:spPr>
          <a:xfrm>
            <a:off x="5687568" y="4343400"/>
            <a:ext cx="777240" cy="777240"/>
          </a:xfrm>
          <a:prstGeom prst="downArrow">
            <a:avLst/>
          </a:prstGeom>
          <a:solidFill>
            <a:srgbClr val="22D3C5"/>
          </a:solidFill>
          <a:ln w="12700">
            <a:solidFill>
              <a:srgbClr val="06151B">
                <a:alpha val="0"/>
              </a:srgbClr>
            </a:solidFill>
            <a:prstDash val="solid"/>
          </a:ln>
        </p:spPr>
      </p:sp>
      <p:sp>
        <p:nvSpPr>
          <p:cNvPr id="10" name="Text 8"/>
          <p:cNvSpPr/>
          <p:nvPr/>
        </p:nvSpPr>
        <p:spPr>
          <a:xfrm>
            <a:off x="1828800" y="5376672"/>
            <a:ext cx="8549640" cy="502920"/>
          </a:xfrm>
          <a:prstGeom prst="rect">
            <a:avLst/>
          </a:prstGeom>
          <a:noFill/>
          <a:ln/>
        </p:spPr>
        <p:txBody>
          <a:bodyPr wrap="square" lIns="0" tIns="0" rIns="0" bIns="0" rtlCol="0" anchor="ctr">
            <a:normAutofit/>
          </a:bodyPr>
          <a:lstStyle/>
          <a:p>
            <a:pPr algn="ctr" indent="0" marL="0">
              <a:buNone/>
            </a:pPr>
            <a:r>
              <a:rPr lang="en-US" sz="2500" b="1" dirty="0">
                <a:solidFill>
                  <a:srgbClr val="22D3C5"/>
                </a:solidFill>
              </a:rPr>
              <a:t>Il faut mieux contrôler les représentants</a:t>
            </a:r>
            <a:endParaRPr lang="en-US" sz="2500" dirty="0"/>
          </a:p>
        </p:txBody>
      </p:sp>
      <p:sp>
        <p:nvSpPr>
          <p:cNvPr id="11" name="Text 9"/>
          <p:cNvSpPr/>
          <p:nvPr/>
        </p:nvSpPr>
        <p:spPr>
          <a:xfrm>
            <a:off x="1828800" y="1783080"/>
            <a:ext cx="8503920" cy="402336"/>
          </a:xfrm>
          <a:prstGeom prst="rect">
            <a:avLst/>
          </a:prstGeom>
          <a:noFill/>
          <a:ln/>
        </p:spPr>
        <p:txBody>
          <a:bodyPr wrap="square" lIns="0" tIns="0" rIns="0" bIns="0" rtlCol="0" anchor="ctr"/>
          <a:lstStyle/>
          <a:p>
            <a:pPr algn="ctr" indent="0" marL="0">
              <a:buNone/>
            </a:pPr>
            <a:r>
              <a:rPr lang="en-US" sz="1500" dirty="0">
                <a:solidFill>
                  <a:srgbClr val="A8C1C9"/>
                </a:solidFill>
              </a:rPr>
              <a:t>Le nombre de représentants dépend du threshold et de la géométrie propre à chaque sujet.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PISTE ABANDONNÉE</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11</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K-Médoïdes : anatomiquement séduisant, computationnellement prohibitif</a:t>
            </a:r>
            <a:endParaRPr lang="en-US" sz="2700" dirty="0"/>
          </a:p>
        </p:txBody>
      </p:sp>
      <p:sp>
        <p:nvSpPr>
          <p:cNvPr id="7" name="Shape 5"/>
          <p:cNvSpPr/>
          <p:nvPr/>
        </p:nvSpPr>
        <p:spPr>
          <a:xfrm>
            <a:off x="685800" y="1508760"/>
            <a:ext cx="4480560" cy="4251960"/>
          </a:xfrm>
          <a:prstGeom prst="roundRect">
            <a:avLst>
              <a:gd name="adj" fmla="val 1505"/>
            </a:avLst>
          </a:prstGeom>
          <a:solidFill>
            <a:srgbClr val="102831"/>
          </a:solidFill>
          <a:ln w="12700">
            <a:solidFill>
              <a:srgbClr val="31545E"/>
            </a:solidFill>
            <a:prstDash val="solid"/>
          </a:ln>
        </p:spPr>
      </p:sp>
      <p:sp>
        <p:nvSpPr>
          <p:cNvPr id="8" name="Shape 6"/>
          <p:cNvSpPr/>
          <p:nvPr/>
        </p:nvSpPr>
        <p:spPr>
          <a:xfrm>
            <a:off x="685800" y="1508760"/>
            <a:ext cx="50292" cy="4251960"/>
          </a:xfrm>
          <a:prstGeom prst="rect">
            <a:avLst/>
          </a:prstGeom>
          <a:solidFill>
            <a:srgbClr val="7EE081"/>
          </a:solidFill>
          <a:ln w="12700">
            <a:solidFill>
              <a:srgbClr val="06151B">
                <a:alpha val="0"/>
              </a:srgbClr>
            </a:solidFill>
            <a:prstDash val="solid"/>
          </a:ln>
        </p:spPr>
      </p:sp>
      <p:sp>
        <p:nvSpPr>
          <p:cNvPr id="9" name="Text 7"/>
          <p:cNvSpPr/>
          <p:nvPr/>
        </p:nvSpPr>
        <p:spPr>
          <a:xfrm>
            <a:off x="905256" y="1709928"/>
            <a:ext cx="4069080" cy="502920"/>
          </a:xfrm>
          <a:prstGeom prst="rect">
            <a:avLst/>
          </a:prstGeom>
          <a:noFill/>
          <a:ln/>
        </p:spPr>
        <p:txBody>
          <a:bodyPr wrap="square" lIns="0" tIns="0" rIns="0" bIns="0" rtlCol="0" anchor="ctr">
            <a:normAutofit/>
          </a:bodyPr>
          <a:lstStyle/>
          <a:p>
            <a:pPr indent="0" marL="0">
              <a:buNone/>
            </a:pPr>
            <a:r>
              <a:rPr lang="en-US" sz="2700" b="1" dirty="0">
                <a:solidFill>
                  <a:srgbClr val="7EE081"/>
                </a:solidFill>
              </a:rPr>
              <a:t>MÉDOÏDES</a:t>
            </a:r>
            <a:endParaRPr lang="en-US" sz="2700" dirty="0"/>
          </a:p>
        </p:txBody>
      </p:sp>
      <p:sp>
        <p:nvSpPr>
          <p:cNvPr id="10" name="Text 8"/>
          <p:cNvSpPr/>
          <p:nvPr/>
        </p:nvSpPr>
        <p:spPr>
          <a:xfrm>
            <a:off x="905256" y="2313432"/>
            <a:ext cx="406908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L’idée</a:t>
            </a:r>
            <a:endParaRPr lang="en-US" sz="1550" dirty="0"/>
          </a:p>
        </p:txBody>
      </p:sp>
      <p:sp>
        <p:nvSpPr>
          <p:cNvPr id="11" name="Text 9"/>
          <p:cNvSpPr/>
          <p:nvPr/>
        </p:nvSpPr>
        <p:spPr>
          <a:xfrm>
            <a:off x="905256" y="2724912"/>
            <a:ext cx="4069080" cy="2834640"/>
          </a:xfrm>
          <a:prstGeom prst="rect">
            <a:avLst/>
          </a:prstGeom>
          <a:noFill/>
          <a:ln/>
        </p:spPr>
        <p:txBody>
          <a:bodyPr wrap="square" lIns="0" tIns="0" rIns="0" bIns="0" rtlCol="0" anchor="t">
            <a:normAutofit/>
          </a:bodyPr>
          <a:lstStyle/>
          <a:p>
            <a:pPr indent="0" marL="0">
              <a:buNone/>
            </a:pPr>
            <a:r>
              <a:rPr lang="en-US" sz="1270" dirty="0">
                <a:solidFill>
                  <a:srgbClr val="A8C1C9"/>
                </a:solidFill>
              </a:rPr>
              <a:t>Choisir les représentants parmi les observations existantes.</a:t>
            </a:r>
            <a:endParaRPr lang="en-US" sz="1270" dirty="0"/>
          </a:p>
          <a:p>
            <a:pPr indent="0" marL="0">
              <a:buNone/>
            </a:pPr>
            <a:endParaRPr lang="en-US" sz="1270" dirty="0"/>
          </a:p>
          <a:p>
            <a:pPr indent="0" marL="0">
              <a:buNone/>
            </a:pPr>
            <a:r>
              <a:rPr lang="en-US" sz="1270" dirty="0">
                <a:solidFill>
                  <a:srgbClr val="A8C1C9"/>
                </a:solidFill>
              </a:rPr>
              <a:t>✓ vraies streamlines</a:t>
            </a:r>
            <a:endParaRPr lang="en-US" sz="1270" dirty="0"/>
          </a:p>
          <a:p>
            <a:pPr indent="0" marL="0">
              <a:buNone/>
            </a:pPr>
            <a:r>
              <a:rPr lang="en-US" sz="1270" dirty="0">
                <a:solidFill>
                  <a:srgbClr val="A8C1C9"/>
                </a:solidFill>
              </a:rPr>
              <a:t>✓ interprétation directe</a:t>
            </a:r>
            <a:endParaRPr lang="en-US" sz="1270" dirty="0"/>
          </a:p>
        </p:txBody>
      </p:sp>
      <p:sp>
        <p:nvSpPr>
          <p:cNvPr id="12" name="Shape 10"/>
          <p:cNvSpPr/>
          <p:nvPr/>
        </p:nvSpPr>
        <p:spPr>
          <a:xfrm>
            <a:off x="5440680" y="2926080"/>
            <a:ext cx="1234440" cy="658368"/>
          </a:xfrm>
          <a:prstGeom prst="rightArrow">
            <a:avLst/>
          </a:prstGeom>
          <a:solidFill>
            <a:srgbClr val="FF6271"/>
          </a:solidFill>
          <a:ln w="12700">
            <a:solidFill>
              <a:srgbClr val="06151B">
                <a:alpha val="0"/>
              </a:srgbClr>
            </a:solidFill>
            <a:prstDash val="solid"/>
          </a:ln>
        </p:spPr>
      </p:sp>
      <p:sp>
        <p:nvSpPr>
          <p:cNvPr id="13" name="Shape 11"/>
          <p:cNvSpPr/>
          <p:nvPr/>
        </p:nvSpPr>
        <p:spPr>
          <a:xfrm>
            <a:off x="6995160" y="1508760"/>
            <a:ext cx="4480560" cy="4251960"/>
          </a:xfrm>
          <a:prstGeom prst="roundRect">
            <a:avLst>
              <a:gd name="adj" fmla="val 1505"/>
            </a:avLst>
          </a:prstGeom>
          <a:solidFill>
            <a:srgbClr val="102831"/>
          </a:solidFill>
          <a:ln w="12700">
            <a:solidFill>
              <a:srgbClr val="31545E"/>
            </a:solidFill>
            <a:prstDash val="solid"/>
          </a:ln>
        </p:spPr>
      </p:sp>
      <p:sp>
        <p:nvSpPr>
          <p:cNvPr id="14" name="Shape 12"/>
          <p:cNvSpPr/>
          <p:nvPr/>
        </p:nvSpPr>
        <p:spPr>
          <a:xfrm>
            <a:off x="6995160" y="1508760"/>
            <a:ext cx="50292" cy="4251960"/>
          </a:xfrm>
          <a:prstGeom prst="rect">
            <a:avLst/>
          </a:prstGeom>
          <a:solidFill>
            <a:srgbClr val="FF6271"/>
          </a:solidFill>
          <a:ln w="12700">
            <a:solidFill>
              <a:srgbClr val="06151B">
                <a:alpha val="0"/>
              </a:srgbClr>
            </a:solidFill>
            <a:prstDash val="solid"/>
          </a:ln>
        </p:spPr>
      </p:sp>
      <p:sp>
        <p:nvSpPr>
          <p:cNvPr id="15" name="Text 13"/>
          <p:cNvSpPr/>
          <p:nvPr/>
        </p:nvSpPr>
        <p:spPr>
          <a:xfrm>
            <a:off x="7214616" y="1709928"/>
            <a:ext cx="4069080" cy="502920"/>
          </a:xfrm>
          <a:prstGeom prst="rect">
            <a:avLst/>
          </a:prstGeom>
          <a:noFill/>
          <a:ln/>
        </p:spPr>
        <p:txBody>
          <a:bodyPr wrap="square" lIns="0" tIns="0" rIns="0" bIns="0" rtlCol="0" anchor="ctr">
            <a:normAutofit/>
          </a:bodyPr>
          <a:lstStyle/>
          <a:p>
            <a:pPr indent="0" marL="0">
              <a:buNone/>
            </a:pPr>
            <a:r>
              <a:rPr lang="en-US" sz="2700" b="1" dirty="0">
                <a:solidFill>
                  <a:srgbClr val="FF6271"/>
                </a:solidFill>
              </a:rPr>
              <a:t>COÛT</a:t>
            </a:r>
            <a:endParaRPr lang="en-US" sz="2700" dirty="0"/>
          </a:p>
        </p:txBody>
      </p:sp>
      <p:sp>
        <p:nvSpPr>
          <p:cNvPr id="16" name="Text 14"/>
          <p:cNvSpPr/>
          <p:nvPr/>
        </p:nvSpPr>
        <p:spPr>
          <a:xfrm>
            <a:off x="7214616" y="2313432"/>
            <a:ext cx="406908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Le coût</a:t>
            </a:r>
            <a:endParaRPr lang="en-US" sz="1550" dirty="0"/>
          </a:p>
        </p:txBody>
      </p:sp>
      <p:sp>
        <p:nvSpPr>
          <p:cNvPr id="17" name="Text 15"/>
          <p:cNvSpPr/>
          <p:nvPr/>
        </p:nvSpPr>
        <p:spPr>
          <a:xfrm>
            <a:off x="7214616" y="2724912"/>
            <a:ext cx="4069080" cy="2834640"/>
          </a:xfrm>
          <a:prstGeom prst="rect">
            <a:avLst/>
          </a:prstGeom>
          <a:noFill/>
          <a:ln/>
        </p:spPr>
        <p:txBody>
          <a:bodyPr wrap="square" lIns="0" tIns="0" rIns="0" bIns="0" rtlCol="0" anchor="t">
            <a:normAutofit/>
          </a:bodyPr>
          <a:lstStyle/>
          <a:p>
            <a:pPr indent="0" marL="0">
              <a:buNone/>
            </a:pPr>
            <a:r>
              <a:rPr lang="en-US" sz="1270" dirty="0">
                <a:solidFill>
                  <a:srgbClr val="A8C1C9"/>
                </a:solidFill>
              </a:rPr>
              <a:t>Matrice de distances et optimisation trop coûteuses à l’échelle des tractogrammes.</a:t>
            </a:r>
            <a:endParaRPr lang="en-US" sz="1270" dirty="0"/>
          </a:p>
          <a:p>
            <a:pPr indent="0" marL="0">
              <a:buNone/>
            </a:pPr>
            <a:endParaRPr lang="en-US" sz="1270" dirty="0"/>
          </a:p>
          <a:p>
            <a:pPr indent="0" marL="0">
              <a:buNone/>
            </a:pPr>
            <a:r>
              <a:rPr lang="en-US" sz="1270" dirty="0">
                <a:solidFill>
                  <a:srgbClr val="A8C1C9"/>
                </a:solidFill>
              </a:rPr>
              <a:t>Piste arrêtée avant expérimentation complète.</a:t>
            </a:r>
            <a:endParaRPr lang="en-US" sz="1270" dirty="0"/>
          </a:p>
        </p:txBody>
      </p:sp>
      <p:sp>
        <p:nvSpPr>
          <p:cNvPr id="18" name="Text 16"/>
          <p:cNvSpPr/>
          <p:nvPr/>
        </p:nvSpPr>
        <p:spPr>
          <a:xfrm>
            <a:off x="1828800" y="5989320"/>
            <a:ext cx="8549640" cy="274320"/>
          </a:xfrm>
          <a:prstGeom prst="rect">
            <a:avLst/>
          </a:prstGeom>
          <a:noFill/>
          <a:ln/>
        </p:spPr>
        <p:txBody>
          <a:bodyPr wrap="square" lIns="0" tIns="0" rIns="0" bIns="0" rtlCol="0" anchor="ctr"/>
          <a:lstStyle/>
          <a:p>
            <a:pPr algn="ctr" indent="0" marL="0">
              <a:buNone/>
            </a:pPr>
            <a:r>
              <a:rPr lang="en-US" sz="1400" b="1" dirty="0">
                <a:solidFill>
                  <a:srgbClr val="F4FAFC"/>
                </a:solidFill>
              </a:rPr>
              <a:t>Bonne propriété des représentants ≠ méthode exploitable à l’échelle.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AMÉLIORATION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12</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K-Means + Partial OT : imposer exactement K</a:t>
            </a:r>
            <a:endParaRPr lang="en-US" sz="2700" dirty="0"/>
          </a:p>
        </p:txBody>
      </p:sp>
      <p:sp>
        <p:nvSpPr>
          <p:cNvPr id="7" name="Shape 5"/>
          <p:cNvSpPr/>
          <p:nvPr/>
        </p:nvSpPr>
        <p:spPr>
          <a:xfrm>
            <a:off x="594360" y="1508760"/>
            <a:ext cx="3154680" cy="4206240"/>
          </a:xfrm>
          <a:prstGeom prst="roundRect">
            <a:avLst>
              <a:gd name="adj" fmla="val 2029"/>
            </a:avLst>
          </a:prstGeom>
          <a:solidFill>
            <a:srgbClr val="102831"/>
          </a:solidFill>
          <a:ln w="12700">
            <a:solidFill>
              <a:srgbClr val="31545E"/>
            </a:solidFill>
            <a:prstDash val="solid"/>
          </a:ln>
        </p:spPr>
      </p:sp>
      <p:sp>
        <p:nvSpPr>
          <p:cNvPr id="8" name="Shape 6"/>
          <p:cNvSpPr/>
          <p:nvPr/>
        </p:nvSpPr>
        <p:spPr>
          <a:xfrm>
            <a:off x="594360" y="1508760"/>
            <a:ext cx="50292" cy="4206240"/>
          </a:xfrm>
          <a:prstGeom prst="rect">
            <a:avLst/>
          </a:prstGeom>
          <a:solidFill>
            <a:srgbClr val="55BFFF"/>
          </a:solidFill>
          <a:ln w="12700">
            <a:solidFill>
              <a:srgbClr val="06151B">
                <a:alpha val="0"/>
              </a:srgbClr>
            </a:solidFill>
            <a:prstDash val="solid"/>
          </a:ln>
        </p:spPr>
      </p:sp>
      <p:sp>
        <p:nvSpPr>
          <p:cNvPr id="9" name="Text 7"/>
          <p:cNvSpPr/>
          <p:nvPr/>
        </p:nvSpPr>
        <p:spPr>
          <a:xfrm>
            <a:off x="813816" y="1709928"/>
            <a:ext cx="2743200" cy="502920"/>
          </a:xfrm>
          <a:prstGeom prst="rect">
            <a:avLst/>
          </a:prstGeom>
          <a:noFill/>
          <a:ln/>
        </p:spPr>
        <p:txBody>
          <a:bodyPr wrap="square" lIns="0" tIns="0" rIns="0" bIns="0" rtlCol="0" anchor="ctr">
            <a:normAutofit/>
          </a:bodyPr>
          <a:lstStyle/>
          <a:p>
            <a:pPr indent="0" marL="0">
              <a:buNone/>
            </a:pPr>
            <a:r>
              <a:rPr lang="en-US" sz="2700" b="1" dirty="0">
                <a:solidFill>
                  <a:srgbClr val="55BFFF"/>
                </a:solidFill>
              </a:rPr>
              <a:t>K = 40</a:t>
            </a:r>
            <a:endParaRPr lang="en-US" sz="2700" dirty="0"/>
          </a:p>
        </p:txBody>
      </p:sp>
      <p:sp>
        <p:nvSpPr>
          <p:cNvPr id="10" name="Text 8"/>
          <p:cNvSpPr/>
          <p:nvPr/>
        </p:nvSpPr>
        <p:spPr>
          <a:xfrm>
            <a:off x="813816" y="2313432"/>
            <a:ext cx="274320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Ce qui change</a:t>
            </a:r>
            <a:endParaRPr lang="en-US" sz="1550" dirty="0"/>
          </a:p>
        </p:txBody>
      </p:sp>
      <p:sp>
        <p:nvSpPr>
          <p:cNvPr id="11" name="Text 9"/>
          <p:cNvSpPr/>
          <p:nvPr/>
        </p:nvSpPr>
        <p:spPr>
          <a:xfrm>
            <a:off x="813816" y="2724912"/>
            <a:ext cx="2743200" cy="2788920"/>
          </a:xfrm>
          <a:prstGeom prst="rect">
            <a:avLst/>
          </a:prstGeom>
          <a:noFill/>
          <a:ln/>
        </p:spPr>
        <p:txBody>
          <a:bodyPr wrap="square" lIns="0" tIns="0" rIns="0" bIns="0" rtlCol="0" anchor="t">
            <a:normAutofit/>
          </a:bodyPr>
          <a:lstStyle/>
          <a:p>
            <a:pPr indent="0" marL="0">
              <a:buNone/>
            </a:pPr>
            <a:r>
              <a:rPr lang="en-US" sz="1270" dirty="0">
                <a:solidFill>
                  <a:srgbClr val="A8C1C9"/>
                </a:solidFill>
              </a:rPr>
              <a:t>K est fixé à l’avance.</a:t>
            </a:r>
            <a:endParaRPr lang="en-US" sz="1270" dirty="0"/>
          </a:p>
          <a:p>
            <a:pPr indent="0" marL="0">
              <a:buNone/>
            </a:pPr>
            <a:r>
              <a:rPr lang="en-US" sz="1270" dirty="0">
                <a:solidFill>
                  <a:srgbClr val="A8C1C9"/>
                </a:solidFill>
              </a:rPr>
              <a:t>Le budget de représentants devient contrôlable entre sujets.</a:t>
            </a:r>
            <a:endParaRPr lang="en-US" sz="1270" dirty="0"/>
          </a:p>
        </p:txBody>
      </p:sp>
      <p:sp>
        <p:nvSpPr>
          <p:cNvPr id="12" name="Shape 10"/>
          <p:cNvSpPr/>
          <p:nvPr/>
        </p:nvSpPr>
        <p:spPr>
          <a:xfrm>
            <a:off x="3913632" y="3154680"/>
            <a:ext cx="292608" cy="530352"/>
          </a:xfrm>
          <a:prstGeom prst="chevron">
            <a:avLst/>
          </a:prstGeom>
          <a:solidFill>
            <a:srgbClr val="31545E"/>
          </a:solidFill>
          <a:ln w="12700">
            <a:solidFill>
              <a:srgbClr val="06151B">
                <a:alpha val="0"/>
              </a:srgbClr>
            </a:solidFill>
            <a:prstDash val="solid"/>
          </a:ln>
        </p:spPr>
      </p:sp>
      <p:sp>
        <p:nvSpPr>
          <p:cNvPr id="13" name="Shape 11"/>
          <p:cNvSpPr/>
          <p:nvPr/>
        </p:nvSpPr>
        <p:spPr>
          <a:xfrm>
            <a:off x="4407408" y="1508760"/>
            <a:ext cx="3154680" cy="4206240"/>
          </a:xfrm>
          <a:prstGeom prst="roundRect">
            <a:avLst>
              <a:gd name="adj" fmla="val 2029"/>
            </a:avLst>
          </a:prstGeom>
          <a:solidFill>
            <a:srgbClr val="102831"/>
          </a:solidFill>
          <a:ln w="12700">
            <a:solidFill>
              <a:srgbClr val="31545E"/>
            </a:solidFill>
            <a:prstDash val="solid"/>
          </a:ln>
        </p:spPr>
      </p:sp>
      <p:sp>
        <p:nvSpPr>
          <p:cNvPr id="14" name="Shape 12"/>
          <p:cNvSpPr/>
          <p:nvPr/>
        </p:nvSpPr>
        <p:spPr>
          <a:xfrm>
            <a:off x="4407408" y="1508760"/>
            <a:ext cx="50292" cy="4206240"/>
          </a:xfrm>
          <a:prstGeom prst="rect">
            <a:avLst/>
          </a:prstGeom>
          <a:solidFill>
            <a:srgbClr val="FF9B55"/>
          </a:solidFill>
          <a:ln w="12700">
            <a:solidFill>
              <a:srgbClr val="06151B">
                <a:alpha val="0"/>
              </a:srgbClr>
            </a:solidFill>
            <a:prstDash val="solid"/>
          </a:ln>
        </p:spPr>
      </p:sp>
      <p:sp>
        <p:nvSpPr>
          <p:cNvPr id="15" name="Text 13"/>
          <p:cNvSpPr/>
          <p:nvPr/>
        </p:nvSpPr>
        <p:spPr>
          <a:xfrm>
            <a:off x="4626864" y="1709928"/>
            <a:ext cx="2743200" cy="502920"/>
          </a:xfrm>
          <a:prstGeom prst="rect">
            <a:avLst/>
          </a:prstGeom>
          <a:noFill/>
          <a:ln/>
        </p:spPr>
        <p:txBody>
          <a:bodyPr wrap="square" lIns="0" tIns="0" rIns="0" bIns="0" rtlCol="0" anchor="ctr">
            <a:normAutofit/>
          </a:bodyPr>
          <a:lstStyle/>
          <a:p>
            <a:pPr indent="0" marL="0">
              <a:buNone/>
            </a:pPr>
            <a:r>
              <a:rPr lang="en-US" sz="2700" b="1" dirty="0">
                <a:solidFill>
                  <a:srgbClr val="FF9B55"/>
                </a:solidFill>
              </a:rPr>
              <a:t>TRIAL 44</a:t>
            </a:r>
            <a:endParaRPr lang="en-US" sz="2700" dirty="0"/>
          </a:p>
        </p:txBody>
      </p:sp>
      <p:sp>
        <p:nvSpPr>
          <p:cNvPr id="16" name="Text 14"/>
          <p:cNvSpPr/>
          <p:nvPr/>
        </p:nvSpPr>
        <p:spPr>
          <a:xfrm>
            <a:off x="4626864" y="2313432"/>
            <a:ext cx="274320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Optuna trial 44</a:t>
            </a:r>
            <a:endParaRPr lang="en-US" sz="1550" dirty="0"/>
          </a:p>
        </p:txBody>
      </p:sp>
      <p:sp>
        <p:nvSpPr>
          <p:cNvPr id="17" name="Text 15"/>
          <p:cNvSpPr/>
          <p:nvPr/>
        </p:nvSpPr>
        <p:spPr>
          <a:xfrm>
            <a:off x="4626864" y="2724912"/>
            <a:ext cx="2743200" cy="2788920"/>
          </a:xfrm>
          <a:prstGeom prst="rect">
            <a:avLst/>
          </a:prstGeom>
          <a:noFill/>
          <a:ln/>
        </p:spPr>
        <p:txBody>
          <a:bodyPr wrap="square" lIns="0" tIns="0" rIns="0" bIns="0" rtlCol="0" anchor="t">
            <a:normAutofit/>
          </a:bodyPr>
          <a:lstStyle/>
          <a:p>
            <a:pPr indent="0" marL="0">
              <a:buNone/>
            </a:pPr>
            <a:r>
              <a:rPr lang="en-US" sz="1270" dirty="0">
                <a:solidFill>
                  <a:srgbClr val="A8C1C9"/>
                </a:solidFill>
              </a:rPr>
              <a:t>masse = 0,63</a:t>
            </a:r>
            <a:endParaRPr lang="en-US" sz="1270" dirty="0"/>
          </a:p>
          <a:p>
            <a:pPr indent="0" marL="0">
              <a:buNone/>
            </a:pPr>
            <a:r>
              <a:rPr lang="en-US" sz="1270" dirty="0">
                <a:solidFill>
                  <a:srgbClr val="A8C1C9"/>
                </a:solidFill>
              </a:rPr>
              <a:t>40 représentants</a:t>
            </a:r>
            <a:endParaRPr lang="en-US" sz="1270" dirty="0"/>
          </a:p>
          <a:p>
            <a:pPr indent="0" marL="0">
              <a:buNone/>
            </a:pPr>
            <a:r>
              <a:rPr lang="en-US" sz="1270" dirty="0">
                <a:solidFill>
                  <a:srgbClr val="A8C1C9"/>
                </a:solidFill>
              </a:rPr>
              <a:t>ratio intra/inter = 0,346</a:t>
            </a:r>
            <a:endParaRPr lang="en-US" sz="1270" dirty="0"/>
          </a:p>
        </p:txBody>
      </p:sp>
      <p:sp>
        <p:nvSpPr>
          <p:cNvPr id="18" name="Shape 16"/>
          <p:cNvSpPr/>
          <p:nvPr/>
        </p:nvSpPr>
        <p:spPr>
          <a:xfrm>
            <a:off x="7726680" y="3154680"/>
            <a:ext cx="292608" cy="530352"/>
          </a:xfrm>
          <a:prstGeom prst="chevron">
            <a:avLst/>
          </a:prstGeom>
          <a:solidFill>
            <a:srgbClr val="31545E"/>
          </a:solidFill>
          <a:ln w="12700">
            <a:solidFill>
              <a:srgbClr val="06151B">
                <a:alpha val="0"/>
              </a:srgbClr>
            </a:solidFill>
            <a:prstDash val="solid"/>
          </a:ln>
        </p:spPr>
      </p:sp>
      <p:sp>
        <p:nvSpPr>
          <p:cNvPr id="19" name="Shape 17"/>
          <p:cNvSpPr/>
          <p:nvPr/>
        </p:nvSpPr>
        <p:spPr>
          <a:xfrm>
            <a:off x="8229600" y="1508760"/>
            <a:ext cx="3291840" cy="4206240"/>
          </a:xfrm>
          <a:prstGeom prst="roundRect">
            <a:avLst>
              <a:gd name="adj" fmla="val 1944"/>
            </a:avLst>
          </a:prstGeom>
          <a:solidFill>
            <a:srgbClr val="102831"/>
          </a:solidFill>
          <a:ln w="12700">
            <a:solidFill>
              <a:srgbClr val="31545E"/>
            </a:solidFill>
            <a:prstDash val="solid"/>
          </a:ln>
        </p:spPr>
      </p:sp>
      <p:sp>
        <p:nvSpPr>
          <p:cNvPr id="20" name="Shape 18"/>
          <p:cNvSpPr/>
          <p:nvPr/>
        </p:nvSpPr>
        <p:spPr>
          <a:xfrm>
            <a:off x="8229600" y="1508760"/>
            <a:ext cx="50292" cy="4206240"/>
          </a:xfrm>
          <a:prstGeom prst="rect">
            <a:avLst/>
          </a:prstGeom>
          <a:solidFill>
            <a:srgbClr val="7EE081"/>
          </a:solidFill>
          <a:ln w="12700">
            <a:solidFill>
              <a:srgbClr val="06151B">
                <a:alpha val="0"/>
              </a:srgbClr>
            </a:solidFill>
            <a:prstDash val="solid"/>
          </a:ln>
        </p:spPr>
      </p:sp>
      <p:sp>
        <p:nvSpPr>
          <p:cNvPr id="21" name="Text 19"/>
          <p:cNvSpPr/>
          <p:nvPr/>
        </p:nvSpPr>
        <p:spPr>
          <a:xfrm>
            <a:off x="8449056" y="1709928"/>
            <a:ext cx="2880360" cy="502920"/>
          </a:xfrm>
          <a:prstGeom prst="rect">
            <a:avLst/>
          </a:prstGeom>
          <a:noFill/>
          <a:ln/>
        </p:spPr>
        <p:txBody>
          <a:bodyPr wrap="square" lIns="0" tIns="0" rIns="0" bIns="0" rtlCol="0" anchor="ctr">
            <a:normAutofit/>
          </a:bodyPr>
          <a:lstStyle/>
          <a:p>
            <a:pPr indent="0" marL="0">
              <a:buNone/>
            </a:pPr>
            <a:r>
              <a:rPr lang="en-US" sz="2700" b="1" dirty="0">
                <a:solidFill>
                  <a:srgbClr val="7EE081"/>
                </a:solidFill>
              </a:rPr>
              <a:t>100 %</a:t>
            </a:r>
            <a:endParaRPr lang="en-US" sz="2700" dirty="0"/>
          </a:p>
        </p:txBody>
      </p:sp>
      <p:sp>
        <p:nvSpPr>
          <p:cNvPr id="22" name="Text 20"/>
          <p:cNvSpPr/>
          <p:nvPr/>
        </p:nvSpPr>
        <p:spPr>
          <a:xfrm>
            <a:off x="8449056" y="2313432"/>
            <a:ext cx="288036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Résultat RE-ID</a:t>
            </a:r>
            <a:endParaRPr lang="en-US" sz="1550" dirty="0"/>
          </a:p>
        </p:txBody>
      </p:sp>
      <p:sp>
        <p:nvSpPr>
          <p:cNvPr id="23" name="Text 21"/>
          <p:cNvSpPr/>
          <p:nvPr/>
        </p:nvSpPr>
        <p:spPr>
          <a:xfrm>
            <a:off x="8449056" y="2724912"/>
            <a:ext cx="2880360" cy="2788920"/>
          </a:xfrm>
          <a:prstGeom prst="rect">
            <a:avLst/>
          </a:prstGeom>
          <a:noFill/>
          <a:ln/>
        </p:spPr>
        <p:txBody>
          <a:bodyPr wrap="square" lIns="0" tIns="0" rIns="0" bIns="0" rtlCol="0" anchor="t">
            <a:normAutofit/>
          </a:bodyPr>
          <a:lstStyle/>
          <a:p>
            <a:pPr indent="0" marL="0">
              <a:buNone/>
            </a:pPr>
            <a:r>
              <a:rPr lang="en-US" sz="1270" dirty="0">
                <a:solidFill>
                  <a:srgbClr val="A8C1C9"/>
                </a:solidFill>
              </a:rPr>
              <a:t>31 bundles correctement ré-identifiés dans cette expérience.</a:t>
            </a:r>
            <a:endParaRPr lang="en-US" sz="1270" dirty="0"/>
          </a:p>
          <a:p>
            <a:pPr indent="0" marL="0">
              <a:buNone/>
            </a:pPr>
            <a:endParaRPr lang="en-US" sz="1270" dirty="0"/>
          </a:p>
          <a:p>
            <a:pPr indent="0" marL="0">
              <a:buNone/>
            </a:pPr>
            <a:r>
              <a:rPr lang="en-US" sz="1270" dirty="0">
                <a:solidFill>
                  <a:srgbClr val="A8C1C9"/>
                </a:solidFill>
              </a:rPr>
              <a:t>Pas une preuve de généralisation.</a:t>
            </a:r>
            <a:endParaRPr lang="en-US" sz="1270" dirty="0"/>
          </a:p>
        </p:txBody>
      </p:sp>
      <p:sp>
        <p:nvSpPr>
          <p:cNvPr id="24" name="Text 22"/>
          <p:cNvSpPr/>
          <p:nvPr/>
        </p:nvSpPr>
        <p:spPr>
          <a:xfrm>
            <a:off x="3200400" y="5961888"/>
            <a:ext cx="5806440" cy="274320"/>
          </a:xfrm>
          <a:prstGeom prst="rect">
            <a:avLst/>
          </a:prstGeom>
          <a:noFill/>
          <a:ln/>
        </p:spPr>
        <p:txBody>
          <a:bodyPr wrap="square" lIns="0" tIns="0" rIns="0" bIns="0" rtlCol="0" anchor="ctr"/>
          <a:lstStyle/>
          <a:p>
            <a:pPr algn="ctr" indent="0" marL="0">
              <a:buNone/>
            </a:pPr>
            <a:r>
              <a:rPr lang="en-US" sz="1300" b="1" dirty="0">
                <a:solidFill>
                  <a:srgbClr val="22D3C5"/>
                </a:solidFill>
              </a:rPr>
              <a:t>CST_L est correctement identifié dans ce protocole.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TRANSITION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13</a:t>
            </a:r>
            <a:endParaRPr lang="en-US" sz="850" dirty="0"/>
          </a:p>
        </p:txBody>
      </p:sp>
      <p:sp>
        <p:nvSpPr>
          <p:cNvPr id="6" name="Text 4"/>
          <p:cNvSpPr/>
          <p:nvPr/>
        </p:nvSpPr>
        <p:spPr>
          <a:xfrm>
            <a:off x="640080" y="1234440"/>
            <a:ext cx="3840480" cy="914400"/>
          </a:xfrm>
          <a:prstGeom prst="rect">
            <a:avLst/>
          </a:prstGeom>
          <a:noFill/>
          <a:ln/>
        </p:spPr>
        <p:txBody>
          <a:bodyPr wrap="square" lIns="0" tIns="0" rIns="0" bIns="0" rtlCol="0" anchor="ctr">
            <a:normAutofit/>
          </a:bodyPr>
          <a:lstStyle/>
          <a:p>
            <a:pPr algn="ctr" indent="0" marL="0">
              <a:buNone/>
            </a:pPr>
            <a:r>
              <a:rPr lang="en-US" sz="2800" b="1" dirty="0">
                <a:solidFill>
                  <a:srgbClr val="F4FAFC"/>
                </a:solidFill>
              </a:rPr>
              <a:t>La cardinalité est maintenant contrôlée</a:t>
            </a:r>
            <a:endParaRPr lang="en-US" sz="2800" dirty="0"/>
          </a:p>
        </p:txBody>
      </p:sp>
      <p:sp>
        <p:nvSpPr>
          <p:cNvPr id="7" name="Text 5"/>
          <p:cNvSpPr/>
          <p:nvPr/>
        </p:nvSpPr>
        <p:spPr>
          <a:xfrm>
            <a:off x="4800600" y="2697480"/>
            <a:ext cx="2560320" cy="594360"/>
          </a:xfrm>
          <a:prstGeom prst="rect">
            <a:avLst/>
          </a:prstGeom>
          <a:noFill/>
          <a:ln/>
        </p:spPr>
        <p:txBody>
          <a:bodyPr wrap="square" lIns="0" tIns="0" rIns="0" bIns="0" rtlCol="0" anchor="ctr"/>
          <a:lstStyle/>
          <a:p>
            <a:pPr algn="ctr" indent="0" marL="0">
              <a:buNone/>
            </a:pPr>
            <a:r>
              <a:rPr lang="en-US" sz="3800" b="1" dirty="0">
                <a:solidFill>
                  <a:srgbClr val="FF9B55"/>
                </a:solidFill>
              </a:rPr>
              <a:t>MAIS</a:t>
            </a:r>
            <a:endParaRPr lang="en-US" sz="3800" dirty="0"/>
          </a:p>
        </p:txBody>
      </p:sp>
      <p:sp>
        <p:nvSpPr>
          <p:cNvPr id="8" name="Text 6"/>
          <p:cNvSpPr/>
          <p:nvPr/>
        </p:nvSpPr>
        <p:spPr>
          <a:xfrm>
            <a:off x="3730752" y="3429000"/>
            <a:ext cx="4709160" cy="777240"/>
          </a:xfrm>
          <a:prstGeom prst="rect">
            <a:avLst/>
          </a:prstGeom>
          <a:noFill/>
          <a:ln/>
        </p:spPr>
        <p:txBody>
          <a:bodyPr wrap="square" lIns="0" tIns="0" rIns="0" bIns="0" rtlCol="0" anchor="ctr">
            <a:normAutofit/>
          </a:bodyPr>
          <a:lstStyle/>
          <a:p>
            <a:pPr algn="ctr" indent="0" marL="0">
              <a:buNone/>
            </a:pPr>
            <a:r>
              <a:rPr lang="en-US" sz="2000" dirty="0">
                <a:solidFill>
                  <a:srgbClr val="A8C1C9"/>
                </a:solidFill>
              </a:rPr>
              <a:t>le centroïde moyen peut ne correspondre à aucune streamline réelle</a:t>
            </a:r>
            <a:endParaRPr lang="en-US" sz="2000" dirty="0"/>
          </a:p>
        </p:txBody>
      </p:sp>
      <p:sp>
        <p:nvSpPr>
          <p:cNvPr id="9" name="Shape 7"/>
          <p:cNvSpPr/>
          <p:nvPr/>
        </p:nvSpPr>
        <p:spPr>
          <a:xfrm>
            <a:off x="5687568" y="4343400"/>
            <a:ext cx="777240" cy="777240"/>
          </a:xfrm>
          <a:prstGeom prst="downArrow">
            <a:avLst/>
          </a:prstGeom>
          <a:solidFill>
            <a:srgbClr val="22D3C5"/>
          </a:solidFill>
          <a:ln w="12700">
            <a:solidFill>
              <a:srgbClr val="06151B">
                <a:alpha val="0"/>
              </a:srgbClr>
            </a:solidFill>
            <a:prstDash val="solid"/>
          </a:ln>
        </p:spPr>
      </p:sp>
      <p:sp>
        <p:nvSpPr>
          <p:cNvPr id="10" name="Text 8"/>
          <p:cNvSpPr/>
          <p:nvPr/>
        </p:nvSpPr>
        <p:spPr>
          <a:xfrm>
            <a:off x="1828800" y="5376672"/>
            <a:ext cx="8549640" cy="502920"/>
          </a:xfrm>
          <a:prstGeom prst="rect">
            <a:avLst/>
          </a:prstGeom>
          <a:noFill/>
          <a:ln/>
        </p:spPr>
        <p:txBody>
          <a:bodyPr wrap="square" lIns="0" tIns="0" rIns="0" bIns="0" rtlCol="0" anchor="ctr">
            <a:normAutofit/>
          </a:bodyPr>
          <a:lstStyle/>
          <a:p>
            <a:pPr algn="ctr" indent="0" marL="0">
              <a:buNone/>
            </a:pPr>
            <a:r>
              <a:rPr lang="en-US" sz="2500" b="1" dirty="0">
                <a:solidFill>
                  <a:srgbClr val="22D3C5"/>
                </a:solidFill>
              </a:rPr>
              <a:t>Le score global ne suffit plus</a:t>
            </a:r>
            <a:endParaRPr lang="en-US" sz="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NOUVELLE PISTE</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14</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Sinkhorn guide; LDDMM déforme</a:t>
            </a:r>
            <a:endParaRPr lang="en-US" sz="2700" dirty="0"/>
          </a:p>
        </p:txBody>
      </p:sp>
      <p:sp>
        <p:nvSpPr>
          <p:cNvPr id="7" name="Shape 5"/>
          <p:cNvSpPr/>
          <p:nvPr/>
        </p:nvSpPr>
        <p:spPr>
          <a:xfrm>
            <a:off x="594360" y="1463040"/>
            <a:ext cx="3337560" cy="4343400"/>
          </a:xfrm>
          <a:prstGeom prst="roundRect">
            <a:avLst>
              <a:gd name="adj" fmla="val 1918"/>
            </a:avLst>
          </a:prstGeom>
          <a:solidFill>
            <a:srgbClr val="102831"/>
          </a:solidFill>
          <a:ln w="12700">
            <a:solidFill>
              <a:srgbClr val="31545E"/>
            </a:solidFill>
            <a:prstDash val="solid"/>
          </a:ln>
        </p:spPr>
      </p:sp>
      <p:sp>
        <p:nvSpPr>
          <p:cNvPr id="8" name="Shape 6"/>
          <p:cNvSpPr/>
          <p:nvPr/>
        </p:nvSpPr>
        <p:spPr>
          <a:xfrm>
            <a:off x="594360" y="1463040"/>
            <a:ext cx="50292" cy="4343400"/>
          </a:xfrm>
          <a:prstGeom prst="rect">
            <a:avLst/>
          </a:prstGeom>
          <a:solidFill>
            <a:srgbClr val="22D3C5"/>
          </a:solidFill>
          <a:ln w="12700">
            <a:solidFill>
              <a:srgbClr val="06151B">
                <a:alpha val="0"/>
              </a:srgbClr>
            </a:solidFill>
            <a:prstDash val="solid"/>
          </a:ln>
        </p:spPr>
      </p:sp>
      <p:sp>
        <p:nvSpPr>
          <p:cNvPr id="9" name="Text 7"/>
          <p:cNvSpPr/>
          <p:nvPr/>
        </p:nvSpPr>
        <p:spPr>
          <a:xfrm>
            <a:off x="813816" y="1664208"/>
            <a:ext cx="2926080" cy="502920"/>
          </a:xfrm>
          <a:prstGeom prst="rect">
            <a:avLst/>
          </a:prstGeom>
          <a:noFill/>
          <a:ln/>
        </p:spPr>
        <p:txBody>
          <a:bodyPr wrap="square" lIns="0" tIns="0" rIns="0" bIns="0" rtlCol="0" anchor="ctr">
            <a:normAutofit/>
          </a:bodyPr>
          <a:lstStyle/>
          <a:p>
            <a:pPr indent="0" marL="0">
              <a:buNone/>
            </a:pPr>
            <a:r>
              <a:rPr lang="en-US" sz="2700" b="1" dirty="0">
                <a:solidFill>
                  <a:srgbClr val="22D3C5"/>
                </a:solidFill>
              </a:rPr>
              <a:t>GUIDAGE</a:t>
            </a:r>
            <a:endParaRPr lang="en-US" sz="2700" dirty="0"/>
          </a:p>
        </p:txBody>
      </p:sp>
      <p:sp>
        <p:nvSpPr>
          <p:cNvPr id="10" name="Text 8"/>
          <p:cNvSpPr/>
          <p:nvPr/>
        </p:nvSpPr>
        <p:spPr>
          <a:xfrm>
            <a:off x="813816" y="2267712"/>
            <a:ext cx="292608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Sinkhorn</a:t>
            </a:r>
            <a:endParaRPr lang="en-US" sz="1550" dirty="0"/>
          </a:p>
        </p:txBody>
      </p:sp>
      <p:sp>
        <p:nvSpPr>
          <p:cNvPr id="11" name="Text 9"/>
          <p:cNvSpPr/>
          <p:nvPr/>
        </p:nvSpPr>
        <p:spPr>
          <a:xfrm>
            <a:off x="813816" y="2679192"/>
            <a:ext cx="2926080" cy="2926080"/>
          </a:xfrm>
          <a:prstGeom prst="rect">
            <a:avLst/>
          </a:prstGeom>
          <a:noFill/>
          <a:ln/>
        </p:spPr>
        <p:txBody>
          <a:bodyPr wrap="square" lIns="0" tIns="0" rIns="0" bIns="0" rtlCol="0" anchor="t">
            <a:normAutofit/>
          </a:bodyPr>
          <a:lstStyle/>
          <a:p>
            <a:pPr indent="0" marL="0">
              <a:buNone/>
            </a:pPr>
            <a:r>
              <a:rPr lang="en-US" sz="1270" dirty="0">
                <a:solidFill>
                  <a:srgbClr val="A8C1C9"/>
                </a:solidFill>
              </a:rPr>
              <a:t>Optimal Transport régularisé entropiquement.</a:t>
            </a:r>
            <a:endParaRPr lang="en-US" sz="1270" dirty="0"/>
          </a:p>
          <a:p>
            <a:pPr indent="0" marL="0">
              <a:buNone/>
            </a:pPr>
            <a:endParaRPr lang="en-US" sz="1270" dirty="0"/>
          </a:p>
          <a:p>
            <a:pPr indent="0" marL="0">
              <a:buNone/>
            </a:pPr>
            <a:r>
              <a:rPr lang="en-US" sz="1270" dirty="0">
                <a:solidFill>
                  <a:srgbClr val="A8C1C9"/>
                </a:solidFill>
              </a:rPr>
              <a:t>Transport « soft » : une source peut distribuer sa masse vers plusieurs cibles.</a:t>
            </a:r>
            <a:endParaRPr lang="en-US" sz="1270" dirty="0"/>
          </a:p>
          <a:p>
            <a:pPr indent="0" marL="0">
              <a:buNone/>
            </a:pPr>
            <a:endParaRPr lang="en-US" sz="1270" dirty="0"/>
          </a:p>
          <a:p>
            <a:pPr indent="0" marL="0">
              <a:buNone/>
            </a:pPr>
            <a:r>
              <a:rPr lang="en-US" sz="1270" dirty="0">
                <a:solidFill>
                  <a:srgbClr val="A8C1C9"/>
                </a:solidFill>
              </a:rPr>
              <a:t>Calculs MDF et OT accélérables sur GPU.</a:t>
            </a:r>
            <a:endParaRPr lang="en-US" sz="1270" dirty="0"/>
          </a:p>
        </p:txBody>
      </p:sp>
      <p:sp>
        <p:nvSpPr>
          <p:cNvPr id="12" name="Text 10"/>
          <p:cNvSpPr/>
          <p:nvPr/>
        </p:nvSpPr>
        <p:spPr>
          <a:xfrm>
            <a:off x="4133088" y="2633472"/>
            <a:ext cx="960120" cy="731520"/>
          </a:xfrm>
          <a:prstGeom prst="rect">
            <a:avLst/>
          </a:prstGeom>
          <a:noFill/>
          <a:ln/>
        </p:spPr>
        <p:txBody>
          <a:bodyPr wrap="square" lIns="0" tIns="0" rIns="0" bIns="0" rtlCol="0" anchor="ctr"/>
          <a:lstStyle/>
          <a:p>
            <a:pPr algn="ctr" indent="0" marL="0">
              <a:buNone/>
            </a:pPr>
            <a:r>
              <a:rPr lang="en-US" sz="4200" b="1" dirty="0">
                <a:solidFill>
                  <a:srgbClr val="FF6271"/>
                </a:solidFill>
              </a:rPr>
              <a:t>≠</a:t>
            </a:r>
            <a:endParaRPr lang="en-US" sz="4200" dirty="0"/>
          </a:p>
        </p:txBody>
      </p:sp>
      <p:sp>
        <p:nvSpPr>
          <p:cNvPr id="13" name="Shape 11"/>
          <p:cNvSpPr/>
          <p:nvPr/>
        </p:nvSpPr>
        <p:spPr>
          <a:xfrm>
            <a:off x="5285232" y="1463040"/>
            <a:ext cx="2788920" cy="4343400"/>
          </a:xfrm>
          <a:prstGeom prst="roundRect">
            <a:avLst>
              <a:gd name="adj" fmla="val 2295"/>
            </a:avLst>
          </a:prstGeom>
          <a:solidFill>
            <a:srgbClr val="102831"/>
          </a:solidFill>
          <a:ln w="12700">
            <a:solidFill>
              <a:srgbClr val="31545E"/>
            </a:solidFill>
            <a:prstDash val="solid"/>
          </a:ln>
        </p:spPr>
      </p:sp>
      <p:sp>
        <p:nvSpPr>
          <p:cNvPr id="14" name="Shape 12"/>
          <p:cNvSpPr/>
          <p:nvPr/>
        </p:nvSpPr>
        <p:spPr>
          <a:xfrm>
            <a:off x="5285232" y="1463040"/>
            <a:ext cx="50292" cy="4343400"/>
          </a:xfrm>
          <a:prstGeom prst="rect">
            <a:avLst/>
          </a:prstGeom>
          <a:solidFill>
            <a:srgbClr val="FF9B55"/>
          </a:solidFill>
          <a:ln w="12700">
            <a:solidFill>
              <a:srgbClr val="06151B">
                <a:alpha val="0"/>
              </a:srgbClr>
            </a:solidFill>
            <a:prstDash val="solid"/>
          </a:ln>
        </p:spPr>
      </p:sp>
      <p:sp>
        <p:nvSpPr>
          <p:cNvPr id="15" name="Text 13"/>
          <p:cNvSpPr/>
          <p:nvPr/>
        </p:nvSpPr>
        <p:spPr>
          <a:xfrm>
            <a:off x="5504688" y="1664208"/>
            <a:ext cx="2377440" cy="502920"/>
          </a:xfrm>
          <a:prstGeom prst="rect">
            <a:avLst/>
          </a:prstGeom>
          <a:noFill/>
          <a:ln/>
        </p:spPr>
        <p:txBody>
          <a:bodyPr wrap="square" lIns="0" tIns="0" rIns="0" bIns="0" rtlCol="0" anchor="ctr">
            <a:normAutofit/>
          </a:bodyPr>
          <a:lstStyle/>
          <a:p>
            <a:pPr indent="0" marL="0">
              <a:buNone/>
            </a:pPr>
            <a:r>
              <a:rPr lang="en-US" sz="2700" b="1" dirty="0">
                <a:solidFill>
                  <a:srgbClr val="FF9B55"/>
                </a:solidFill>
              </a:rPr>
              <a:t>P</a:t>
            </a:r>
            <a:endParaRPr lang="en-US" sz="2700" dirty="0"/>
          </a:p>
        </p:txBody>
      </p:sp>
      <p:sp>
        <p:nvSpPr>
          <p:cNvPr id="16" name="Text 14"/>
          <p:cNvSpPr/>
          <p:nvPr/>
        </p:nvSpPr>
        <p:spPr>
          <a:xfrm>
            <a:off x="5504688" y="2267712"/>
            <a:ext cx="237744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Plan OT</a:t>
            </a:r>
            <a:endParaRPr lang="en-US" sz="1550" dirty="0"/>
          </a:p>
        </p:txBody>
      </p:sp>
      <p:sp>
        <p:nvSpPr>
          <p:cNvPr id="17" name="Text 15"/>
          <p:cNvSpPr/>
          <p:nvPr/>
        </p:nvSpPr>
        <p:spPr>
          <a:xfrm>
            <a:off x="5504688" y="2679192"/>
            <a:ext cx="2377440" cy="2926080"/>
          </a:xfrm>
          <a:prstGeom prst="rect">
            <a:avLst/>
          </a:prstGeom>
          <a:noFill/>
          <a:ln/>
        </p:spPr>
        <p:txBody>
          <a:bodyPr wrap="square" lIns="0" tIns="0" rIns="0" bIns="0" rtlCol="0" anchor="t">
            <a:normAutofit/>
          </a:bodyPr>
          <a:lstStyle/>
          <a:p>
            <a:pPr indent="0" marL="0">
              <a:buNone/>
            </a:pPr>
            <a:r>
              <a:rPr lang="en-US" sz="1270" dirty="0">
                <a:solidFill>
                  <a:srgbClr val="A8C1C9"/>
                </a:solidFill>
              </a:rPr>
              <a:t>Correspondances pondérées.</a:t>
            </a:r>
            <a:endParaRPr lang="en-US" sz="1270" dirty="0"/>
          </a:p>
          <a:p>
            <a:pPr indent="0" marL="0">
              <a:buNone/>
            </a:pPr>
            <a:endParaRPr lang="en-US" sz="1270" dirty="0"/>
          </a:p>
          <a:p>
            <a:pPr indent="0" marL="0">
              <a:buNone/>
            </a:pPr>
            <a:r>
              <a:rPr lang="en-US" sz="1270" dirty="0">
                <a:solidFill>
                  <a:srgbClr val="A8C1C9"/>
                </a:solidFill>
              </a:rPr>
              <a:t>Il ne constitue pas à lui seul un champ de déformation anatomiquement valide.</a:t>
            </a:r>
            <a:endParaRPr lang="en-US" sz="1270" dirty="0"/>
          </a:p>
        </p:txBody>
      </p:sp>
      <p:sp>
        <p:nvSpPr>
          <p:cNvPr id="18" name="Shape 16"/>
          <p:cNvSpPr/>
          <p:nvPr/>
        </p:nvSpPr>
        <p:spPr>
          <a:xfrm>
            <a:off x="8275320" y="2852928"/>
            <a:ext cx="685800" cy="566928"/>
          </a:xfrm>
          <a:prstGeom prst="rightArrow">
            <a:avLst/>
          </a:prstGeom>
          <a:solidFill>
            <a:srgbClr val="31545E"/>
          </a:solidFill>
          <a:ln w="12700">
            <a:solidFill>
              <a:srgbClr val="06151B">
                <a:alpha val="0"/>
              </a:srgbClr>
            </a:solidFill>
            <a:prstDash val="solid"/>
          </a:ln>
        </p:spPr>
      </p:sp>
      <p:sp>
        <p:nvSpPr>
          <p:cNvPr id="19" name="Shape 17"/>
          <p:cNvSpPr/>
          <p:nvPr/>
        </p:nvSpPr>
        <p:spPr>
          <a:xfrm>
            <a:off x="9162288" y="1463040"/>
            <a:ext cx="2423160" cy="4343400"/>
          </a:xfrm>
          <a:prstGeom prst="roundRect">
            <a:avLst>
              <a:gd name="adj" fmla="val 2642"/>
            </a:avLst>
          </a:prstGeom>
          <a:solidFill>
            <a:srgbClr val="102831"/>
          </a:solidFill>
          <a:ln w="12700">
            <a:solidFill>
              <a:srgbClr val="31545E"/>
            </a:solidFill>
            <a:prstDash val="solid"/>
          </a:ln>
        </p:spPr>
      </p:sp>
      <p:sp>
        <p:nvSpPr>
          <p:cNvPr id="20" name="Shape 18"/>
          <p:cNvSpPr/>
          <p:nvPr/>
        </p:nvSpPr>
        <p:spPr>
          <a:xfrm>
            <a:off x="9162288" y="1463040"/>
            <a:ext cx="50292" cy="4343400"/>
          </a:xfrm>
          <a:prstGeom prst="rect">
            <a:avLst/>
          </a:prstGeom>
          <a:solidFill>
            <a:srgbClr val="7EE081"/>
          </a:solidFill>
          <a:ln w="12700">
            <a:solidFill>
              <a:srgbClr val="06151B">
                <a:alpha val="0"/>
              </a:srgbClr>
            </a:solidFill>
            <a:prstDash val="solid"/>
          </a:ln>
        </p:spPr>
      </p:sp>
      <p:sp>
        <p:nvSpPr>
          <p:cNvPr id="21" name="Text 19"/>
          <p:cNvSpPr/>
          <p:nvPr/>
        </p:nvSpPr>
        <p:spPr>
          <a:xfrm>
            <a:off x="9381744" y="1664208"/>
            <a:ext cx="2011680" cy="502920"/>
          </a:xfrm>
          <a:prstGeom prst="rect">
            <a:avLst/>
          </a:prstGeom>
          <a:noFill/>
          <a:ln/>
        </p:spPr>
        <p:txBody>
          <a:bodyPr wrap="square" lIns="0" tIns="0" rIns="0" bIns="0" rtlCol="0" anchor="ctr">
            <a:normAutofit/>
          </a:bodyPr>
          <a:lstStyle/>
          <a:p>
            <a:pPr indent="0" marL="0">
              <a:buNone/>
            </a:pPr>
            <a:r>
              <a:rPr lang="en-US" sz="2700" b="1" dirty="0">
                <a:solidFill>
                  <a:srgbClr val="7EE081"/>
                </a:solidFill>
              </a:rPr>
              <a:t>φ</a:t>
            </a:r>
            <a:endParaRPr lang="en-US" sz="2700" dirty="0"/>
          </a:p>
        </p:txBody>
      </p:sp>
      <p:sp>
        <p:nvSpPr>
          <p:cNvPr id="22" name="Text 20"/>
          <p:cNvSpPr/>
          <p:nvPr/>
        </p:nvSpPr>
        <p:spPr>
          <a:xfrm>
            <a:off x="9381744" y="2267712"/>
            <a:ext cx="201168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LDDMM</a:t>
            </a:r>
            <a:endParaRPr lang="en-US" sz="1550" dirty="0"/>
          </a:p>
        </p:txBody>
      </p:sp>
      <p:sp>
        <p:nvSpPr>
          <p:cNvPr id="23" name="Text 21"/>
          <p:cNvSpPr/>
          <p:nvPr/>
        </p:nvSpPr>
        <p:spPr>
          <a:xfrm>
            <a:off x="9381744" y="2679192"/>
            <a:ext cx="2011680" cy="2926080"/>
          </a:xfrm>
          <a:prstGeom prst="rect">
            <a:avLst/>
          </a:prstGeom>
          <a:noFill/>
          <a:ln/>
        </p:spPr>
        <p:txBody>
          <a:bodyPr wrap="square" lIns="0" tIns="0" rIns="0" bIns="0" rtlCol="0" anchor="t">
            <a:normAutofit/>
          </a:bodyPr>
          <a:lstStyle/>
          <a:p>
            <a:pPr indent="0" marL="0">
              <a:buNone/>
            </a:pPr>
            <a:r>
              <a:rPr lang="en-US" sz="1270" dirty="0">
                <a:solidFill>
                  <a:srgbClr val="A8C1C9"/>
                </a:solidFill>
              </a:rPr>
              <a:t>Transformation continue et diffeomorphe.</a:t>
            </a:r>
            <a:endParaRPr lang="en-US" sz="1270" dirty="0"/>
          </a:p>
          <a:p>
            <a:pPr indent="0" marL="0">
              <a:buNone/>
            </a:pPr>
            <a:endParaRPr lang="en-US" sz="1270" dirty="0"/>
          </a:p>
          <a:p>
            <a:pPr indent="0" marL="0">
              <a:buNone/>
            </a:pPr>
            <a:r>
              <a:rPr lang="en-US" sz="1270" dirty="0">
                <a:solidFill>
                  <a:srgbClr val="A8C1C9"/>
                </a:solidFill>
              </a:rPr>
              <a:t>Chemin géodésique dans l’espace des transformations.</a:t>
            </a:r>
            <a:endParaRPr lang="en-US" sz="1270" dirty="0"/>
          </a:p>
        </p:txBody>
      </p:sp>
      <p:sp>
        <p:nvSpPr>
          <p:cNvPr id="24" name="Text 22"/>
          <p:cNvSpPr/>
          <p:nvPr/>
        </p:nvSpPr>
        <p:spPr>
          <a:xfrm>
            <a:off x="1920240" y="5961888"/>
            <a:ext cx="8321040" cy="274320"/>
          </a:xfrm>
          <a:prstGeom prst="rect">
            <a:avLst/>
          </a:prstGeom>
          <a:noFill/>
          <a:ln/>
        </p:spPr>
        <p:txBody>
          <a:bodyPr wrap="square" lIns="0" tIns="0" rIns="0" bIns="0" rtlCol="0" anchor="ctr"/>
          <a:lstStyle/>
          <a:p>
            <a:pPr algn="ctr" indent="0" marL="0">
              <a:buNone/>
            </a:pPr>
            <a:r>
              <a:rPr lang="en-US" sz="1250" dirty="0">
                <a:solidFill>
                  <a:srgbClr val="A8C1C9"/>
                </a:solidFill>
              </a:rPr>
              <a:t>Piste inspirée par « Optimal Transport for Diffeomorphic Registration »</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EXPÉRIENCES SINKHORN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15</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Une piste prometteuse — mais hors scope pour une validation complète</a:t>
            </a:r>
            <a:endParaRPr lang="en-US" sz="2700" dirty="0"/>
          </a:p>
        </p:txBody>
      </p:sp>
      <p:sp>
        <p:nvSpPr>
          <p:cNvPr id="7" name="Shape 5"/>
          <p:cNvSpPr/>
          <p:nvPr/>
        </p:nvSpPr>
        <p:spPr>
          <a:xfrm>
            <a:off x="594360" y="1417320"/>
            <a:ext cx="3429000" cy="2788920"/>
          </a:xfrm>
          <a:prstGeom prst="roundRect">
            <a:avLst>
              <a:gd name="adj" fmla="val 2295"/>
            </a:avLst>
          </a:prstGeom>
          <a:solidFill>
            <a:srgbClr val="102831"/>
          </a:solidFill>
          <a:ln w="12700">
            <a:solidFill>
              <a:srgbClr val="31545E"/>
            </a:solidFill>
            <a:prstDash val="solid"/>
          </a:ln>
        </p:spPr>
      </p:sp>
      <p:sp>
        <p:nvSpPr>
          <p:cNvPr id="8" name="Shape 6"/>
          <p:cNvSpPr/>
          <p:nvPr/>
        </p:nvSpPr>
        <p:spPr>
          <a:xfrm>
            <a:off x="594360" y="1417320"/>
            <a:ext cx="50292" cy="2788920"/>
          </a:xfrm>
          <a:prstGeom prst="rect">
            <a:avLst/>
          </a:prstGeom>
          <a:solidFill>
            <a:srgbClr val="55BFFF"/>
          </a:solidFill>
          <a:ln w="12700">
            <a:solidFill>
              <a:srgbClr val="06151B">
                <a:alpha val="0"/>
              </a:srgbClr>
            </a:solidFill>
            <a:prstDash val="solid"/>
          </a:ln>
        </p:spPr>
      </p:sp>
      <p:sp>
        <p:nvSpPr>
          <p:cNvPr id="9" name="Text 7"/>
          <p:cNvSpPr/>
          <p:nvPr/>
        </p:nvSpPr>
        <p:spPr>
          <a:xfrm>
            <a:off x="813816" y="1618488"/>
            <a:ext cx="3017520" cy="502920"/>
          </a:xfrm>
          <a:prstGeom prst="rect">
            <a:avLst/>
          </a:prstGeom>
          <a:noFill/>
          <a:ln/>
        </p:spPr>
        <p:txBody>
          <a:bodyPr wrap="square" lIns="0" tIns="0" rIns="0" bIns="0" rtlCol="0" anchor="ctr">
            <a:normAutofit/>
          </a:bodyPr>
          <a:lstStyle/>
          <a:p>
            <a:pPr indent="0" marL="0">
              <a:buNone/>
            </a:pPr>
            <a:r>
              <a:rPr lang="en-US" sz="2700" b="1" dirty="0">
                <a:solidFill>
                  <a:srgbClr val="55BFFF"/>
                </a:solidFill>
              </a:rPr>
              <a:t>90,32 %</a:t>
            </a:r>
            <a:endParaRPr lang="en-US" sz="2700" dirty="0"/>
          </a:p>
        </p:txBody>
      </p:sp>
      <p:sp>
        <p:nvSpPr>
          <p:cNvPr id="10" name="Text 8"/>
          <p:cNvSpPr/>
          <p:nvPr/>
        </p:nvSpPr>
        <p:spPr>
          <a:xfrm>
            <a:off x="813816" y="2221992"/>
            <a:ext cx="3017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QuickBundles + Sinkhorn</a:t>
            </a:r>
            <a:endParaRPr lang="en-US" sz="1550" dirty="0"/>
          </a:p>
        </p:txBody>
      </p:sp>
      <p:sp>
        <p:nvSpPr>
          <p:cNvPr id="11" name="Text 9"/>
          <p:cNvSpPr/>
          <p:nvPr/>
        </p:nvSpPr>
        <p:spPr>
          <a:xfrm>
            <a:off x="813816" y="2633472"/>
            <a:ext cx="3017520" cy="1371600"/>
          </a:xfrm>
          <a:prstGeom prst="rect">
            <a:avLst/>
          </a:prstGeom>
          <a:noFill/>
          <a:ln/>
        </p:spPr>
        <p:txBody>
          <a:bodyPr wrap="square" lIns="0" tIns="0" rIns="0" bIns="0" rtlCol="0" anchor="t">
            <a:normAutofit/>
          </a:bodyPr>
          <a:lstStyle/>
          <a:p>
            <a:pPr indent="0" marL="0">
              <a:buNone/>
            </a:pPr>
            <a:r>
              <a:rPr lang="en-US" sz="1270" dirty="0">
                <a:solidFill>
                  <a:srgbClr val="A8C1C9"/>
                </a:solidFill>
              </a:rPr>
              <a:t>trial 114</a:t>
            </a:r>
            <a:endParaRPr lang="en-US" sz="1270" dirty="0"/>
          </a:p>
          <a:p>
            <a:pPr indent="0" marL="0">
              <a:buNone/>
            </a:pPr>
            <a:r>
              <a:rPr lang="en-US" sz="1270" dirty="0">
                <a:solidFill>
                  <a:srgbClr val="A8C1C9"/>
                </a:solidFill>
              </a:rPr>
              <a:t>seuil = 6 mm</a:t>
            </a:r>
            <a:endParaRPr lang="en-US" sz="1270" dirty="0"/>
          </a:p>
          <a:p>
            <a:pPr indent="0" marL="0">
              <a:buNone/>
            </a:pPr>
            <a:r>
              <a:rPr lang="en-US" sz="1270" dirty="0">
                <a:solidFill>
                  <a:srgbClr val="A8C1C9"/>
                </a:solidFill>
              </a:rPr>
              <a:t>ε = 0,087448</a:t>
            </a:r>
            <a:endParaRPr lang="en-US" sz="1270" dirty="0"/>
          </a:p>
          <a:p>
            <a:pPr indent="0" marL="0">
              <a:buNone/>
            </a:pPr>
            <a:r>
              <a:rPr lang="en-US" sz="1270" dirty="0">
                <a:solidFill>
                  <a:srgbClr val="A8C1C9"/>
                </a:solidFill>
              </a:rPr>
              <a:t>≈ 538 représentants</a:t>
            </a:r>
            <a:endParaRPr lang="en-US" sz="1270" dirty="0"/>
          </a:p>
        </p:txBody>
      </p:sp>
      <p:sp>
        <p:nvSpPr>
          <p:cNvPr id="12" name="Shape 10"/>
          <p:cNvSpPr/>
          <p:nvPr/>
        </p:nvSpPr>
        <p:spPr>
          <a:xfrm>
            <a:off x="4389120" y="1417320"/>
            <a:ext cx="3429000" cy="2788920"/>
          </a:xfrm>
          <a:prstGeom prst="roundRect">
            <a:avLst>
              <a:gd name="adj" fmla="val 2295"/>
            </a:avLst>
          </a:prstGeom>
          <a:solidFill>
            <a:srgbClr val="102831"/>
          </a:solidFill>
          <a:ln w="12700">
            <a:solidFill>
              <a:srgbClr val="31545E"/>
            </a:solidFill>
            <a:prstDash val="solid"/>
          </a:ln>
        </p:spPr>
      </p:sp>
      <p:sp>
        <p:nvSpPr>
          <p:cNvPr id="13" name="Shape 11"/>
          <p:cNvSpPr/>
          <p:nvPr/>
        </p:nvSpPr>
        <p:spPr>
          <a:xfrm>
            <a:off x="4389120" y="1417320"/>
            <a:ext cx="50292" cy="2788920"/>
          </a:xfrm>
          <a:prstGeom prst="rect">
            <a:avLst/>
          </a:prstGeom>
          <a:solidFill>
            <a:srgbClr val="22D3C5"/>
          </a:solidFill>
          <a:ln w="12700">
            <a:solidFill>
              <a:srgbClr val="06151B">
                <a:alpha val="0"/>
              </a:srgbClr>
            </a:solidFill>
            <a:prstDash val="solid"/>
          </a:ln>
        </p:spPr>
      </p:sp>
      <p:sp>
        <p:nvSpPr>
          <p:cNvPr id="14" name="Text 12"/>
          <p:cNvSpPr/>
          <p:nvPr/>
        </p:nvSpPr>
        <p:spPr>
          <a:xfrm>
            <a:off x="4608576" y="1618488"/>
            <a:ext cx="3017520" cy="502920"/>
          </a:xfrm>
          <a:prstGeom prst="rect">
            <a:avLst/>
          </a:prstGeom>
          <a:noFill/>
          <a:ln/>
        </p:spPr>
        <p:txBody>
          <a:bodyPr wrap="square" lIns="0" tIns="0" rIns="0" bIns="0" rtlCol="0" anchor="ctr">
            <a:normAutofit/>
          </a:bodyPr>
          <a:lstStyle/>
          <a:p>
            <a:pPr indent="0" marL="0">
              <a:buNone/>
            </a:pPr>
            <a:r>
              <a:rPr lang="en-US" sz="2700" b="1" dirty="0">
                <a:solidFill>
                  <a:srgbClr val="22D3C5"/>
                </a:solidFill>
              </a:rPr>
              <a:t>93,55 %</a:t>
            </a:r>
            <a:endParaRPr lang="en-US" sz="2700" dirty="0"/>
          </a:p>
        </p:txBody>
      </p:sp>
      <p:sp>
        <p:nvSpPr>
          <p:cNvPr id="15" name="Text 13"/>
          <p:cNvSpPr/>
          <p:nvPr/>
        </p:nvSpPr>
        <p:spPr>
          <a:xfrm>
            <a:off x="4608576" y="2221992"/>
            <a:ext cx="3017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K-Means + Sinkhorn</a:t>
            </a:r>
            <a:endParaRPr lang="en-US" sz="1550" dirty="0"/>
          </a:p>
        </p:txBody>
      </p:sp>
      <p:sp>
        <p:nvSpPr>
          <p:cNvPr id="16" name="Text 14"/>
          <p:cNvSpPr/>
          <p:nvPr/>
        </p:nvSpPr>
        <p:spPr>
          <a:xfrm>
            <a:off x="4608576" y="2633472"/>
            <a:ext cx="3017520" cy="1371600"/>
          </a:xfrm>
          <a:prstGeom prst="rect">
            <a:avLst/>
          </a:prstGeom>
          <a:noFill/>
          <a:ln/>
        </p:spPr>
        <p:txBody>
          <a:bodyPr wrap="square" lIns="0" tIns="0" rIns="0" bIns="0" rtlCol="0" anchor="t">
            <a:normAutofit/>
          </a:bodyPr>
          <a:lstStyle/>
          <a:p>
            <a:pPr indent="0" marL="0">
              <a:buNone/>
            </a:pPr>
            <a:r>
              <a:rPr lang="en-US" sz="1270" dirty="0">
                <a:solidFill>
                  <a:srgbClr val="A8C1C9"/>
                </a:solidFill>
              </a:rPr>
              <a:t>trial 130</a:t>
            </a:r>
            <a:endParaRPr lang="en-US" sz="1270" dirty="0"/>
          </a:p>
          <a:p>
            <a:pPr indent="0" marL="0">
              <a:buNone/>
            </a:pPr>
            <a:r>
              <a:rPr lang="en-US" sz="1270" dirty="0">
                <a:solidFill>
                  <a:srgbClr val="A8C1C9"/>
                </a:solidFill>
              </a:rPr>
              <a:t>K = 155</a:t>
            </a:r>
            <a:endParaRPr lang="en-US" sz="1270" dirty="0"/>
          </a:p>
          <a:p>
            <a:pPr indent="0" marL="0">
              <a:buNone/>
            </a:pPr>
            <a:r>
              <a:rPr lang="en-US" sz="1270" dirty="0">
                <a:solidFill>
                  <a:srgbClr val="A8C1C9"/>
                </a:solidFill>
              </a:rPr>
              <a:t>ε = 0,017737</a:t>
            </a:r>
            <a:endParaRPr lang="en-US" sz="1270" dirty="0"/>
          </a:p>
          <a:p>
            <a:pPr indent="0" marL="0">
              <a:buNone/>
            </a:pPr>
            <a:r>
              <a:rPr lang="en-US" sz="1270" dirty="0">
                <a:solidFill>
                  <a:srgbClr val="A8C1C9"/>
                </a:solidFill>
              </a:rPr>
              <a:t>≈ 154 représentants</a:t>
            </a:r>
            <a:endParaRPr lang="en-US" sz="1270" dirty="0"/>
          </a:p>
        </p:txBody>
      </p:sp>
      <p:sp>
        <p:nvSpPr>
          <p:cNvPr id="17" name="Shape 15"/>
          <p:cNvSpPr/>
          <p:nvPr/>
        </p:nvSpPr>
        <p:spPr>
          <a:xfrm>
            <a:off x="8183880" y="1417320"/>
            <a:ext cx="3429000" cy="2788920"/>
          </a:xfrm>
          <a:prstGeom prst="roundRect">
            <a:avLst>
              <a:gd name="adj" fmla="val 2295"/>
            </a:avLst>
          </a:prstGeom>
          <a:solidFill>
            <a:srgbClr val="102831"/>
          </a:solidFill>
          <a:ln w="12700">
            <a:solidFill>
              <a:srgbClr val="31545E"/>
            </a:solidFill>
            <a:prstDash val="solid"/>
          </a:ln>
        </p:spPr>
      </p:sp>
      <p:sp>
        <p:nvSpPr>
          <p:cNvPr id="18" name="Shape 16"/>
          <p:cNvSpPr/>
          <p:nvPr/>
        </p:nvSpPr>
        <p:spPr>
          <a:xfrm>
            <a:off x="8183880" y="1417320"/>
            <a:ext cx="50292" cy="2788920"/>
          </a:xfrm>
          <a:prstGeom prst="rect">
            <a:avLst/>
          </a:prstGeom>
          <a:solidFill>
            <a:srgbClr val="FF9B55"/>
          </a:solidFill>
          <a:ln w="12700">
            <a:solidFill>
              <a:srgbClr val="06151B">
                <a:alpha val="0"/>
              </a:srgbClr>
            </a:solidFill>
            <a:prstDash val="solid"/>
          </a:ln>
        </p:spPr>
      </p:sp>
      <p:sp>
        <p:nvSpPr>
          <p:cNvPr id="19" name="Text 17"/>
          <p:cNvSpPr/>
          <p:nvPr/>
        </p:nvSpPr>
        <p:spPr>
          <a:xfrm>
            <a:off x="8403336" y="1618488"/>
            <a:ext cx="3017520" cy="502920"/>
          </a:xfrm>
          <a:prstGeom prst="rect">
            <a:avLst/>
          </a:prstGeom>
          <a:noFill/>
          <a:ln/>
        </p:spPr>
        <p:txBody>
          <a:bodyPr wrap="square" lIns="0" tIns="0" rIns="0" bIns="0" rtlCol="0" anchor="ctr">
            <a:normAutofit/>
          </a:bodyPr>
          <a:lstStyle/>
          <a:p>
            <a:pPr indent="0" marL="0">
              <a:buNone/>
            </a:pPr>
            <a:r>
              <a:rPr lang="en-US" sz="2700" b="1" dirty="0">
                <a:solidFill>
                  <a:srgbClr val="FF9B55"/>
                </a:solidFill>
              </a:rPr>
              <a:t>BUNDLES</a:t>
            </a:r>
            <a:endParaRPr lang="en-US" sz="2700" dirty="0"/>
          </a:p>
        </p:txBody>
      </p:sp>
      <p:sp>
        <p:nvSpPr>
          <p:cNvPr id="20" name="Text 18"/>
          <p:cNvSpPr/>
          <p:nvPr/>
        </p:nvSpPr>
        <p:spPr>
          <a:xfrm>
            <a:off x="8403336" y="2221992"/>
            <a:ext cx="3017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Échecs observés</a:t>
            </a:r>
            <a:endParaRPr lang="en-US" sz="1550" dirty="0"/>
          </a:p>
        </p:txBody>
      </p:sp>
      <p:sp>
        <p:nvSpPr>
          <p:cNvPr id="21" name="Text 19"/>
          <p:cNvSpPr/>
          <p:nvPr/>
        </p:nvSpPr>
        <p:spPr>
          <a:xfrm>
            <a:off x="8403336" y="2633472"/>
            <a:ext cx="3017520" cy="1371600"/>
          </a:xfrm>
          <a:prstGeom prst="rect">
            <a:avLst/>
          </a:prstGeom>
          <a:noFill/>
          <a:ln/>
        </p:spPr>
        <p:txBody>
          <a:bodyPr wrap="square" lIns="0" tIns="0" rIns="0" bIns="0" rtlCol="0" anchor="t">
            <a:normAutofit/>
          </a:bodyPr>
          <a:lstStyle/>
          <a:p>
            <a:pPr indent="0" marL="0">
              <a:buNone/>
            </a:pPr>
            <a:r>
              <a:rPr lang="en-US" sz="1270" dirty="0">
                <a:solidFill>
                  <a:srgbClr val="A8C1C9"/>
                </a:solidFill>
              </a:rPr>
              <a:t>Selon le profil ou le budget :</a:t>
            </a:r>
            <a:endParaRPr lang="en-US" sz="1270" dirty="0"/>
          </a:p>
          <a:p>
            <a:pPr indent="0" marL="0">
              <a:buNone/>
            </a:pPr>
            <a:r>
              <a:rPr lang="en-US" sz="1270" dirty="0">
                <a:solidFill>
                  <a:srgbClr val="A8C1C9"/>
                </a:solidFill>
              </a:rPr>
              <a:t>CST_L · ICP_L</a:t>
            </a:r>
            <a:endParaRPr lang="en-US" sz="1270" dirty="0"/>
          </a:p>
          <a:p>
            <a:pPr indent="0" marL="0">
              <a:buNone/>
            </a:pPr>
            <a:r>
              <a:rPr lang="en-US" sz="1270" dirty="0">
                <a:solidFill>
                  <a:srgbClr val="A8C1C9"/>
                </a:solidFill>
              </a:rPr>
              <a:t>IFOF_L · IFOF_R</a:t>
            </a:r>
            <a:endParaRPr lang="en-US" sz="1270" dirty="0"/>
          </a:p>
        </p:txBody>
      </p:sp>
      <p:sp>
        <p:nvSpPr>
          <p:cNvPr id="22" name="Shape 20"/>
          <p:cNvSpPr/>
          <p:nvPr/>
        </p:nvSpPr>
        <p:spPr>
          <a:xfrm>
            <a:off x="960120" y="4645152"/>
            <a:ext cx="10195560" cy="941832"/>
          </a:xfrm>
          <a:prstGeom prst="roundRect">
            <a:avLst/>
          </a:prstGeom>
          <a:solidFill>
            <a:srgbClr val="173640"/>
          </a:solidFill>
          <a:ln w="12700">
            <a:solidFill>
              <a:srgbClr val="FF6271"/>
            </a:solidFill>
            <a:prstDash val="solid"/>
          </a:ln>
        </p:spPr>
      </p:sp>
      <p:sp>
        <p:nvSpPr>
          <p:cNvPr id="23" name="Text 21"/>
          <p:cNvSpPr/>
          <p:nvPr/>
        </p:nvSpPr>
        <p:spPr>
          <a:xfrm>
            <a:off x="1325880" y="4937760"/>
            <a:ext cx="9464040" cy="320040"/>
          </a:xfrm>
          <a:prstGeom prst="rect">
            <a:avLst/>
          </a:prstGeom>
          <a:noFill/>
          <a:ln/>
        </p:spPr>
        <p:txBody>
          <a:bodyPr wrap="square" lIns="0" tIns="0" rIns="0" bIns="0" rtlCol="0" anchor="ctr">
            <a:normAutofit/>
          </a:bodyPr>
          <a:lstStyle/>
          <a:p>
            <a:pPr algn="ctr" indent="0" marL="0">
              <a:buNone/>
            </a:pPr>
            <a:r>
              <a:rPr lang="en-US" sz="1700" b="1" dirty="0">
                <a:solidFill>
                  <a:srgbClr val="FF6271"/>
                </a:solidFill>
              </a:rPr>
              <a:t>LDDMM : exploré dans des notebooks diagnostiques, mais non validé ni intégré au KADMON final.</a:t>
            </a:r>
            <a:endParaRPr lang="en-US" sz="1700" dirty="0"/>
          </a:p>
        </p:txBody>
      </p:sp>
      <p:sp>
        <p:nvSpPr>
          <p:cNvPr id="24" name="Text 22"/>
          <p:cNvSpPr/>
          <p:nvPr/>
        </p:nvSpPr>
        <p:spPr>
          <a:xfrm>
            <a:off x="2011680" y="5897880"/>
            <a:ext cx="8138160" cy="256032"/>
          </a:xfrm>
          <a:prstGeom prst="rect">
            <a:avLst/>
          </a:prstGeom>
          <a:noFill/>
          <a:ln/>
        </p:spPr>
        <p:txBody>
          <a:bodyPr wrap="square" lIns="0" tIns="0" rIns="0" bIns="0" rtlCol="0" anchor="ctr"/>
          <a:lstStyle/>
          <a:p>
            <a:pPr algn="ctr" indent="0" marL="0">
              <a:buNone/>
            </a:pPr>
            <a:r>
              <a:rPr lang="en-US" sz="1300" dirty="0">
                <a:solidFill>
                  <a:srgbClr val="A8C1C9"/>
                </a:solidFill>
              </a:rPr>
              <a:t>Le coût scientifique de cette direction dépassait le temps restant.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NOUVELLE REPRÉSENTATION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16</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TractoSearch Binning : chercher un compromis</a:t>
            </a:r>
            <a:endParaRPr lang="en-US" sz="2700" dirty="0"/>
          </a:p>
        </p:txBody>
      </p:sp>
      <p:sp>
        <p:nvSpPr>
          <p:cNvPr id="7" name="Shape 5"/>
          <p:cNvSpPr/>
          <p:nvPr/>
        </p:nvSpPr>
        <p:spPr>
          <a:xfrm>
            <a:off x="594360" y="1417320"/>
            <a:ext cx="3429000" cy="4389120"/>
          </a:xfrm>
          <a:prstGeom prst="roundRect">
            <a:avLst>
              <a:gd name="adj" fmla="val 1867"/>
            </a:avLst>
          </a:prstGeom>
          <a:solidFill>
            <a:srgbClr val="102831"/>
          </a:solidFill>
          <a:ln w="12700">
            <a:solidFill>
              <a:srgbClr val="31545E"/>
            </a:solidFill>
            <a:prstDash val="solid"/>
          </a:ln>
        </p:spPr>
      </p:sp>
      <p:sp>
        <p:nvSpPr>
          <p:cNvPr id="8" name="Shape 6"/>
          <p:cNvSpPr/>
          <p:nvPr/>
        </p:nvSpPr>
        <p:spPr>
          <a:xfrm>
            <a:off x="594360" y="1417320"/>
            <a:ext cx="50292" cy="4389120"/>
          </a:xfrm>
          <a:prstGeom prst="rect">
            <a:avLst/>
          </a:prstGeom>
          <a:solidFill>
            <a:srgbClr val="55BFFF"/>
          </a:solidFill>
          <a:ln w="12700">
            <a:solidFill>
              <a:srgbClr val="06151B">
                <a:alpha val="0"/>
              </a:srgbClr>
            </a:solidFill>
            <a:prstDash val="solid"/>
          </a:ln>
        </p:spPr>
      </p:sp>
      <p:sp>
        <p:nvSpPr>
          <p:cNvPr id="9" name="Text 7"/>
          <p:cNvSpPr/>
          <p:nvPr/>
        </p:nvSpPr>
        <p:spPr>
          <a:xfrm>
            <a:off x="813816" y="1618488"/>
            <a:ext cx="3017520" cy="502920"/>
          </a:xfrm>
          <a:prstGeom prst="rect">
            <a:avLst/>
          </a:prstGeom>
          <a:noFill/>
          <a:ln/>
        </p:spPr>
        <p:txBody>
          <a:bodyPr wrap="square" lIns="0" tIns="0" rIns="0" bIns="0" rtlCol="0" anchor="ctr">
            <a:normAutofit/>
          </a:bodyPr>
          <a:lstStyle/>
          <a:p>
            <a:pPr indent="0" marL="0">
              <a:buNone/>
            </a:pPr>
            <a:r>
              <a:rPr lang="en-US" sz="2700" b="1" dirty="0">
                <a:solidFill>
                  <a:srgbClr val="55BFFF"/>
                </a:solidFill>
              </a:rPr>
              <a:t>RAPIDE</a:t>
            </a:r>
            <a:endParaRPr lang="en-US" sz="2700" dirty="0"/>
          </a:p>
        </p:txBody>
      </p:sp>
      <p:sp>
        <p:nvSpPr>
          <p:cNvPr id="10" name="Text 8"/>
          <p:cNvSpPr/>
          <p:nvPr/>
        </p:nvSpPr>
        <p:spPr>
          <a:xfrm>
            <a:off x="813816" y="2221992"/>
            <a:ext cx="3017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QuickBundles</a:t>
            </a:r>
            <a:endParaRPr lang="en-US" sz="1550" dirty="0"/>
          </a:p>
        </p:txBody>
      </p:sp>
      <p:sp>
        <p:nvSpPr>
          <p:cNvPr id="11" name="Text 9"/>
          <p:cNvSpPr/>
          <p:nvPr/>
        </p:nvSpPr>
        <p:spPr>
          <a:xfrm>
            <a:off x="813816" y="2633472"/>
            <a:ext cx="3017520" cy="2971800"/>
          </a:xfrm>
          <a:prstGeom prst="rect">
            <a:avLst/>
          </a:prstGeom>
          <a:noFill/>
          <a:ln/>
        </p:spPr>
        <p:txBody>
          <a:bodyPr wrap="square" lIns="0" tIns="0" rIns="0" bIns="0" rtlCol="0" anchor="t">
            <a:normAutofit/>
          </a:bodyPr>
          <a:lstStyle/>
          <a:p>
            <a:pPr indent="0" marL="0">
              <a:buNone/>
            </a:pPr>
            <a:r>
              <a:rPr lang="en-US" sz="1270" dirty="0">
                <a:solidFill>
                  <a:srgbClr val="A8C1C9"/>
                </a:solidFill>
              </a:rPr>
              <a:t>Cardinalité dépendante du seuil et du bundle.</a:t>
            </a:r>
            <a:endParaRPr lang="en-US" sz="1270" dirty="0"/>
          </a:p>
          <a:p>
            <a:pPr indent="0" marL="0">
              <a:buNone/>
            </a:pPr>
            <a:endParaRPr lang="en-US" sz="1270" dirty="0"/>
          </a:p>
          <a:p>
            <a:pPr indent="0" marL="0">
              <a:buNone/>
            </a:pPr>
            <a:r>
              <a:rPr lang="en-US" sz="1270" dirty="0">
                <a:solidFill>
                  <a:srgbClr val="A8C1C9"/>
                </a:solidFill>
              </a:rPr>
              <a:t>Compression paire exemple :</a:t>
            </a:r>
            <a:endParaRPr lang="en-US" sz="1270" dirty="0"/>
          </a:p>
          <a:p>
            <a:pPr indent="0" marL="0">
              <a:buNone/>
            </a:pPr>
            <a:r>
              <a:rPr lang="en-US" sz="1270" dirty="0">
                <a:solidFill>
                  <a:srgbClr val="A8C1C9"/>
                </a:solidFill>
              </a:rPr>
              <a:t>0,12 s Partial · 0,19 s Sinkhorn</a:t>
            </a:r>
            <a:endParaRPr lang="en-US" sz="1270" dirty="0"/>
          </a:p>
        </p:txBody>
      </p:sp>
      <p:sp>
        <p:nvSpPr>
          <p:cNvPr id="12" name="Shape 10"/>
          <p:cNvSpPr/>
          <p:nvPr/>
        </p:nvSpPr>
        <p:spPr>
          <a:xfrm>
            <a:off x="4370832" y="1417320"/>
            <a:ext cx="3429000" cy="4389120"/>
          </a:xfrm>
          <a:prstGeom prst="roundRect">
            <a:avLst>
              <a:gd name="adj" fmla="val 1867"/>
            </a:avLst>
          </a:prstGeom>
          <a:solidFill>
            <a:srgbClr val="102831"/>
          </a:solidFill>
          <a:ln w="12700">
            <a:solidFill>
              <a:srgbClr val="31545E"/>
            </a:solidFill>
            <a:prstDash val="solid"/>
          </a:ln>
        </p:spPr>
      </p:sp>
      <p:sp>
        <p:nvSpPr>
          <p:cNvPr id="13" name="Shape 11"/>
          <p:cNvSpPr/>
          <p:nvPr/>
        </p:nvSpPr>
        <p:spPr>
          <a:xfrm>
            <a:off x="4370832" y="1417320"/>
            <a:ext cx="50292" cy="4389120"/>
          </a:xfrm>
          <a:prstGeom prst="rect">
            <a:avLst/>
          </a:prstGeom>
          <a:solidFill>
            <a:srgbClr val="FF9B55"/>
          </a:solidFill>
          <a:ln w="12700">
            <a:solidFill>
              <a:srgbClr val="06151B">
                <a:alpha val="0"/>
              </a:srgbClr>
            </a:solidFill>
            <a:prstDash val="solid"/>
          </a:ln>
        </p:spPr>
      </p:sp>
      <p:sp>
        <p:nvSpPr>
          <p:cNvPr id="14" name="Text 12"/>
          <p:cNvSpPr/>
          <p:nvPr/>
        </p:nvSpPr>
        <p:spPr>
          <a:xfrm>
            <a:off x="4590288" y="1618488"/>
            <a:ext cx="3017520" cy="502920"/>
          </a:xfrm>
          <a:prstGeom prst="rect">
            <a:avLst/>
          </a:prstGeom>
          <a:noFill/>
          <a:ln/>
        </p:spPr>
        <p:txBody>
          <a:bodyPr wrap="square" lIns="0" tIns="0" rIns="0" bIns="0" rtlCol="0" anchor="ctr">
            <a:normAutofit/>
          </a:bodyPr>
          <a:lstStyle/>
          <a:p>
            <a:pPr indent="0" marL="0">
              <a:buNone/>
            </a:pPr>
            <a:r>
              <a:rPr lang="en-US" sz="2700" b="1" dirty="0">
                <a:solidFill>
                  <a:srgbClr val="FF9B55"/>
                </a:solidFill>
              </a:rPr>
              <a:t>CONTRÔLE</a:t>
            </a:r>
            <a:endParaRPr lang="en-US" sz="2700" dirty="0"/>
          </a:p>
        </p:txBody>
      </p:sp>
      <p:sp>
        <p:nvSpPr>
          <p:cNvPr id="15" name="Text 13"/>
          <p:cNvSpPr/>
          <p:nvPr/>
        </p:nvSpPr>
        <p:spPr>
          <a:xfrm>
            <a:off x="4590288" y="2221992"/>
            <a:ext cx="3017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K-Means</a:t>
            </a:r>
            <a:endParaRPr lang="en-US" sz="1550" dirty="0"/>
          </a:p>
        </p:txBody>
      </p:sp>
      <p:sp>
        <p:nvSpPr>
          <p:cNvPr id="16" name="Text 14"/>
          <p:cNvSpPr/>
          <p:nvPr/>
        </p:nvSpPr>
        <p:spPr>
          <a:xfrm>
            <a:off x="4590288" y="2633472"/>
            <a:ext cx="3017520" cy="2971800"/>
          </a:xfrm>
          <a:prstGeom prst="rect">
            <a:avLst/>
          </a:prstGeom>
          <a:noFill/>
          <a:ln/>
        </p:spPr>
        <p:txBody>
          <a:bodyPr wrap="square" lIns="0" tIns="0" rIns="0" bIns="0" rtlCol="0" anchor="t">
            <a:normAutofit/>
          </a:bodyPr>
          <a:lstStyle/>
          <a:p>
            <a:pPr indent="0" marL="0">
              <a:buNone/>
            </a:pPr>
            <a:r>
              <a:rPr lang="en-US" sz="1270" dirty="0">
                <a:solidFill>
                  <a:srgbClr val="A8C1C9"/>
                </a:solidFill>
              </a:rPr>
              <a:t>Cardinalité K contrôlée.</a:t>
            </a:r>
            <a:endParaRPr lang="en-US" sz="1270" dirty="0"/>
          </a:p>
          <a:p>
            <a:pPr indent="0" marL="0">
              <a:buNone/>
            </a:pPr>
            <a:endParaRPr lang="en-US" sz="1270" dirty="0"/>
          </a:p>
          <a:p>
            <a:pPr indent="0" marL="0">
              <a:buNone/>
            </a:pPr>
            <a:r>
              <a:rPr lang="en-US" sz="1270" dirty="0">
                <a:solidFill>
                  <a:srgbClr val="A8C1C9"/>
                </a:solidFill>
              </a:rPr>
              <a:t>Compression paire exemple :</a:t>
            </a:r>
            <a:endParaRPr lang="en-US" sz="1270" dirty="0"/>
          </a:p>
          <a:p>
            <a:pPr indent="0" marL="0">
              <a:buNone/>
            </a:pPr>
            <a:r>
              <a:rPr lang="en-US" sz="1270" dirty="0">
                <a:solidFill>
                  <a:srgbClr val="A8C1C9"/>
                </a:solidFill>
              </a:rPr>
              <a:t>2,24 s Partial · 3,21 s Sinkhorn</a:t>
            </a:r>
            <a:endParaRPr lang="en-US" sz="1270" dirty="0"/>
          </a:p>
        </p:txBody>
      </p:sp>
      <p:sp>
        <p:nvSpPr>
          <p:cNvPr id="17" name="Shape 15"/>
          <p:cNvSpPr/>
          <p:nvPr/>
        </p:nvSpPr>
        <p:spPr>
          <a:xfrm>
            <a:off x="8147304" y="1417320"/>
            <a:ext cx="3429000" cy="4389120"/>
          </a:xfrm>
          <a:prstGeom prst="roundRect">
            <a:avLst>
              <a:gd name="adj" fmla="val 1867"/>
            </a:avLst>
          </a:prstGeom>
          <a:solidFill>
            <a:srgbClr val="102831"/>
          </a:solidFill>
          <a:ln w="12700">
            <a:solidFill>
              <a:srgbClr val="31545E"/>
            </a:solidFill>
            <a:prstDash val="solid"/>
          </a:ln>
        </p:spPr>
      </p:sp>
      <p:sp>
        <p:nvSpPr>
          <p:cNvPr id="18" name="Shape 16"/>
          <p:cNvSpPr/>
          <p:nvPr/>
        </p:nvSpPr>
        <p:spPr>
          <a:xfrm>
            <a:off x="8147304" y="1417320"/>
            <a:ext cx="50292" cy="4389120"/>
          </a:xfrm>
          <a:prstGeom prst="rect">
            <a:avLst/>
          </a:prstGeom>
          <a:solidFill>
            <a:srgbClr val="22D3C5"/>
          </a:solidFill>
          <a:ln w="12700">
            <a:solidFill>
              <a:srgbClr val="06151B">
                <a:alpha val="0"/>
              </a:srgbClr>
            </a:solidFill>
            <a:prstDash val="solid"/>
          </a:ln>
        </p:spPr>
      </p:sp>
      <p:sp>
        <p:nvSpPr>
          <p:cNvPr id="19" name="Text 17"/>
          <p:cNvSpPr/>
          <p:nvPr/>
        </p:nvSpPr>
        <p:spPr>
          <a:xfrm>
            <a:off x="8366760" y="1618488"/>
            <a:ext cx="3017520" cy="502920"/>
          </a:xfrm>
          <a:prstGeom prst="rect">
            <a:avLst/>
          </a:prstGeom>
          <a:noFill/>
          <a:ln/>
        </p:spPr>
        <p:txBody>
          <a:bodyPr wrap="square" lIns="0" tIns="0" rIns="0" bIns="0" rtlCol="0" anchor="ctr">
            <a:normAutofit/>
          </a:bodyPr>
          <a:lstStyle/>
          <a:p>
            <a:pPr indent="0" marL="0">
              <a:buNone/>
            </a:pPr>
            <a:r>
              <a:rPr lang="en-US" sz="2700" b="1" dirty="0">
                <a:solidFill>
                  <a:srgbClr val="22D3C5"/>
                </a:solidFill>
              </a:rPr>
              <a:t>COMPROMIS</a:t>
            </a:r>
            <a:endParaRPr lang="en-US" sz="2700" dirty="0"/>
          </a:p>
        </p:txBody>
      </p:sp>
      <p:sp>
        <p:nvSpPr>
          <p:cNvPr id="20" name="Text 18"/>
          <p:cNvSpPr/>
          <p:nvPr/>
        </p:nvSpPr>
        <p:spPr>
          <a:xfrm>
            <a:off x="8366760" y="2221992"/>
            <a:ext cx="301752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Binning</a:t>
            </a:r>
            <a:endParaRPr lang="en-US" sz="1550" dirty="0"/>
          </a:p>
        </p:txBody>
      </p:sp>
      <p:sp>
        <p:nvSpPr>
          <p:cNvPr id="21" name="Text 19"/>
          <p:cNvSpPr/>
          <p:nvPr/>
        </p:nvSpPr>
        <p:spPr>
          <a:xfrm>
            <a:off x="8366760" y="2633472"/>
            <a:ext cx="3017520" cy="2971800"/>
          </a:xfrm>
          <a:prstGeom prst="rect">
            <a:avLst/>
          </a:prstGeom>
          <a:noFill/>
          <a:ln/>
        </p:spPr>
        <p:txBody>
          <a:bodyPr wrap="square" lIns="0" tIns="0" rIns="0" bIns="0" rtlCol="0" anchor="t">
            <a:normAutofit/>
          </a:bodyPr>
          <a:lstStyle/>
          <a:p>
            <a:pPr indent="0" marL="0">
              <a:buNone/>
            </a:pPr>
            <a:r>
              <a:rPr lang="en-US" sz="1270" dirty="0">
                <a:solidFill>
                  <a:srgbClr val="A8C1C9"/>
                </a:solidFill>
              </a:rPr>
              <a:t>Cardinalité issue d’une discrétisation spatiale.</a:t>
            </a:r>
            <a:endParaRPr lang="en-US" sz="1270" dirty="0"/>
          </a:p>
          <a:p>
            <a:pPr indent="0" marL="0">
              <a:buNone/>
            </a:pPr>
            <a:endParaRPr lang="en-US" sz="1270" dirty="0"/>
          </a:p>
          <a:p>
            <a:pPr indent="0" marL="0">
              <a:buNone/>
            </a:pPr>
            <a:r>
              <a:rPr lang="en-US" sz="1270" dirty="0">
                <a:solidFill>
                  <a:srgbClr val="A8C1C9"/>
                </a:solidFill>
              </a:rPr>
              <a:t>Compression paire exemple :</a:t>
            </a:r>
            <a:endParaRPr lang="en-US" sz="1270" dirty="0"/>
          </a:p>
          <a:p>
            <a:pPr indent="0" marL="0">
              <a:buNone/>
            </a:pPr>
            <a:r>
              <a:rPr lang="en-US" sz="1270" dirty="0">
                <a:solidFill>
                  <a:srgbClr val="A8C1C9"/>
                </a:solidFill>
              </a:rPr>
              <a:t>1,18 s Partial · 1,21 s Sinkhorn</a:t>
            </a:r>
            <a:endParaRPr lang="en-US" sz="1270" dirty="0"/>
          </a:p>
        </p:txBody>
      </p:sp>
      <p:sp>
        <p:nvSpPr>
          <p:cNvPr id="22" name="Text 20"/>
          <p:cNvSpPr/>
          <p:nvPr/>
        </p:nvSpPr>
        <p:spPr>
          <a:xfrm>
            <a:off x="1920240" y="5961888"/>
            <a:ext cx="8321040" cy="274320"/>
          </a:xfrm>
          <a:prstGeom prst="rect">
            <a:avLst/>
          </a:prstGeom>
          <a:noFill/>
          <a:ln/>
        </p:spPr>
        <p:txBody>
          <a:bodyPr wrap="square" lIns="0" tIns="0" rIns="0" bIns="0" rtlCol="0" anchor="ctr"/>
          <a:lstStyle/>
          <a:p>
            <a:pPr algn="ctr" indent="0" marL="0">
              <a:buNone/>
            </a:pPr>
            <a:r>
              <a:rPr lang="en-US" sz="1400" b="1" dirty="0">
                <a:solidFill>
                  <a:srgbClr val="F4FAFC"/>
                </a:solidFill>
              </a:rPr>
              <a:t>Profils Optuna Binning : Partial OT 96,77 % · Sinkhorn 96,77 %</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COMPARAISON FINALE</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17</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Six profils anatomiques Optuna</a:t>
            </a:r>
            <a:endParaRPr lang="en-US" sz="2700" dirty="0"/>
          </a:p>
        </p:txBody>
      </p:sp>
      <p:sp>
        <p:nvSpPr>
          <p:cNvPr id="7" name="Text 5"/>
          <p:cNvSpPr/>
          <p:nvPr/>
        </p:nvSpPr>
        <p:spPr>
          <a:xfrm>
            <a:off x="365760" y="1024128"/>
            <a:ext cx="10927080" cy="292608"/>
          </a:xfrm>
          <a:prstGeom prst="rect">
            <a:avLst/>
          </a:prstGeom>
          <a:noFill/>
          <a:ln/>
        </p:spPr>
        <p:txBody>
          <a:bodyPr wrap="square" lIns="0" tIns="0" rIns="0" bIns="0" rtlCol="0" anchor="ctr">
            <a:normAutofit/>
          </a:bodyPr>
          <a:lstStyle/>
          <a:p>
            <a:pPr indent="0" marL="0">
              <a:buNone/>
            </a:pPr>
            <a:r>
              <a:rPr lang="en-US" sz="1350" dirty="0">
                <a:solidFill>
                  <a:srgbClr val="A8C1C9"/>
                </a:solidFill>
              </a:rPr>
              <a:t>La performance ne se résume ni au transport, ni au nombre de représentants.</a:t>
            </a:r>
            <a:endParaRPr lang="en-US" sz="1350" dirty="0"/>
          </a:p>
        </p:txBody>
      </p:sp>
      <p:graphicFrame>
        <p:nvGraphicFramePr>
          <p:cNvPr id="8" name="Chart 0" descr=""/>
          <p:cNvGraphicFramePr/>
          <p:nvPr/>
        </p:nvGraphicFramePr>
        <p:xfrm>
          <a:off x="502920" y="1371600"/>
          <a:ext cx="672084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452360" y="1508760"/>
          <a:ext cx="4160520" cy="4160520"/>
        </p:xfrm>
        <a:graphic>
          <a:graphicData uri="http://schemas.openxmlformats.org/drawingml/2006/table">
            <a:tbl>
              <a:tblPr/>
              <a:tblGrid>
                <a:gridCol w="1600200"/>
                <a:gridCol w="1234440"/>
                <a:gridCol w="1051560"/>
              </a:tblGrid>
              <a:tr h="493776">
                <a:tc>
                  <a:txBody>
                    <a:bodyPr/>
                    <a:lstStyle/>
                    <a:p>
                      <a:pPr indent="0" marL="0">
                        <a:buNone/>
                      </a:pPr>
                      <a:r>
                        <a:rPr lang="en-US" sz="1150" dirty="0">
                          <a:solidFill>
                            <a:srgbClr val="A8C1C9"/>
                          </a:solidFill>
                        </a:rPr>
                        <a:t>Profil</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Représ. moy.</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m / ε</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r>
              <a:tr h="493776">
                <a:tc>
                  <a:txBody>
                    <a:bodyPr/>
                    <a:lstStyle/>
                    <a:p>
                      <a:pPr indent="0" marL="0">
                        <a:buNone/>
                      </a:pPr>
                      <a:r>
                        <a:rPr lang="en-US" sz="1150" dirty="0">
                          <a:solidFill>
                            <a:srgbClr val="A8C1C9"/>
                          </a:solidFill>
                        </a:rPr>
                        <a:t>QB + Partial</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296</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0,99</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r>
              <a:tr h="493776">
                <a:tc>
                  <a:txBody>
                    <a:bodyPr/>
                    <a:lstStyle/>
                    <a:p>
                      <a:pPr indent="0" marL="0">
                        <a:buNone/>
                      </a:pPr>
                      <a:r>
                        <a:rPr lang="en-US" sz="1150" dirty="0">
                          <a:solidFill>
                            <a:srgbClr val="A8C1C9"/>
                          </a:solidFill>
                        </a:rPr>
                        <a:t>QB + Sinkhorn</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538</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0,0874</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r>
              <a:tr h="493776">
                <a:tc>
                  <a:txBody>
                    <a:bodyPr/>
                    <a:lstStyle/>
                    <a:p>
                      <a:pPr indent="0" marL="0">
                        <a:buNone/>
                      </a:pPr>
                      <a:r>
                        <a:rPr lang="en-US" sz="1150" dirty="0">
                          <a:solidFill>
                            <a:srgbClr val="A8C1C9"/>
                          </a:solidFill>
                        </a:rPr>
                        <a:t>KM + Partial</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40</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0,63</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r>
              <a:tr h="493776">
                <a:tc>
                  <a:txBody>
                    <a:bodyPr/>
                    <a:lstStyle/>
                    <a:p>
                      <a:pPr indent="0" marL="0">
                        <a:buNone/>
                      </a:pPr>
                      <a:r>
                        <a:rPr lang="en-US" sz="1150" dirty="0">
                          <a:solidFill>
                            <a:srgbClr val="A8C1C9"/>
                          </a:solidFill>
                        </a:rPr>
                        <a:t>KM + Sinkhorn</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154</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0,0177</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r>
              <a:tr h="493776">
                <a:tc>
                  <a:txBody>
                    <a:bodyPr/>
                    <a:lstStyle/>
                    <a:p>
                      <a:pPr indent="0" marL="0">
                        <a:buNone/>
                      </a:pPr>
                      <a:r>
                        <a:rPr lang="en-US" sz="1150" dirty="0">
                          <a:solidFill>
                            <a:srgbClr val="A8C1C9"/>
                          </a:solidFill>
                        </a:rPr>
                        <a:t>Bin + Partial</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147</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0,68</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r>
              <a:tr h="493776">
                <a:tc>
                  <a:txBody>
                    <a:bodyPr/>
                    <a:lstStyle/>
                    <a:p>
                      <a:pPr indent="0" marL="0">
                        <a:buNone/>
                      </a:pPr>
                      <a:r>
                        <a:rPr lang="en-US" sz="1150" dirty="0">
                          <a:solidFill>
                            <a:srgbClr val="A8C1C9"/>
                          </a:solidFill>
                        </a:rPr>
                        <a:t>Bin + Sinkhorn</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986</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c>
                  <a:txBody>
                    <a:bodyPr/>
                    <a:lstStyle/>
                    <a:p>
                      <a:pPr indent="0" marL="0">
                        <a:buNone/>
                      </a:pPr>
                      <a:r>
                        <a:rPr lang="en-US" sz="1150" dirty="0">
                          <a:solidFill>
                            <a:srgbClr val="A8C1C9"/>
                          </a:solidFill>
                        </a:rPr>
                        <a:t>0,0252</a:t>
                      </a:r>
                      <a:endParaRPr lang="en-US" sz="1150" dirty="0"/>
                    </a:p>
                  </a:txBody>
                  <a:tcPr marL="82296" marR="82296" marT="64008" marB="45720" anchor="mid">
                    <a:lnL w="8890" cap="flat" cmpd="sng" algn="ctr">
                      <a:solidFill>
                        <a:srgbClr val="31545E"/>
                      </a:solidFill>
                      <a:prstDash val="solid"/>
                      <a:round/>
                      <a:headEnd type="none" w="med" len="med"/>
                      <a:tailEnd type="none" w="med" len="med"/>
                    </a:lnL>
                    <a:lnR w="8890" cap="flat" cmpd="sng" algn="ctr">
                      <a:solidFill>
                        <a:srgbClr val="31545E"/>
                      </a:solidFill>
                      <a:prstDash val="solid"/>
                      <a:round/>
                      <a:headEnd type="none" w="med" len="med"/>
                      <a:tailEnd type="none" w="med" len="med"/>
                    </a:lnR>
                    <a:lnT w="8890" cap="flat" cmpd="sng" algn="ctr">
                      <a:solidFill>
                        <a:srgbClr val="31545E"/>
                      </a:solidFill>
                      <a:prstDash val="solid"/>
                      <a:round/>
                      <a:headEnd type="none" w="med" len="med"/>
                      <a:tailEnd type="none" w="med" len="med"/>
                    </a:lnT>
                    <a:lnB w="8890" cap="flat" cmpd="sng" algn="ctr">
                      <a:solidFill>
                        <a:srgbClr val="31545E"/>
                      </a:solidFill>
                      <a:prstDash val="solid"/>
                      <a:round/>
                      <a:headEnd type="none" w="med" len="med"/>
                      <a:tailEnd type="none" w="med" len="med"/>
                    </a:lnB>
                    <a:solidFill>
                      <a:srgbClr val="102831"/>
                    </a:solidFill>
                  </a:tcPr>
                </a:tc>
              </a:tr>
            </a:tbl>
          </a:graphicData>
        </a:graphic>
      </p:graphicFrame>
      <p:sp>
        <p:nvSpPr>
          <p:cNvPr id="10" name="Text 6"/>
          <p:cNvSpPr/>
          <p:nvPr/>
        </p:nvSpPr>
        <p:spPr>
          <a:xfrm>
            <a:off x="1143000" y="5925312"/>
            <a:ext cx="9875520" cy="274320"/>
          </a:xfrm>
          <a:prstGeom prst="rect">
            <a:avLst/>
          </a:prstGeom>
          <a:noFill/>
          <a:ln/>
        </p:spPr>
        <p:txBody>
          <a:bodyPr wrap="square" lIns="0" tIns="0" rIns="0" bIns="0" rtlCol="0" anchor="ctr"/>
          <a:lstStyle/>
          <a:p>
            <a:pPr algn="ctr" indent="0" marL="0">
              <a:buNone/>
            </a:pPr>
            <a:r>
              <a:rPr lang="en-US" sz="1250" dirty="0">
                <a:solidFill>
                  <a:srgbClr val="22D3C5"/>
                </a:solidFill>
              </a:rPr>
              <a:t>Les profils privilégient la couverture et la résolution anatomique tout en conservant une RE-ID forte.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LIMITES SCIENTIFIQUES</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18</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Que mesure réellement le pipeline ?</a:t>
            </a:r>
            <a:endParaRPr lang="en-US" sz="2700" dirty="0"/>
          </a:p>
        </p:txBody>
      </p:sp>
      <p:sp>
        <p:nvSpPr>
          <p:cNvPr id="7" name="Shape 5"/>
          <p:cNvSpPr/>
          <p:nvPr/>
        </p:nvSpPr>
        <p:spPr>
          <a:xfrm>
            <a:off x="502920" y="1417320"/>
            <a:ext cx="2514600" cy="1051560"/>
          </a:xfrm>
          <a:prstGeom prst="roundRect">
            <a:avLst>
              <a:gd name="adj" fmla="val 5217"/>
            </a:avLst>
          </a:prstGeom>
          <a:solidFill>
            <a:srgbClr val="102831"/>
          </a:solidFill>
          <a:ln w="12700">
            <a:solidFill>
              <a:srgbClr val="55BFFF"/>
            </a:solidFill>
            <a:prstDash val="solid"/>
          </a:ln>
        </p:spPr>
      </p:sp>
      <p:sp>
        <p:nvSpPr>
          <p:cNvPr id="8" name="Text 6"/>
          <p:cNvSpPr/>
          <p:nvPr/>
        </p:nvSpPr>
        <p:spPr>
          <a:xfrm>
            <a:off x="667512" y="1581912"/>
            <a:ext cx="2185416" cy="228600"/>
          </a:xfrm>
          <a:prstGeom prst="rect">
            <a:avLst/>
          </a:prstGeom>
          <a:noFill/>
          <a:ln/>
        </p:spPr>
        <p:txBody>
          <a:bodyPr wrap="square" lIns="0" tIns="0" rIns="0" bIns="0" rtlCol="0" anchor="ctr"/>
          <a:lstStyle/>
          <a:p>
            <a:pPr algn="ctr" indent="0" marL="0">
              <a:buNone/>
            </a:pPr>
            <a:r>
              <a:rPr lang="en-US" sz="1500" b="1" dirty="0">
                <a:solidFill>
                  <a:srgbClr val="55BFFF"/>
                </a:solidFill>
              </a:rPr>
              <a:t>Acquisition</a:t>
            </a:r>
            <a:endParaRPr lang="en-US" sz="1500" dirty="0"/>
          </a:p>
        </p:txBody>
      </p:sp>
      <p:sp>
        <p:nvSpPr>
          <p:cNvPr id="9" name="Text 7"/>
          <p:cNvSpPr/>
          <p:nvPr/>
        </p:nvSpPr>
        <p:spPr>
          <a:xfrm>
            <a:off x="667512" y="2002536"/>
            <a:ext cx="2185416" cy="182880"/>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séquences et résolution</a:t>
            </a:r>
            <a:endParaRPr lang="en-US" sz="1050" dirty="0"/>
          </a:p>
        </p:txBody>
      </p:sp>
      <p:sp>
        <p:nvSpPr>
          <p:cNvPr id="10" name="Shape 8"/>
          <p:cNvSpPr/>
          <p:nvPr/>
        </p:nvSpPr>
        <p:spPr>
          <a:xfrm>
            <a:off x="3383280" y="1417320"/>
            <a:ext cx="2514600" cy="1051560"/>
          </a:xfrm>
          <a:prstGeom prst="roundRect">
            <a:avLst>
              <a:gd name="adj" fmla="val 5217"/>
            </a:avLst>
          </a:prstGeom>
          <a:solidFill>
            <a:srgbClr val="102831"/>
          </a:solidFill>
          <a:ln w="12700">
            <a:solidFill>
              <a:srgbClr val="FF9B55"/>
            </a:solidFill>
            <a:prstDash val="solid"/>
          </a:ln>
        </p:spPr>
      </p:sp>
      <p:sp>
        <p:nvSpPr>
          <p:cNvPr id="11" name="Text 9"/>
          <p:cNvSpPr/>
          <p:nvPr/>
        </p:nvSpPr>
        <p:spPr>
          <a:xfrm>
            <a:off x="3547872" y="1581912"/>
            <a:ext cx="2185416" cy="228600"/>
          </a:xfrm>
          <a:prstGeom prst="rect">
            <a:avLst/>
          </a:prstGeom>
          <a:noFill/>
          <a:ln/>
        </p:spPr>
        <p:txBody>
          <a:bodyPr wrap="square" lIns="0" tIns="0" rIns="0" bIns="0" rtlCol="0" anchor="ctr"/>
          <a:lstStyle/>
          <a:p>
            <a:pPr algn="ctr" indent="0" marL="0">
              <a:buNone/>
            </a:pPr>
            <a:r>
              <a:rPr lang="en-US" sz="1500" b="1" dirty="0">
                <a:solidFill>
                  <a:srgbClr val="FF9B55"/>
                </a:solidFill>
              </a:rPr>
              <a:t>Reconstruction</a:t>
            </a:r>
            <a:endParaRPr lang="en-US" sz="1500" dirty="0"/>
          </a:p>
        </p:txBody>
      </p:sp>
      <p:sp>
        <p:nvSpPr>
          <p:cNvPr id="12" name="Text 10"/>
          <p:cNvSpPr/>
          <p:nvPr/>
        </p:nvSpPr>
        <p:spPr>
          <a:xfrm>
            <a:off x="3547872" y="2002536"/>
            <a:ext cx="2185416" cy="182880"/>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algorithme et paramètres</a:t>
            </a:r>
            <a:endParaRPr lang="en-US" sz="1050" dirty="0"/>
          </a:p>
        </p:txBody>
      </p:sp>
      <p:sp>
        <p:nvSpPr>
          <p:cNvPr id="13" name="Shape 11"/>
          <p:cNvSpPr/>
          <p:nvPr/>
        </p:nvSpPr>
        <p:spPr>
          <a:xfrm>
            <a:off x="6263640" y="1417320"/>
            <a:ext cx="2514600" cy="1051560"/>
          </a:xfrm>
          <a:prstGeom prst="roundRect">
            <a:avLst>
              <a:gd name="adj" fmla="val 5217"/>
            </a:avLst>
          </a:prstGeom>
          <a:solidFill>
            <a:srgbClr val="102831"/>
          </a:solidFill>
          <a:ln w="12700">
            <a:solidFill>
              <a:srgbClr val="FF6271"/>
            </a:solidFill>
            <a:prstDash val="solid"/>
          </a:ln>
        </p:spPr>
      </p:sp>
      <p:sp>
        <p:nvSpPr>
          <p:cNvPr id="14" name="Text 12"/>
          <p:cNvSpPr/>
          <p:nvPr/>
        </p:nvSpPr>
        <p:spPr>
          <a:xfrm>
            <a:off x="6428232" y="1581912"/>
            <a:ext cx="2185416" cy="228600"/>
          </a:xfrm>
          <a:prstGeom prst="rect">
            <a:avLst/>
          </a:prstGeom>
          <a:noFill/>
          <a:ln/>
        </p:spPr>
        <p:txBody>
          <a:bodyPr wrap="square" lIns="0" tIns="0" rIns="0" bIns="0" rtlCol="0" anchor="ctr"/>
          <a:lstStyle/>
          <a:p>
            <a:pPr algn="ctr" indent="0" marL="0">
              <a:buNone/>
            </a:pPr>
            <a:r>
              <a:rPr lang="en-US" sz="1500" b="1" dirty="0">
                <a:solidFill>
                  <a:srgbClr val="FF6271"/>
                </a:solidFill>
              </a:rPr>
              <a:t>Datasets</a:t>
            </a:r>
            <a:endParaRPr lang="en-US" sz="1500" dirty="0"/>
          </a:p>
        </p:txBody>
      </p:sp>
      <p:sp>
        <p:nvSpPr>
          <p:cNvPr id="15" name="Text 13"/>
          <p:cNvSpPr/>
          <p:nvPr/>
        </p:nvSpPr>
        <p:spPr>
          <a:xfrm>
            <a:off x="6428232" y="2002536"/>
            <a:ext cx="2185416" cy="182880"/>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protocoles non harmonisés</a:t>
            </a:r>
            <a:endParaRPr lang="en-US" sz="1050" dirty="0"/>
          </a:p>
        </p:txBody>
      </p:sp>
      <p:sp>
        <p:nvSpPr>
          <p:cNvPr id="16" name="Shape 14"/>
          <p:cNvSpPr/>
          <p:nvPr/>
        </p:nvSpPr>
        <p:spPr>
          <a:xfrm>
            <a:off x="9144000" y="1417320"/>
            <a:ext cx="2514600" cy="1051560"/>
          </a:xfrm>
          <a:prstGeom prst="roundRect">
            <a:avLst>
              <a:gd name="adj" fmla="val 5217"/>
            </a:avLst>
          </a:prstGeom>
          <a:solidFill>
            <a:srgbClr val="102831"/>
          </a:solidFill>
          <a:ln w="12700">
            <a:solidFill>
              <a:srgbClr val="22D3C5"/>
            </a:solidFill>
            <a:prstDash val="solid"/>
          </a:ln>
        </p:spPr>
      </p:sp>
      <p:sp>
        <p:nvSpPr>
          <p:cNvPr id="17" name="Text 15"/>
          <p:cNvSpPr/>
          <p:nvPr/>
        </p:nvSpPr>
        <p:spPr>
          <a:xfrm>
            <a:off x="9308592" y="1581912"/>
            <a:ext cx="2185416" cy="228600"/>
          </a:xfrm>
          <a:prstGeom prst="rect">
            <a:avLst/>
          </a:prstGeom>
          <a:noFill/>
          <a:ln/>
        </p:spPr>
        <p:txBody>
          <a:bodyPr wrap="square" lIns="0" tIns="0" rIns="0" bIns="0" rtlCol="0" anchor="ctr"/>
          <a:lstStyle/>
          <a:p>
            <a:pPr algn="ctr" indent="0" marL="0">
              <a:buNone/>
            </a:pPr>
            <a:r>
              <a:rPr lang="en-US" sz="1500" b="1" dirty="0">
                <a:solidFill>
                  <a:srgbClr val="22D3C5"/>
                </a:solidFill>
              </a:rPr>
              <a:t>Coordonnées</a:t>
            </a:r>
            <a:endParaRPr lang="en-US" sz="1500" dirty="0"/>
          </a:p>
        </p:txBody>
      </p:sp>
      <p:sp>
        <p:nvSpPr>
          <p:cNvPr id="18" name="Text 16"/>
          <p:cNvSpPr/>
          <p:nvPr/>
        </p:nvSpPr>
        <p:spPr>
          <a:xfrm>
            <a:off x="9308592" y="2002536"/>
            <a:ext cx="2185416" cy="182880"/>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RASMM et transformations</a:t>
            </a:r>
            <a:endParaRPr lang="en-US" sz="1050" dirty="0"/>
          </a:p>
        </p:txBody>
      </p:sp>
      <p:sp>
        <p:nvSpPr>
          <p:cNvPr id="19" name="Shape 17"/>
          <p:cNvSpPr/>
          <p:nvPr/>
        </p:nvSpPr>
        <p:spPr>
          <a:xfrm>
            <a:off x="502920" y="2834640"/>
            <a:ext cx="2514600" cy="1051560"/>
          </a:xfrm>
          <a:prstGeom prst="roundRect">
            <a:avLst>
              <a:gd name="adj" fmla="val 5217"/>
            </a:avLst>
          </a:prstGeom>
          <a:solidFill>
            <a:srgbClr val="102831"/>
          </a:solidFill>
          <a:ln w="12700">
            <a:solidFill>
              <a:srgbClr val="7EE081"/>
            </a:solidFill>
            <a:prstDash val="solid"/>
          </a:ln>
        </p:spPr>
      </p:sp>
      <p:sp>
        <p:nvSpPr>
          <p:cNvPr id="20" name="Text 18"/>
          <p:cNvSpPr/>
          <p:nvPr/>
        </p:nvSpPr>
        <p:spPr>
          <a:xfrm>
            <a:off x="667512" y="2999232"/>
            <a:ext cx="2185416" cy="228600"/>
          </a:xfrm>
          <a:prstGeom prst="rect">
            <a:avLst/>
          </a:prstGeom>
          <a:noFill/>
          <a:ln/>
        </p:spPr>
        <p:txBody>
          <a:bodyPr wrap="square" lIns="0" tIns="0" rIns="0" bIns="0" rtlCol="0" anchor="ctr"/>
          <a:lstStyle/>
          <a:p>
            <a:pPr algn="ctr" indent="0" marL="0">
              <a:buNone/>
            </a:pPr>
            <a:r>
              <a:rPr lang="en-US" sz="1500" b="1" dirty="0">
                <a:solidFill>
                  <a:srgbClr val="7EE081"/>
                </a:solidFill>
              </a:rPr>
              <a:t>Registration</a:t>
            </a:r>
            <a:endParaRPr lang="en-US" sz="1500" dirty="0"/>
          </a:p>
        </p:txBody>
      </p:sp>
      <p:sp>
        <p:nvSpPr>
          <p:cNvPr id="21" name="Text 19"/>
          <p:cNvSpPr/>
          <p:nvPr/>
        </p:nvSpPr>
        <p:spPr>
          <a:xfrm>
            <a:off x="667512" y="3419856"/>
            <a:ext cx="2185416" cy="182880"/>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alignement des streamlines</a:t>
            </a:r>
            <a:endParaRPr lang="en-US" sz="1050" dirty="0"/>
          </a:p>
        </p:txBody>
      </p:sp>
      <p:sp>
        <p:nvSpPr>
          <p:cNvPr id="22" name="Shape 20"/>
          <p:cNvSpPr/>
          <p:nvPr/>
        </p:nvSpPr>
        <p:spPr>
          <a:xfrm>
            <a:off x="3383280" y="2834640"/>
            <a:ext cx="2514600" cy="1051560"/>
          </a:xfrm>
          <a:prstGeom prst="roundRect">
            <a:avLst>
              <a:gd name="adj" fmla="val 5217"/>
            </a:avLst>
          </a:prstGeom>
          <a:solidFill>
            <a:srgbClr val="102831"/>
          </a:solidFill>
          <a:ln w="12700">
            <a:solidFill>
              <a:srgbClr val="F4D35E"/>
            </a:solidFill>
            <a:prstDash val="solid"/>
          </a:ln>
        </p:spPr>
      </p:sp>
      <p:sp>
        <p:nvSpPr>
          <p:cNvPr id="23" name="Text 21"/>
          <p:cNvSpPr/>
          <p:nvPr/>
        </p:nvSpPr>
        <p:spPr>
          <a:xfrm>
            <a:off x="3547872" y="2999232"/>
            <a:ext cx="2185416" cy="228600"/>
          </a:xfrm>
          <a:prstGeom prst="rect">
            <a:avLst/>
          </a:prstGeom>
          <a:noFill/>
          <a:ln/>
        </p:spPr>
        <p:txBody>
          <a:bodyPr wrap="square" lIns="0" tIns="0" rIns="0" bIns="0" rtlCol="0" anchor="ctr"/>
          <a:lstStyle/>
          <a:p>
            <a:pPr algn="ctr" indent="0" marL="0">
              <a:buNone/>
            </a:pPr>
            <a:r>
              <a:rPr lang="en-US" sz="1500" b="1" dirty="0">
                <a:solidFill>
                  <a:srgbClr val="F4D35E"/>
                </a:solidFill>
              </a:rPr>
              <a:t>Variabilité</a:t>
            </a:r>
            <a:endParaRPr lang="en-US" sz="1500" dirty="0"/>
          </a:p>
        </p:txBody>
      </p:sp>
      <p:sp>
        <p:nvSpPr>
          <p:cNvPr id="24" name="Text 22"/>
          <p:cNvSpPr/>
          <p:nvPr/>
        </p:nvSpPr>
        <p:spPr>
          <a:xfrm>
            <a:off x="3547872" y="3419856"/>
            <a:ext cx="2185416" cy="182880"/>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inter-sujet / intra-sujet</a:t>
            </a:r>
            <a:endParaRPr lang="en-US" sz="1050" dirty="0"/>
          </a:p>
        </p:txBody>
      </p:sp>
      <p:sp>
        <p:nvSpPr>
          <p:cNvPr id="25" name="Shape 23"/>
          <p:cNvSpPr/>
          <p:nvPr/>
        </p:nvSpPr>
        <p:spPr>
          <a:xfrm>
            <a:off x="6263640" y="2834640"/>
            <a:ext cx="2514600" cy="1051560"/>
          </a:xfrm>
          <a:prstGeom prst="roundRect">
            <a:avLst>
              <a:gd name="adj" fmla="val 5217"/>
            </a:avLst>
          </a:prstGeom>
          <a:solidFill>
            <a:srgbClr val="102831"/>
          </a:solidFill>
          <a:ln w="12700">
            <a:solidFill>
              <a:srgbClr val="55BFFF"/>
            </a:solidFill>
            <a:prstDash val="solid"/>
          </a:ln>
        </p:spPr>
      </p:sp>
      <p:sp>
        <p:nvSpPr>
          <p:cNvPr id="26" name="Text 24"/>
          <p:cNvSpPr/>
          <p:nvPr/>
        </p:nvSpPr>
        <p:spPr>
          <a:xfrm>
            <a:off x="6428232" y="2999232"/>
            <a:ext cx="2185416" cy="228600"/>
          </a:xfrm>
          <a:prstGeom prst="rect">
            <a:avLst/>
          </a:prstGeom>
          <a:noFill/>
          <a:ln/>
        </p:spPr>
        <p:txBody>
          <a:bodyPr wrap="square" lIns="0" tIns="0" rIns="0" bIns="0" rtlCol="0" anchor="ctr"/>
          <a:lstStyle/>
          <a:p>
            <a:pPr algn="ctr" indent="0" marL="0">
              <a:buNone/>
            </a:pPr>
            <a:r>
              <a:rPr lang="en-US" sz="1500" b="1" dirty="0">
                <a:solidFill>
                  <a:srgbClr val="55BFFF"/>
                </a:solidFill>
              </a:rPr>
              <a:t>Distance</a:t>
            </a:r>
            <a:endParaRPr lang="en-US" sz="1500" dirty="0"/>
          </a:p>
        </p:txBody>
      </p:sp>
      <p:sp>
        <p:nvSpPr>
          <p:cNvPr id="27" name="Text 25"/>
          <p:cNvSpPr/>
          <p:nvPr/>
        </p:nvSpPr>
        <p:spPr>
          <a:xfrm>
            <a:off x="6428232" y="3419856"/>
            <a:ext cx="2185416" cy="182880"/>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MDF et alternatives</a:t>
            </a:r>
            <a:endParaRPr lang="en-US" sz="1050" dirty="0"/>
          </a:p>
        </p:txBody>
      </p:sp>
      <p:sp>
        <p:nvSpPr>
          <p:cNvPr id="28" name="Shape 26"/>
          <p:cNvSpPr/>
          <p:nvPr/>
        </p:nvSpPr>
        <p:spPr>
          <a:xfrm>
            <a:off x="9144000" y="2834640"/>
            <a:ext cx="2514600" cy="1051560"/>
          </a:xfrm>
          <a:prstGeom prst="roundRect">
            <a:avLst>
              <a:gd name="adj" fmla="val 5217"/>
            </a:avLst>
          </a:prstGeom>
          <a:solidFill>
            <a:srgbClr val="102831"/>
          </a:solidFill>
          <a:ln w="12700">
            <a:solidFill>
              <a:srgbClr val="FF9B55"/>
            </a:solidFill>
            <a:prstDash val="solid"/>
          </a:ln>
        </p:spPr>
      </p:sp>
      <p:sp>
        <p:nvSpPr>
          <p:cNvPr id="29" name="Text 27"/>
          <p:cNvSpPr/>
          <p:nvPr/>
        </p:nvSpPr>
        <p:spPr>
          <a:xfrm>
            <a:off x="9308592" y="2999232"/>
            <a:ext cx="2185416" cy="228600"/>
          </a:xfrm>
          <a:prstGeom prst="rect">
            <a:avLst/>
          </a:prstGeom>
          <a:noFill/>
          <a:ln/>
        </p:spPr>
        <p:txBody>
          <a:bodyPr wrap="square" lIns="0" tIns="0" rIns="0" bIns="0" rtlCol="0" anchor="ctr"/>
          <a:lstStyle/>
          <a:p>
            <a:pPr algn="ctr" indent="0" marL="0">
              <a:buNone/>
            </a:pPr>
            <a:r>
              <a:rPr lang="en-US" sz="1500" b="1" dirty="0">
                <a:solidFill>
                  <a:srgbClr val="FF9B55"/>
                </a:solidFill>
              </a:rPr>
              <a:t>Compression + OT</a:t>
            </a:r>
            <a:endParaRPr lang="en-US" sz="1500" dirty="0"/>
          </a:p>
        </p:txBody>
      </p:sp>
      <p:sp>
        <p:nvSpPr>
          <p:cNvPr id="30" name="Text 28"/>
          <p:cNvSpPr/>
          <p:nvPr/>
        </p:nvSpPr>
        <p:spPr>
          <a:xfrm>
            <a:off x="9308592" y="3419856"/>
            <a:ext cx="2185416" cy="182880"/>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représentants, m et ε</a:t>
            </a:r>
            <a:endParaRPr lang="en-US" sz="1050" dirty="0"/>
          </a:p>
        </p:txBody>
      </p:sp>
      <p:sp>
        <p:nvSpPr>
          <p:cNvPr id="31" name="Shape 29"/>
          <p:cNvSpPr/>
          <p:nvPr/>
        </p:nvSpPr>
        <p:spPr>
          <a:xfrm>
            <a:off x="914400" y="4572000"/>
            <a:ext cx="10287000" cy="1078992"/>
          </a:xfrm>
          <a:prstGeom prst="roundRect">
            <a:avLst/>
          </a:prstGeom>
          <a:solidFill>
            <a:srgbClr val="FF6271">
              <a:alpha val="14000"/>
            </a:srgbClr>
          </a:solidFill>
          <a:ln w="12700">
            <a:solidFill>
              <a:srgbClr val="FF6271"/>
            </a:solidFill>
            <a:prstDash val="solid"/>
          </a:ln>
        </p:spPr>
      </p:sp>
      <p:sp>
        <p:nvSpPr>
          <p:cNvPr id="32" name="Text 30"/>
          <p:cNvSpPr/>
          <p:nvPr/>
        </p:nvSpPr>
        <p:spPr>
          <a:xfrm>
            <a:off x="1234440" y="4846320"/>
            <a:ext cx="1645920" cy="292608"/>
          </a:xfrm>
          <a:prstGeom prst="rect">
            <a:avLst/>
          </a:prstGeom>
          <a:noFill/>
          <a:ln/>
        </p:spPr>
        <p:txBody>
          <a:bodyPr wrap="square" lIns="0" tIns="0" rIns="0" bIns="0" rtlCol="0" anchor="ctr"/>
          <a:lstStyle/>
          <a:p>
            <a:pPr indent="0" marL="0">
              <a:buNone/>
            </a:pPr>
            <a:r>
              <a:rPr lang="en-US" sz="1700" b="1" dirty="0">
                <a:solidFill>
                  <a:srgbClr val="FF6271"/>
                </a:solidFill>
              </a:rPr>
              <a:t>Risque majeur</a:t>
            </a:r>
            <a:endParaRPr lang="en-US" sz="1700" dirty="0"/>
          </a:p>
        </p:txBody>
      </p:sp>
      <p:sp>
        <p:nvSpPr>
          <p:cNvPr id="33" name="Text 31"/>
          <p:cNvSpPr/>
          <p:nvPr/>
        </p:nvSpPr>
        <p:spPr>
          <a:xfrm>
            <a:off x="2743200" y="4809744"/>
            <a:ext cx="8001000" cy="384048"/>
          </a:xfrm>
          <a:prstGeom prst="rect">
            <a:avLst/>
          </a:prstGeom>
          <a:noFill/>
          <a:ln/>
        </p:spPr>
        <p:txBody>
          <a:bodyPr wrap="square" lIns="0" tIns="0" rIns="0" bIns="0" rtlCol="0" anchor="ctr">
            <a:normAutofit/>
          </a:bodyPr>
          <a:lstStyle/>
          <a:p>
            <a:pPr indent="0" marL="0">
              <a:buNone/>
            </a:pPr>
            <a:r>
              <a:rPr lang="en-US" sz="1800" b="1" dirty="0">
                <a:solidFill>
                  <a:srgbClr val="F4FAFC"/>
                </a:solidFill>
              </a:rPr>
              <a:t>mesurer une différence de pipeline ou d’acquisition plutôt que la différence biologique recherchée</a:t>
            </a:r>
            <a:endParaRPr lang="en-US" sz="1800" dirty="0"/>
          </a:p>
        </p:txBody>
      </p:sp>
      <p:sp>
        <p:nvSpPr>
          <p:cNvPr id="34" name="Text 32"/>
          <p:cNvSpPr/>
          <p:nvPr/>
        </p:nvSpPr>
        <p:spPr>
          <a:xfrm>
            <a:off x="1508760" y="5989320"/>
            <a:ext cx="9144000" cy="256032"/>
          </a:xfrm>
          <a:prstGeom prst="rect">
            <a:avLst/>
          </a:prstGeom>
          <a:noFill/>
          <a:ln/>
        </p:spPr>
        <p:txBody>
          <a:bodyPr wrap="square" lIns="0" tIns="0" rIns="0" bIns="0" rtlCol="0" anchor="ctr"/>
          <a:lstStyle/>
          <a:p>
            <a:pPr algn="ctr" indent="0" marL="0">
              <a:buNone/>
            </a:pPr>
            <a:r>
              <a:rPr lang="en-US" sz="1250" dirty="0">
                <a:solidFill>
                  <a:srgbClr val="A8C1C9"/>
                </a:solidFill>
              </a:rPr>
              <a:t>Une comparaison pathologique exigera une harmonisation et des contrôles beaucoup plus stricts.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PROJECTION BARYCENTRIQUE</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19</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Le plan de transport suggère une position cible</a:t>
            </a:r>
            <a:endParaRPr lang="en-US" sz="2700" dirty="0"/>
          </a:p>
        </p:txBody>
      </p:sp>
      <p:sp>
        <p:nvSpPr>
          <p:cNvPr id="7" name="Text 5"/>
          <p:cNvSpPr/>
          <p:nvPr/>
        </p:nvSpPr>
        <p:spPr>
          <a:xfrm>
            <a:off x="365760" y="1024128"/>
            <a:ext cx="10927080" cy="292608"/>
          </a:xfrm>
          <a:prstGeom prst="rect">
            <a:avLst/>
          </a:prstGeom>
          <a:noFill/>
          <a:ln/>
        </p:spPr>
        <p:txBody>
          <a:bodyPr wrap="square" lIns="0" tIns="0" rIns="0" bIns="0" rtlCol="0" anchor="ctr">
            <a:normAutofit/>
          </a:bodyPr>
          <a:lstStyle/>
          <a:p>
            <a:pPr indent="0" marL="0">
              <a:buNone/>
            </a:pPr>
            <a:r>
              <a:rPr lang="en-US" sz="1350" dirty="0">
                <a:solidFill>
                  <a:srgbClr val="A8C1C9"/>
                </a:solidFill>
              </a:rPr>
              <a:t>Une estimation locale simple — pas une déformation anatomique validée.</a:t>
            </a:r>
            <a:endParaRPr lang="en-US" sz="1350" dirty="0"/>
          </a:p>
        </p:txBody>
      </p:sp>
      <p:sp>
        <p:nvSpPr>
          <p:cNvPr id="8" name="Shape 6"/>
          <p:cNvSpPr/>
          <p:nvPr/>
        </p:nvSpPr>
        <p:spPr>
          <a:xfrm>
            <a:off x="640080" y="1600200"/>
            <a:ext cx="3154680" cy="4023360"/>
          </a:xfrm>
          <a:prstGeom prst="roundRect">
            <a:avLst>
              <a:gd name="adj" fmla="val 2029"/>
            </a:avLst>
          </a:prstGeom>
          <a:solidFill>
            <a:srgbClr val="102831"/>
          </a:solidFill>
          <a:ln w="12700">
            <a:solidFill>
              <a:srgbClr val="31545E"/>
            </a:solidFill>
            <a:prstDash val="solid"/>
          </a:ln>
        </p:spPr>
      </p:sp>
      <p:sp>
        <p:nvSpPr>
          <p:cNvPr id="9" name="Shape 7"/>
          <p:cNvSpPr/>
          <p:nvPr/>
        </p:nvSpPr>
        <p:spPr>
          <a:xfrm>
            <a:off x="640080" y="1600200"/>
            <a:ext cx="50292" cy="4023360"/>
          </a:xfrm>
          <a:prstGeom prst="rect">
            <a:avLst/>
          </a:prstGeom>
          <a:solidFill>
            <a:srgbClr val="55BFFF"/>
          </a:solidFill>
          <a:ln w="12700">
            <a:solidFill>
              <a:srgbClr val="06151B">
                <a:alpha val="0"/>
              </a:srgbClr>
            </a:solidFill>
            <a:prstDash val="solid"/>
          </a:ln>
        </p:spPr>
      </p:sp>
      <p:sp>
        <p:nvSpPr>
          <p:cNvPr id="10" name="Text 8"/>
          <p:cNvSpPr/>
          <p:nvPr/>
        </p:nvSpPr>
        <p:spPr>
          <a:xfrm>
            <a:off x="859536" y="1801368"/>
            <a:ext cx="2743200" cy="502920"/>
          </a:xfrm>
          <a:prstGeom prst="rect">
            <a:avLst/>
          </a:prstGeom>
          <a:noFill/>
          <a:ln/>
        </p:spPr>
        <p:txBody>
          <a:bodyPr wrap="square" lIns="0" tIns="0" rIns="0" bIns="0" rtlCol="0" anchor="ctr">
            <a:normAutofit/>
          </a:bodyPr>
          <a:lstStyle/>
          <a:p>
            <a:pPr indent="0" marL="0">
              <a:buNone/>
            </a:pPr>
            <a:r>
              <a:rPr lang="en-US" sz="2700" b="1" dirty="0">
                <a:solidFill>
                  <a:srgbClr val="55BFFF"/>
                </a:solidFill>
              </a:rPr>
              <a:t>Pᵢ·</a:t>
            </a:r>
            <a:endParaRPr lang="en-US" sz="2700" dirty="0"/>
          </a:p>
        </p:txBody>
      </p:sp>
      <p:sp>
        <p:nvSpPr>
          <p:cNvPr id="11" name="Text 9"/>
          <p:cNvSpPr/>
          <p:nvPr/>
        </p:nvSpPr>
        <p:spPr>
          <a:xfrm>
            <a:off x="859536" y="2404872"/>
            <a:ext cx="274320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1 · Lire une ligne du plan</a:t>
            </a:r>
            <a:endParaRPr lang="en-US" sz="1550" dirty="0"/>
          </a:p>
        </p:txBody>
      </p:sp>
      <p:sp>
        <p:nvSpPr>
          <p:cNvPr id="12" name="Text 10"/>
          <p:cNvSpPr/>
          <p:nvPr/>
        </p:nvSpPr>
        <p:spPr>
          <a:xfrm>
            <a:off x="859536" y="2816352"/>
            <a:ext cx="2743200" cy="2606040"/>
          </a:xfrm>
          <a:prstGeom prst="rect">
            <a:avLst/>
          </a:prstGeom>
          <a:noFill/>
          <a:ln/>
        </p:spPr>
        <p:txBody>
          <a:bodyPr wrap="square" lIns="0" tIns="0" rIns="0" bIns="0" rtlCol="0" anchor="t">
            <a:normAutofit/>
          </a:bodyPr>
          <a:lstStyle/>
          <a:p>
            <a:pPr indent="0" marL="0">
              <a:buNone/>
            </a:pPr>
            <a:r>
              <a:rPr lang="en-US" sz="1270" dirty="0">
                <a:solidFill>
                  <a:srgbClr val="A8C1C9"/>
                </a:solidFill>
              </a:rPr>
              <a:t>Pour la source xᵢ, la ligne Pᵢⱼ indique quelle masse est envoyée vers chaque cible yⱼ.</a:t>
            </a:r>
            <a:endParaRPr lang="en-US" sz="1270" dirty="0"/>
          </a:p>
        </p:txBody>
      </p:sp>
      <p:sp>
        <p:nvSpPr>
          <p:cNvPr id="13" name="Shape 11"/>
          <p:cNvSpPr/>
          <p:nvPr/>
        </p:nvSpPr>
        <p:spPr>
          <a:xfrm>
            <a:off x="3977640" y="3246120"/>
            <a:ext cx="292608" cy="530352"/>
          </a:xfrm>
          <a:prstGeom prst="chevron">
            <a:avLst/>
          </a:prstGeom>
          <a:solidFill>
            <a:srgbClr val="31545E"/>
          </a:solidFill>
          <a:ln w="12700">
            <a:solidFill>
              <a:srgbClr val="06151B">
                <a:alpha val="0"/>
              </a:srgbClr>
            </a:solidFill>
            <a:prstDash val="solid"/>
          </a:ln>
        </p:spPr>
      </p:sp>
      <p:sp>
        <p:nvSpPr>
          <p:cNvPr id="14" name="Shape 12"/>
          <p:cNvSpPr/>
          <p:nvPr/>
        </p:nvSpPr>
        <p:spPr>
          <a:xfrm>
            <a:off x="4480560" y="1600200"/>
            <a:ext cx="3246120" cy="4023360"/>
          </a:xfrm>
          <a:prstGeom prst="roundRect">
            <a:avLst>
              <a:gd name="adj" fmla="val 1972"/>
            </a:avLst>
          </a:prstGeom>
          <a:solidFill>
            <a:srgbClr val="102831"/>
          </a:solidFill>
          <a:ln w="12700">
            <a:solidFill>
              <a:srgbClr val="31545E"/>
            </a:solidFill>
            <a:prstDash val="solid"/>
          </a:ln>
        </p:spPr>
      </p:sp>
      <p:sp>
        <p:nvSpPr>
          <p:cNvPr id="15" name="Shape 13"/>
          <p:cNvSpPr/>
          <p:nvPr/>
        </p:nvSpPr>
        <p:spPr>
          <a:xfrm>
            <a:off x="4480560" y="1600200"/>
            <a:ext cx="50292" cy="4023360"/>
          </a:xfrm>
          <a:prstGeom prst="rect">
            <a:avLst/>
          </a:prstGeom>
          <a:solidFill>
            <a:srgbClr val="22D3C5"/>
          </a:solidFill>
          <a:ln w="12700">
            <a:solidFill>
              <a:srgbClr val="06151B">
                <a:alpha val="0"/>
              </a:srgbClr>
            </a:solidFill>
            <a:prstDash val="solid"/>
          </a:ln>
        </p:spPr>
      </p:sp>
      <p:sp>
        <p:nvSpPr>
          <p:cNvPr id="16" name="Text 14"/>
          <p:cNvSpPr/>
          <p:nvPr/>
        </p:nvSpPr>
        <p:spPr>
          <a:xfrm>
            <a:off x="4700016" y="1801368"/>
            <a:ext cx="2834640" cy="502920"/>
          </a:xfrm>
          <a:prstGeom prst="rect">
            <a:avLst/>
          </a:prstGeom>
          <a:noFill/>
          <a:ln/>
        </p:spPr>
        <p:txBody>
          <a:bodyPr wrap="square" lIns="0" tIns="0" rIns="0" bIns="0" rtlCol="0" anchor="ctr">
            <a:normAutofit/>
          </a:bodyPr>
          <a:lstStyle/>
          <a:p>
            <a:pPr indent="0" marL="0">
              <a:buNone/>
            </a:pPr>
            <a:r>
              <a:rPr lang="en-US" sz="2700" b="1" dirty="0">
                <a:solidFill>
                  <a:srgbClr val="22D3C5"/>
                </a:solidFill>
              </a:rPr>
              <a:t>x̂ᵢ</a:t>
            </a:r>
            <a:endParaRPr lang="en-US" sz="2700" dirty="0"/>
          </a:p>
        </p:txBody>
      </p:sp>
      <p:sp>
        <p:nvSpPr>
          <p:cNvPr id="17" name="Text 15"/>
          <p:cNvSpPr/>
          <p:nvPr/>
        </p:nvSpPr>
        <p:spPr>
          <a:xfrm>
            <a:off x="4700016" y="2404872"/>
            <a:ext cx="283464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2 · Faire le barycentre</a:t>
            </a:r>
            <a:endParaRPr lang="en-US" sz="1550" dirty="0"/>
          </a:p>
        </p:txBody>
      </p:sp>
      <p:sp>
        <p:nvSpPr>
          <p:cNvPr id="18" name="Text 16"/>
          <p:cNvSpPr/>
          <p:nvPr/>
        </p:nvSpPr>
        <p:spPr>
          <a:xfrm>
            <a:off x="4700016" y="2816352"/>
            <a:ext cx="2834640" cy="2606040"/>
          </a:xfrm>
          <a:prstGeom prst="rect">
            <a:avLst/>
          </a:prstGeom>
          <a:noFill/>
          <a:ln/>
        </p:spPr>
        <p:txBody>
          <a:bodyPr wrap="square" lIns="0" tIns="0" rIns="0" bIns="0" rtlCol="0" anchor="t">
            <a:normAutofit/>
          </a:bodyPr>
          <a:lstStyle/>
          <a:p>
            <a:pPr indent="0" marL="0">
              <a:buNone/>
            </a:pPr>
            <a:r>
              <a:rPr lang="en-US" sz="1270" dirty="0">
                <a:solidFill>
                  <a:srgbClr val="A8C1C9"/>
                </a:solidFill>
              </a:rPr>
              <a:t>x̂ᵢ = Σⱼ Pᵢⱼ yᵢⱼ* / Σⱼ Pᵢⱼ</a:t>
            </a:r>
            <a:endParaRPr lang="en-US" sz="1270" dirty="0"/>
          </a:p>
          <a:p>
            <a:pPr indent="0" marL="0">
              <a:buNone/>
            </a:pPr>
            <a:endParaRPr lang="en-US" sz="1270" dirty="0"/>
          </a:p>
          <a:p>
            <a:pPr indent="0" marL="0">
              <a:buNone/>
            </a:pPr>
            <a:r>
              <a:rPr lang="en-US" sz="1270" dirty="0">
                <a:solidFill>
                  <a:srgbClr val="A8C1C9"/>
                </a:solidFill>
              </a:rPr>
              <a:t>Les cibles sont orientées relativement à la source avant la moyenne.</a:t>
            </a:r>
            <a:endParaRPr lang="en-US" sz="1270" dirty="0"/>
          </a:p>
        </p:txBody>
      </p:sp>
      <p:sp>
        <p:nvSpPr>
          <p:cNvPr id="19" name="Shape 17"/>
          <p:cNvSpPr/>
          <p:nvPr/>
        </p:nvSpPr>
        <p:spPr>
          <a:xfrm>
            <a:off x="7909560" y="3246120"/>
            <a:ext cx="292608" cy="530352"/>
          </a:xfrm>
          <a:prstGeom prst="chevron">
            <a:avLst/>
          </a:prstGeom>
          <a:solidFill>
            <a:srgbClr val="31545E"/>
          </a:solidFill>
          <a:ln w="12700">
            <a:solidFill>
              <a:srgbClr val="06151B">
                <a:alpha val="0"/>
              </a:srgbClr>
            </a:solidFill>
            <a:prstDash val="solid"/>
          </a:ln>
        </p:spPr>
      </p:sp>
      <p:sp>
        <p:nvSpPr>
          <p:cNvPr id="20" name="Shape 18"/>
          <p:cNvSpPr/>
          <p:nvPr/>
        </p:nvSpPr>
        <p:spPr>
          <a:xfrm>
            <a:off x="8412480" y="1600200"/>
            <a:ext cx="3154680" cy="4023360"/>
          </a:xfrm>
          <a:prstGeom prst="roundRect">
            <a:avLst>
              <a:gd name="adj" fmla="val 2029"/>
            </a:avLst>
          </a:prstGeom>
          <a:solidFill>
            <a:srgbClr val="102831"/>
          </a:solidFill>
          <a:ln w="12700">
            <a:solidFill>
              <a:srgbClr val="31545E"/>
            </a:solidFill>
            <a:prstDash val="solid"/>
          </a:ln>
        </p:spPr>
      </p:sp>
      <p:sp>
        <p:nvSpPr>
          <p:cNvPr id="21" name="Shape 19"/>
          <p:cNvSpPr/>
          <p:nvPr/>
        </p:nvSpPr>
        <p:spPr>
          <a:xfrm>
            <a:off x="8412480" y="1600200"/>
            <a:ext cx="50292" cy="4023360"/>
          </a:xfrm>
          <a:prstGeom prst="rect">
            <a:avLst/>
          </a:prstGeom>
          <a:solidFill>
            <a:srgbClr val="FF9B55"/>
          </a:solidFill>
          <a:ln w="12700">
            <a:solidFill>
              <a:srgbClr val="06151B">
                <a:alpha val="0"/>
              </a:srgbClr>
            </a:solidFill>
            <a:prstDash val="solid"/>
          </a:ln>
        </p:spPr>
      </p:sp>
      <p:sp>
        <p:nvSpPr>
          <p:cNvPr id="22" name="Text 20"/>
          <p:cNvSpPr/>
          <p:nvPr/>
        </p:nvSpPr>
        <p:spPr>
          <a:xfrm>
            <a:off x="8631936" y="1801368"/>
            <a:ext cx="2743200" cy="502920"/>
          </a:xfrm>
          <a:prstGeom prst="rect">
            <a:avLst/>
          </a:prstGeom>
          <a:noFill/>
          <a:ln/>
        </p:spPr>
        <p:txBody>
          <a:bodyPr wrap="square" lIns="0" tIns="0" rIns="0" bIns="0" rtlCol="0" anchor="ctr">
            <a:normAutofit/>
          </a:bodyPr>
          <a:lstStyle/>
          <a:p>
            <a:pPr indent="0" marL="0">
              <a:buNone/>
            </a:pPr>
            <a:r>
              <a:rPr lang="en-US" sz="2700" b="1" dirty="0">
                <a:solidFill>
                  <a:srgbClr val="FF9B55"/>
                </a:solidFill>
              </a:rPr>
              <a:t>dᵢ</a:t>
            </a:r>
            <a:endParaRPr lang="en-US" sz="2700" dirty="0"/>
          </a:p>
        </p:txBody>
      </p:sp>
      <p:sp>
        <p:nvSpPr>
          <p:cNvPr id="23" name="Text 21"/>
          <p:cNvSpPr/>
          <p:nvPr/>
        </p:nvSpPr>
        <p:spPr>
          <a:xfrm>
            <a:off x="8631936" y="2404872"/>
            <a:ext cx="2743200" cy="329184"/>
          </a:xfrm>
          <a:prstGeom prst="rect">
            <a:avLst/>
          </a:prstGeom>
          <a:noFill/>
          <a:ln/>
        </p:spPr>
        <p:txBody>
          <a:bodyPr wrap="square" lIns="0" tIns="0" rIns="0" bIns="0" rtlCol="0" anchor="ctr">
            <a:normAutofit/>
          </a:bodyPr>
          <a:lstStyle/>
          <a:p>
            <a:pPr indent="0" marL="0">
              <a:buNone/>
            </a:pPr>
            <a:r>
              <a:rPr lang="en-US" sz="1550" b="1" dirty="0">
                <a:solidFill>
                  <a:srgbClr val="F4FAFC"/>
                </a:solidFill>
              </a:rPr>
              <a:t>3 · Calculer le déplacement</a:t>
            </a:r>
            <a:endParaRPr lang="en-US" sz="1550" dirty="0"/>
          </a:p>
        </p:txBody>
      </p:sp>
      <p:sp>
        <p:nvSpPr>
          <p:cNvPr id="24" name="Text 22"/>
          <p:cNvSpPr/>
          <p:nvPr/>
        </p:nvSpPr>
        <p:spPr>
          <a:xfrm>
            <a:off x="8631936" y="2816352"/>
            <a:ext cx="2743200" cy="2606040"/>
          </a:xfrm>
          <a:prstGeom prst="rect">
            <a:avLst/>
          </a:prstGeom>
          <a:noFill/>
          <a:ln/>
        </p:spPr>
        <p:txBody>
          <a:bodyPr wrap="square" lIns="0" tIns="0" rIns="0" bIns="0" rtlCol="0" anchor="t">
            <a:normAutofit/>
          </a:bodyPr>
          <a:lstStyle/>
          <a:p>
            <a:pPr indent="0" marL="0">
              <a:buNone/>
            </a:pPr>
            <a:r>
              <a:rPr lang="en-US" sz="1270" dirty="0">
                <a:solidFill>
                  <a:srgbClr val="A8C1C9"/>
                </a:solidFill>
              </a:rPr>
              <a:t>dᵢ = x̂ᵢ − xᵢ</a:t>
            </a:r>
            <a:endParaRPr lang="en-US" sz="1270" dirty="0"/>
          </a:p>
          <a:p>
            <a:pPr indent="0" marL="0">
              <a:buNone/>
            </a:pPr>
            <a:endParaRPr lang="en-US" sz="1270" dirty="0"/>
          </a:p>
          <a:p>
            <a:pPr indent="0" marL="0">
              <a:buNone/>
            </a:pPr>
            <a:r>
              <a:rPr lang="en-US" sz="1270" dirty="0">
                <a:solidFill>
                  <a:srgbClr val="A8C1C9"/>
                </a:solidFill>
              </a:rPr>
              <a:t>La norme de dᵢ donne une magnitude locale en millimètres.</a:t>
            </a:r>
            <a:endParaRPr lang="en-US" sz="1270" dirty="0"/>
          </a:p>
        </p:txBody>
      </p:sp>
      <p:sp>
        <p:nvSpPr>
          <p:cNvPr id="25" name="Text 23"/>
          <p:cNvSpPr/>
          <p:nvPr/>
        </p:nvSpPr>
        <p:spPr>
          <a:xfrm>
            <a:off x="960120" y="5961888"/>
            <a:ext cx="10287000" cy="274320"/>
          </a:xfrm>
          <a:prstGeom prst="rect">
            <a:avLst/>
          </a:prstGeom>
          <a:noFill/>
          <a:ln/>
        </p:spPr>
        <p:txBody>
          <a:bodyPr wrap="square" lIns="0" tIns="0" rIns="0" bIns="0" rtlCol="0" anchor="ctr"/>
          <a:lstStyle/>
          <a:p>
            <a:pPr algn="ctr" indent="0" marL="0">
              <a:buNone/>
            </a:pPr>
            <a:r>
              <a:rPr lang="en-US" sz="1250" b="1" dirty="0">
                <a:solidFill>
                  <a:srgbClr val="A8C1C9"/>
                </a:solidFill>
              </a:rPr>
              <a:t>RASMM commun requis   ·   projection suggérée par OT   ·   aucune garantie diffeomorphique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ANIMATION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20</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De la source à la projection barycentrique</a:t>
            </a:r>
            <a:endParaRPr lang="en-US" sz="2700" dirty="0"/>
          </a:p>
        </p:txBody>
      </p:sp>
      <p:sp>
        <p:nvSpPr>
          <p:cNvPr id="7" name="Shape 5"/>
          <p:cNvSpPr/>
          <p:nvPr/>
        </p:nvSpPr>
        <p:spPr>
          <a:xfrm>
            <a:off x="594360" y="1325880"/>
            <a:ext cx="10972800" cy="4526280"/>
          </a:xfrm>
          <a:prstGeom prst="roundRect">
            <a:avLst>
              <a:gd name="adj" fmla="val 1212"/>
            </a:avLst>
          </a:prstGeom>
          <a:solidFill>
            <a:srgbClr val="102831">
              <a:alpha val="85000"/>
            </a:srgbClr>
          </a:solidFill>
          <a:ln w="12700">
            <a:solidFill>
              <a:srgbClr val="55BFFF"/>
            </a:solidFill>
            <a:prstDash val="solid"/>
          </a:ln>
        </p:spPr>
      </p:sp>
      <p:sp>
        <p:nvSpPr>
          <p:cNvPr id="8" name="Text 6"/>
          <p:cNvSpPr/>
          <p:nvPr/>
        </p:nvSpPr>
        <p:spPr>
          <a:xfrm>
            <a:off x="822960" y="3314700"/>
            <a:ext cx="10515600" cy="274320"/>
          </a:xfrm>
          <a:prstGeom prst="rect">
            <a:avLst/>
          </a:prstGeom>
          <a:noFill/>
          <a:ln/>
        </p:spPr>
        <p:txBody>
          <a:bodyPr wrap="square" lIns="0" tIns="0" rIns="0" bIns="0" rtlCol="0" anchor="ctr">
            <a:normAutofit/>
          </a:bodyPr>
          <a:lstStyle/>
          <a:p>
            <a:pPr algn="ctr" indent="0" marL="0">
              <a:buNone/>
            </a:pPr>
            <a:r>
              <a:rPr lang="en-US" sz="1700" b="1" dirty="0">
                <a:solidFill>
                  <a:srgbClr val="55BFFF"/>
                </a:solidFill>
              </a:rPr>
              <a:t>VIDÉO FURY À INSÉRER</a:t>
            </a:r>
            <a:endParaRPr lang="en-US" sz="1700" dirty="0"/>
          </a:p>
        </p:txBody>
      </p:sp>
      <p:sp>
        <p:nvSpPr>
          <p:cNvPr id="9" name="Text 7"/>
          <p:cNvSpPr/>
          <p:nvPr/>
        </p:nvSpPr>
        <p:spPr>
          <a:xfrm>
            <a:off x="822960" y="3698748"/>
            <a:ext cx="10515600" cy="201168"/>
          </a:xfrm>
          <a:prstGeom prst="rect">
            <a:avLst/>
          </a:prstGeom>
          <a:noFill/>
          <a:ln/>
        </p:spPr>
        <p:txBody>
          <a:bodyPr wrap="square" lIns="0" tIns="0" rIns="0" bIns="0" rtlCol="0" anchor="ctr">
            <a:normAutofit/>
          </a:bodyPr>
          <a:lstStyle/>
          <a:p>
            <a:pPr algn="ctr" indent="0" marL="0">
              <a:buNone/>
            </a:pPr>
            <a:r>
              <a:rPr lang="en-US" sz="1100" dirty="0">
                <a:solidFill>
                  <a:srgbClr val="A8C1C9"/>
                </a:solidFill>
              </a:rPr>
              <a:t>source → déplacement → projection barycentrique</a:t>
            </a:r>
            <a:endParaRPr lang="en-US" sz="1100" dirty="0"/>
          </a:p>
        </p:txBody>
      </p:sp>
      <p:sp>
        <p:nvSpPr>
          <p:cNvPr id="10" name="Text 8"/>
          <p:cNvSpPr/>
          <p:nvPr/>
        </p:nvSpPr>
        <p:spPr>
          <a:xfrm>
            <a:off x="2880360" y="5303520"/>
            <a:ext cx="6400800" cy="402336"/>
          </a:xfrm>
          <a:prstGeom prst="rect">
            <a:avLst/>
          </a:prstGeom>
          <a:noFill/>
          <a:ln/>
        </p:spPr>
        <p:txBody>
          <a:bodyPr wrap="square" lIns="0" tIns="0" rIns="0" bIns="0" rtlCol="0" anchor="ctr"/>
          <a:lstStyle/>
          <a:p>
            <a:pPr algn="ctr" indent="0" marL="0">
              <a:buNone/>
            </a:pPr>
            <a:r>
              <a:rPr lang="en-US" sz="2100" b="1" dirty="0">
                <a:solidFill>
                  <a:srgbClr val="F4FAFC"/>
                </a:solidFill>
              </a:rPr>
              <a:t>P(t) = (1 − t) P_source + t P_projection</a:t>
            </a:r>
            <a:endParaRPr lang="en-US" sz="2100" dirty="0"/>
          </a:p>
        </p:txBody>
      </p:sp>
      <p:sp>
        <p:nvSpPr>
          <p:cNvPr id="11" name="Text 9"/>
          <p:cNvSpPr/>
          <p:nvPr/>
        </p:nvSpPr>
        <p:spPr>
          <a:xfrm>
            <a:off x="2057400" y="5943600"/>
            <a:ext cx="8092440" cy="256032"/>
          </a:xfrm>
          <a:prstGeom prst="rect">
            <a:avLst/>
          </a:prstGeom>
          <a:noFill/>
          <a:ln/>
        </p:spPr>
        <p:txBody>
          <a:bodyPr wrap="square" lIns="0" tIns="0" rIns="0" bIns="0" rtlCol="0" anchor="ctr"/>
          <a:lstStyle/>
          <a:p>
            <a:pPr algn="ctr" indent="0" marL="0">
              <a:buNone/>
            </a:pPr>
            <a:r>
              <a:rPr lang="en-US" sz="1250" dirty="0">
                <a:solidFill>
                  <a:srgbClr val="FF9B55"/>
                </a:solidFill>
              </a:rPr>
              <a:t>Interpolation linéaire pour la visualisation — pas trajectoire LDDMM.</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151B"/>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2D3C5"/>
          </a:solidFill>
          <a:ln w="12700">
            <a:solidFill>
              <a:srgbClr val="06151B">
                <a:alpha val="0"/>
              </a:srgbClr>
            </a:solidFill>
            <a:prstDash val="solid"/>
          </a:ln>
        </p:spPr>
      </p:sp>
      <p:sp>
        <p:nvSpPr>
          <p:cNvPr id="3" name="Text 1"/>
          <p:cNvSpPr/>
          <p:nvPr/>
        </p:nvSpPr>
        <p:spPr>
          <a:xfrm>
            <a:off x="347472" y="164592"/>
            <a:ext cx="4937760" cy="182880"/>
          </a:xfrm>
          <a:prstGeom prst="rect">
            <a:avLst/>
          </a:prstGeom>
          <a:noFill/>
          <a:ln/>
        </p:spPr>
        <p:txBody>
          <a:bodyPr wrap="square" lIns="0" tIns="0" rIns="0" bIns="0" rtlCol="0" anchor="ctr"/>
          <a:lstStyle/>
          <a:p>
            <a:pPr indent="0" marL="0">
              <a:buNone/>
            </a:pPr>
            <a:r>
              <a:rPr lang="en-US" sz="950" b="1" spc="150" kern="0" dirty="0">
                <a:solidFill>
                  <a:srgbClr val="22D3C5"/>
                </a:solidFill>
              </a:rPr>
              <a:t>CONCLUSION</a:t>
            </a:r>
            <a:endParaRPr lang="en-US" sz="950" dirty="0"/>
          </a:p>
        </p:txBody>
      </p:sp>
      <p:sp>
        <p:nvSpPr>
          <p:cNvPr id="4" name="Shape 2"/>
          <p:cNvSpPr/>
          <p:nvPr/>
        </p:nvSpPr>
        <p:spPr>
          <a:xfrm>
            <a:off x="347472" y="6446520"/>
            <a:ext cx="11064240" cy="0"/>
          </a:xfrm>
          <a:prstGeom prst="line">
            <a:avLst/>
          </a:prstGeom>
          <a:noFill/>
          <a:ln w="12700">
            <a:solidFill>
              <a:srgbClr val="31545E"/>
            </a:solidFill>
            <a:prstDash val="solid"/>
          </a:ln>
        </p:spPr>
      </p:sp>
      <p:sp>
        <p:nvSpPr>
          <p:cNvPr id="5" name="Text 3"/>
          <p:cNvSpPr/>
          <p:nvPr/>
        </p:nvSpPr>
        <p:spPr>
          <a:xfrm>
            <a:off x="11292840" y="6483096"/>
            <a:ext cx="384048" cy="146304"/>
          </a:xfrm>
          <a:prstGeom prst="rect">
            <a:avLst/>
          </a:prstGeom>
          <a:noFill/>
          <a:ln/>
        </p:spPr>
        <p:txBody>
          <a:bodyPr wrap="square" lIns="0" tIns="0" rIns="0" bIns="0" rtlCol="0" anchor="ctr"/>
          <a:lstStyle/>
          <a:p>
            <a:pPr algn="r" indent="0" marL="0">
              <a:buNone/>
            </a:pPr>
            <a:r>
              <a:rPr lang="en-US" sz="850" dirty="0">
                <a:solidFill>
                  <a:srgbClr val="A8C1C9"/>
                </a:solidFill>
              </a:rPr>
              <a:t>21</a:t>
            </a:r>
            <a:endParaRPr lang="en-US" sz="850" dirty="0"/>
          </a:p>
        </p:txBody>
      </p:sp>
      <p:sp>
        <p:nvSpPr>
          <p:cNvPr id="6" name="Text 4"/>
          <p:cNvSpPr/>
          <p:nvPr/>
        </p:nvSpPr>
        <p:spPr>
          <a:xfrm>
            <a:off x="347472" y="493776"/>
            <a:ext cx="11201400" cy="493776"/>
          </a:xfrm>
          <a:prstGeom prst="rect">
            <a:avLst/>
          </a:prstGeom>
          <a:noFill/>
          <a:ln/>
        </p:spPr>
        <p:txBody>
          <a:bodyPr wrap="square" lIns="0" tIns="0" rIns="0" bIns="0" rtlCol="0" anchor="ctr">
            <a:normAutofit/>
          </a:bodyPr>
          <a:lstStyle/>
          <a:p>
            <a:pPr indent="0" marL="0">
              <a:buNone/>
            </a:pPr>
            <a:r>
              <a:rPr lang="en-US" sz="2700" b="1" dirty="0">
                <a:solidFill>
                  <a:srgbClr val="F4FAFC"/>
                </a:solidFill>
              </a:rPr>
              <a:t>Ce que quatre mois ont permis d’établir</a:t>
            </a:r>
            <a:endParaRPr lang="en-US" sz="2700" dirty="0"/>
          </a:p>
        </p:txBody>
      </p:sp>
      <p:sp>
        <p:nvSpPr>
          <p:cNvPr id="7" name="Shape 5"/>
          <p:cNvSpPr/>
          <p:nvPr/>
        </p:nvSpPr>
        <p:spPr>
          <a:xfrm>
            <a:off x="502920" y="1417320"/>
            <a:ext cx="2514600" cy="1051560"/>
          </a:xfrm>
          <a:prstGeom prst="roundRect">
            <a:avLst>
              <a:gd name="adj" fmla="val 5217"/>
            </a:avLst>
          </a:prstGeom>
          <a:solidFill>
            <a:srgbClr val="102831"/>
          </a:solidFill>
          <a:ln w="12700">
            <a:solidFill>
              <a:srgbClr val="7EE081"/>
            </a:solidFill>
            <a:prstDash val="solid"/>
          </a:ln>
        </p:spPr>
      </p:sp>
      <p:sp>
        <p:nvSpPr>
          <p:cNvPr id="8" name="Text 6"/>
          <p:cNvSpPr/>
          <p:nvPr/>
        </p:nvSpPr>
        <p:spPr>
          <a:xfrm>
            <a:off x="649224" y="1581912"/>
            <a:ext cx="2221992" cy="228600"/>
          </a:xfrm>
          <a:prstGeom prst="rect">
            <a:avLst/>
          </a:prstGeom>
          <a:noFill/>
          <a:ln/>
        </p:spPr>
        <p:txBody>
          <a:bodyPr wrap="square" lIns="0" tIns="0" rIns="0" bIns="0" rtlCol="0" anchor="ctr"/>
          <a:lstStyle/>
          <a:p>
            <a:pPr algn="ctr" indent="0" marL="0">
              <a:buNone/>
            </a:pPr>
            <a:r>
              <a:rPr lang="en-US" sz="1450" b="1" dirty="0">
                <a:solidFill>
                  <a:srgbClr val="7EE081"/>
                </a:solidFill>
              </a:rPr>
              <a:t>Pipeline RE-ID</a:t>
            </a:r>
            <a:endParaRPr lang="en-US" sz="1450" dirty="0"/>
          </a:p>
        </p:txBody>
      </p:sp>
      <p:sp>
        <p:nvSpPr>
          <p:cNvPr id="9" name="Text 7"/>
          <p:cNvSpPr/>
          <p:nvPr/>
        </p:nvSpPr>
        <p:spPr>
          <a:xfrm>
            <a:off x="649224" y="1984248"/>
            <a:ext cx="2221992" cy="219456"/>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fonctionnel</a:t>
            </a:r>
            <a:endParaRPr lang="en-US" sz="1050" dirty="0"/>
          </a:p>
        </p:txBody>
      </p:sp>
      <p:sp>
        <p:nvSpPr>
          <p:cNvPr id="10" name="Shape 8"/>
          <p:cNvSpPr/>
          <p:nvPr/>
        </p:nvSpPr>
        <p:spPr>
          <a:xfrm>
            <a:off x="3383280" y="1417320"/>
            <a:ext cx="2514600" cy="1051560"/>
          </a:xfrm>
          <a:prstGeom prst="roundRect">
            <a:avLst>
              <a:gd name="adj" fmla="val 5217"/>
            </a:avLst>
          </a:prstGeom>
          <a:solidFill>
            <a:srgbClr val="102831"/>
          </a:solidFill>
          <a:ln w="12700">
            <a:solidFill>
              <a:srgbClr val="55BFFF"/>
            </a:solidFill>
            <a:prstDash val="solid"/>
          </a:ln>
        </p:spPr>
      </p:sp>
      <p:sp>
        <p:nvSpPr>
          <p:cNvPr id="11" name="Text 9"/>
          <p:cNvSpPr/>
          <p:nvPr/>
        </p:nvSpPr>
        <p:spPr>
          <a:xfrm>
            <a:off x="3529584" y="1581912"/>
            <a:ext cx="2221992" cy="228600"/>
          </a:xfrm>
          <a:prstGeom prst="rect">
            <a:avLst/>
          </a:prstGeom>
          <a:noFill/>
          <a:ln/>
        </p:spPr>
        <p:txBody>
          <a:bodyPr wrap="square" lIns="0" tIns="0" rIns="0" bIns="0" rtlCol="0" anchor="ctr"/>
          <a:lstStyle/>
          <a:p>
            <a:pPr algn="ctr" indent="0" marL="0">
              <a:buNone/>
            </a:pPr>
            <a:r>
              <a:rPr lang="en-US" sz="1450" b="1" dirty="0">
                <a:solidFill>
                  <a:srgbClr val="55BFFF"/>
                </a:solidFill>
              </a:rPr>
              <a:t>3 compressions</a:t>
            </a:r>
            <a:endParaRPr lang="en-US" sz="1450" dirty="0"/>
          </a:p>
        </p:txBody>
      </p:sp>
      <p:sp>
        <p:nvSpPr>
          <p:cNvPr id="12" name="Text 10"/>
          <p:cNvSpPr/>
          <p:nvPr/>
        </p:nvSpPr>
        <p:spPr>
          <a:xfrm>
            <a:off x="3529584" y="1984248"/>
            <a:ext cx="2221992" cy="219456"/>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QB · K-Means · Binning</a:t>
            </a:r>
            <a:endParaRPr lang="en-US" sz="1050" dirty="0"/>
          </a:p>
        </p:txBody>
      </p:sp>
      <p:sp>
        <p:nvSpPr>
          <p:cNvPr id="13" name="Shape 11"/>
          <p:cNvSpPr/>
          <p:nvPr/>
        </p:nvSpPr>
        <p:spPr>
          <a:xfrm>
            <a:off x="6263640" y="1417320"/>
            <a:ext cx="2514600" cy="1051560"/>
          </a:xfrm>
          <a:prstGeom prst="roundRect">
            <a:avLst>
              <a:gd name="adj" fmla="val 5217"/>
            </a:avLst>
          </a:prstGeom>
          <a:solidFill>
            <a:srgbClr val="102831"/>
          </a:solidFill>
          <a:ln w="12700">
            <a:solidFill>
              <a:srgbClr val="FF9B55"/>
            </a:solidFill>
            <a:prstDash val="solid"/>
          </a:ln>
        </p:spPr>
      </p:sp>
      <p:sp>
        <p:nvSpPr>
          <p:cNvPr id="14" name="Text 12"/>
          <p:cNvSpPr/>
          <p:nvPr/>
        </p:nvSpPr>
        <p:spPr>
          <a:xfrm>
            <a:off x="6409944" y="1581912"/>
            <a:ext cx="2221992" cy="228600"/>
          </a:xfrm>
          <a:prstGeom prst="rect">
            <a:avLst/>
          </a:prstGeom>
          <a:noFill/>
          <a:ln/>
        </p:spPr>
        <p:txBody>
          <a:bodyPr wrap="square" lIns="0" tIns="0" rIns="0" bIns="0" rtlCol="0" anchor="ctr"/>
          <a:lstStyle/>
          <a:p>
            <a:pPr algn="ctr" indent="0" marL="0">
              <a:buNone/>
            </a:pPr>
            <a:r>
              <a:rPr lang="en-US" sz="1450" b="1" dirty="0">
                <a:solidFill>
                  <a:srgbClr val="FF9B55"/>
                </a:solidFill>
              </a:rPr>
              <a:t>2 transports</a:t>
            </a:r>
            <a:endParaRPr lang="en-US" sz="1450" dirty="0"/>
          </a:p>
        </p:txBody>
      </p:sp>
      <p:sp>
        <p:nvSpPr>
          <p:cNvPr id="15" name="Text 13"/>
          <p:cNvSpPr/>
          <p:nvPr/>
        </p:nvSpPr>
        <p:spPr>
          <a:xfrm>
            <a:off x="6409944" y="1984248"/>
            <a:ext cx="2221992" cy="219456"/>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Partial OT · Sinkhorn</a:t>
            </a:r>
            <a:endParaRPr lang="en-US" sz="1050" dirty="0"/>
          </a:p>
        </p:txBody>
      </p:sp>
      <p:sp>
        <p:nvSpPr>
          <p:cNvPr id="16" name="Shape 14"/>
          <p:cNvSpPr/>
          <p:nvPr/>
        </p:nvSpPr>
        <p:spPr>
          <a:xfrm>
            <a:off x="9144000" y="1417320"/>
            <a:ext cx="2514600" cy="1051560"/>
          </a:xfrm>
          <a:prstGeom prst="roundRect">
            <a:avLst>
              <a:gd name="adj" fmla="val 5217"/>
            </a:avLst>
          </a:prstGeom>
          <a:solidFill>
            <a:srgbClr val="102831"/>
          </a:solidFill>
          <a:ln w="12700">
            <a:solidFill>
              <a:srgbClr val="22D3C5"/>
            </a:solidFill>
            <a:prstDash val="solid"/>
          </a:ln>
        </p:spPr>
      </p:sp>
      <p:sp>
        <p:nvSpPr>
          <p:cNvPr id="17" name="Text 15"/>
          <p:cNvSpPr/>
          <p:nvPr/>
        </p:nvSpPr>
        <p:spPr>
          <a:xfrm>
            <a:off x="9290304" y="1581912"/>
            <a:ext cx="2221992" cy="228600"/>
          </a:xfrm>
          <a:prstGeom prst="rect">
            <a:avLst/>
          </a:prstGeom>
          <a:noFill/>
          <a:ln/>
        </p:spPr>
        <p:txBody>
          <a:bodyPr wrap="square" lIns="0" tIns="0" rIns="0" bIns="0" rtlCol="0" anchor="ctr"/>
          <a:lstStyle/>
          <a:p>
            <a:pPr algn="ctr" indent="0" marL="0">
              <a:buNone/>
            </a:pPr>
            <a:r>
              <a:rPr lang="en-US" sz="1450" b="1" dirty="0">
                <a:solidFill>
                  <a:srgbClr val="22D3C5"/>
                </a:solidFill>
              </a:rPr>
              <a:t>Meilleur essai</a:t>
            </a:r>
            <a:endParaRPr lang="en-US" sz="1450" dirty="0"/>
          </a:p>
        </p:txBody>
      </p:sp>
      <p:sp>
        <p:nvSpPr>
          <p:cNvPr id="18" name="Text 16"/>
          <p:cNvSpPr/>
          <p:nvPr/>
        </p:nvSpPr>
        <p:spPr>
          <a:xfrm>
            <a:off x="9290304" y="1984248"/>
            <a:ext cx="2221992" cy="219456"/>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K-Means + Partial : 100 %</a:t>
            </a:r>
            <a:endParaRPr lang="en-US" sz="1050" dirty="0"/>
          </a:p>
        </p:txBody>
      </p:sp>
      <p:sp>
        <p:nvSpPr>
          <p:cNvPr id="19" name="Shape 17"/>
          <p:cNvSpPr/>
          <p:nvPr/>
        </p:nvSpPr>
        <p:spPr>
          <a:xfrm>
            <a:off x="502920" y="2834640"/>
            <a:ext cx="2514600" cy="1051560"/>
          </a:xfrm>
          <a:prstGeom prst="roundRect">
            <a:avLst>
              <a:gd name="adj" fmla="val 5217"/>
            </a:avLst>
          </a:prstGeom>
          <a:solidFill>
            <a:srgbClr val="102831"/>
          </a:solidFill>
          <a:ln w="12700">
            <a:solidFill>
              <a:srgbClr val="F4D35E"/>
            </a:solidFill>
            <a:prstDash val="solid"/>
          </a:ln>
        </p:spPr>
      </p:sp>
      <p:sp>
        <p:nvSpPr>
          <p:cNvPr id="20" name="Text 18"/>
          <p:cNvSpPr/>
          <p:nvPr/>
        </p:nvSpPr>
        <p:spPr>
          <a:xfrm>
            <a:off x="649224" y="2999232"/>
            <a:ext cx="2221992" cy="228600"/>
          </a:xfrm>
          <a:prstGeom prst="rect">
            <a:avLst/>
          </a:prstGeom>
          <a:noFill/>
          <a:ln/>
        </p:spPr>
        <p:txBody>
          <a:bodyPr wrap="square" lIns="0" tIns="0" rIns="0" bIns="0" rtlCol="0" anchor="ctr"/>
          <a:lstStyle/>
          <a:p>
            <a:pPr algn="ctr" indent="0" marL="0">
              <a:buNone/>
            </a:pPr>
            <a:r>
              <a:rPr lang="en-US" sz="1450" b="1" dirty="0">
                <a:solidFill>
                  <a:srgbClr val="F4D35E"/>
                </a:solidFill>
              </a:rPr>
              <a:t>Cardinalité</a:t>
            </a:r>
            <a:endParaRPr lang="en-US" sz="1450" dirty="0"/>
          </a:p>
        </p:txBody>
      </p:sp>
      <p:sp>
        <p:nvSpPr>
          <p:cNvPr id="21" name="Text 19"/>
          <p:cNvSpPr/>
          <p:nvPr/>
        </p:nvSpPr>
        <p:spPr>
          <a:xfrm>
            <a:off x="649224" y="3401568"/>
            <a:ext cx="2221992" cy="219456"/>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importante, mais non suffisante</a:t>
            </a:r>
            <a:endParaRPr lang="en-US" sz="1050" dirty="0"/>
          </a:p>
        </p:txBody>
      </p:sp>
      <p:sp>
        <p:nvSpPr>
          <p:cNvPr id="22" name="Shape 20"/>
          <p:cNvSpPr/>
          <p:nvPr/>
        </p:nvSpPr>
        <p:spPr>
          <a:xfrm>
            <a:off x="3383280" y="2834640"/>
            <a:ext cx="2514600" cy="1051560"/>
          </a:xfrm>
          <a:prstGeom prst="roundRect">
            <a:avLst>
              <a:gd name="adj" fmla="val 5217"/>
            </a:avLst>
          </a:prstGeom>
          <a:solidFill>
            <a:srgbClr val="102831"/>
          </a:solidFill>
          <a:ln w="12700">
            <a:solidFill>
              <a:srgbClr val="55BFFF"/>
            </a:solidFill>
            <a:prstDash val="solid"/>
          </a:ln>
        </p:spPr>
      </p:sp>
      <p:sp>
        <p:nvSpPr>
          <p:cNvPr id="23" name="Text 21"/>
          <p:cNvSpPr/>
          <p:nvPr/>
        </p:nvSpPr>
        <p:spPr>
          <a:xfrm>
            <a:off x="3529584" y="2999232"/>
            <a:ext cx="2221992" cy="228600"/>
          </a:xfrm>
          <a:prstGeom prst="rect">
            <a:avLst/>
          </a:prstGeom>
          <a:noFill/>
          <a:ln/>
        </p:spPr>
        <p:txBody>
          <a:bodyPr wrap="square" lIns="0" tIns="0" rIns="0" bIns="0" rtlCol="0" anchor="ctr"/>
          <a:lstStyle/>
          <a:p>
            <a:pPr algn="ctr" indent="0" marL="0">
              <a:buNone/>
            </a:pPr>
            <a:r>
              <a:rPr lang="en-US" sz="1450" b="1" dirty="0">
                <a:solidFill>
                  <a:srgbClr val="55BFFF"/>
                </a:solidFill>
              </a:rPr>
              <a:t>Projection OT</a:t>
            </a:r>
            <a:endParaRPr lang="en-US" sz="1450" dirty="0"/>
          </a:p>
        </p:txBody>
      </p:sp>
      <p:sp>
        <p:nvSpPr>
          <p:cNvPr id="24" name="Text 22"/>
          <p:cNvSpPr/>
          <p:nvPr/>
        </p:nvSpPr>
        <p:spPr>
          <a:xfrm>
            <a:off x="3529584" y="3401568"/>
            <a:ext cx="2221992" cy="219456"/>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visualisation barycentrique</a:t>
            </a:r>
            <a:endParaRPr lang="en-US" sz="1050" dirty="0"/>
          </a:p>
        </p:txBody>
      </p:sp>
      <p:sp>
        <p:nvSpPr>
          <p:cNvPr id="25" name="Shape 23"/>
          <p:cNvSpPr/>
          <p:nvPr/>
        </p:nvSpPr>
        <p:spPr>
          <a:xfrm>
            <a:off x="6263640" y="2834640"/>
            <a:ext cx="2514600" cy="1051560"/>
          </a:xfrm>
          <a:prstGeom prst="roundRect">
            <a:avLst>
              <a:gd name="adj" fmla="val 5217"/>
            </a:avLst>
          </a:prstGeom>
          <a:solidFill>
            <a:srgbClr val="102831"/>
          </a:solidFill>
          <a:ln w="12700">
            <a:solidFill>
              <a:srgbClr val="FF6271"/>
            </a:solidFill>
            <a:prstDash val="solid"/>
          </a:ln>
        </p:spPr>
      </p:sp>
      <p:sp>
        <p:nvSpPr>
          <p:cNvPr id="26" name="Text 24"/>
          <p:cNvSpPr/>
          <p:nvPr/>
        </p:nvSpPr>
        <p:spPr>
          <a:xfrm>
            <a:off x="6409944" y="2999232"/>
            <a:ext cx="2221992" cy="228600"/>
          </a:xfrm>
          <a:prstGeom prst="rect">
            <a:avLst/>
          </a:prstGeom>
          <a:noFill/>
          <a:ln/>
        </p:spPr>
        <p:txBody>
          <a:bodyPr wrap="square" lIns="0" tIns="0" rIns="0" bIns="0" rtlCol="0" anchor="ctr"/>
          <a:lstStyle/>
          <a:p>
            <a:pPr algn="ctr" indent="0" marL="0">
              <a:buNone/>
            </a:pPr>
            <a:r>
              <a:rPr lang="en-US" sz="1450" b="1" dirty="0">
                <a:solidFill>
                  <a:srgbClr val="FF6271"/>
                </a:solidFill>
              </a:rPr>
              <a:t>Limite centrale</a:t>
            </a:r>
            <a:endParaRPr lang="en-US" sz="1450" dirty="0"/>
          </a:p>
        </p:txBody>
      </p:sp>
      <p:sp>
        <p:nvSpPr>
          <p:cNvPr id="27" name="Text 25"/>
          <p:cNvSpPr/>
          <p:nvPr/>
        </p:nvSpPr>
        <p:spPr>
          <a:xfrm>
            <a:off x="6409944" y="3401568"/>
            <a:ext cx="2221992" cy="219456"/>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plan OT ≠ déformation valide</a:t>
            </a:r>
            <a:endParaRPr lang="en-US" sz="1050" dirty="0"/>
          </a:p>
        </p:txBody>
      </p:sp>
      <p:sp>
        <p:nvSpPr>
          <p:cNvPr id="28" name="Shape 26"/>
          <p:cNvSpPr/>
          <p:nvPr/>
        </p:nvSpPr>
        <p:spPr>
          <a:xfrm>
            <a:off x="9144000" y="2834640"/>
            <a:ext cx="2514600" cy="1051560"/>
          </a:xfrm>
          <a:prstGeom prst="roundRect">
            <a:avLst>
              <a:gd name="adj" fmla="val 5217"/>
            </a:avLst>
          </a:prstGeom>
          <a:solidFill>
            <a:srgbClr val="102831"/>
          </a:solidFill>
          <a:ln w="12700">
            <a:solidFill>
              <a:srgbClr val="7EE081"/>
            </a:solidFill>
            <a:prstDash val="solid"/>
          </a:ln>
        </p:spPr>
      </p:sp>
      <p:sp>
        <p:nvSpPr>
          <p:cNvPr id="29" name="Text 27"/>
          <p:cNvSpPr/>
          <p:nvPr/>
        </p:nvSpPr>
        <p:spPr>
          <a:xfrm>
            <a:off x="9290304" y="2999232"/>
            <a:ext cx="2221992" cy="228600"/>
          </a:xfrm>
          <a:prstGeom prst="rect">
            <a:avLst/>
          </a:prstGeom>
          <a:noFill/>
          <a:ln/>
        </p:spPr>
        <p:txBody>
          <a:bodyPr wrap="square" lIns="0" tIns="0" rIns="0" bIns="0" rtlCol="0" anchor="ctr"/>
          <a:lstStyle/>
          <a:p>
            <a:pPr algn="ctr" indent="0" marL="0">
              <a:buNone/>
            </a:pPr>
            <a:r>
              <a:rPr lang="en-US" sz="1450" b="1" dirty="0">
                <a:solidFill>
                  <a:srgbClr val="7EE081"/>
                </a:solidFill>
              </a:rPr>
              <a:t>Finalité</a:t>
            </a:r>
            <a:endParaRPr lang="en-US" sz="1450" dirty="0"/>
          </a:p>
        </p:txBody>
      </p:sp>
      <p:sp>
        <p:nvSpPr>
          <p:cNvPr id="30" name="Text 28"/>
          <p:cNvSpPr/>
          <p:nvPr/>
        </p:nvSpPr>
        <p:spPr>
          <a:xfrm>
            <a:off x="9290304" y="3401568"/>
            <a:ext cx="2221992" cy="219456"/>
          </a:xfrm>
          <a:prstGeom prst="rect">
            <a:avLst/>
          </a:prstGeom>
          <a:noFill/>
          <a:ln/>
        </p:spPr>
        <p:txBody>
          <a:bodyPr wrap="square" lIns="0" tIns="0" rIns="0" bIns="0" rtlCol="0" anchor="ctr">
            <a:normAutofit/>
          </a:bodyPr>
          <a:lstStyle/>
          <a:p>
            <a:pPr algn="ctr" indent="0" marL="0">
              <a:buNone/>
            </a:pPr>
            <a:r>
              <a:rPr lang="en-US" sz="1050" dirty="0">
                <a:solidFill>
                  <a:srgbClr val="A8C1C9"/>
                </a:solidFill>
              </a:rPr>
              <a:t>préparer la comparaison pathologique</a:t>
            </a:r>
            <a:endParaRPr lang="en-US" sz="1050" dirty="0"/>
          </a:p>
        </p:txBody>
      </p:sp>
      <p:sp>
        <p:nvSpPr>
          <p:cNvPr id="31" name="Text 29"/>
          <p:cNvSpPr/>
          <p:nvPr/>
        </p:nvSpPr>
        <p:spPr>
          <a:xfrm>
            <a:off x="914400" y="4572000"/>
            <a:ext cx="10287000" cy="530352"/>
          </a:xfrm>
          <a:prstGeom prst="rect">
            <a:avLst/>
          </a:prstGeom>
          <a:noFill/>
          <a:ln/>
        </p:spPr>
        <p:txBody>
          <a:bodyPr wrap="square" lIns="0" tIns="0" rIns="0" bIns="0" rtlCol="0" anchor="ctr">
            <a:normAutofit/>
          </a:bodyPr>
          <a:lstStyle/>
          <a:p>
            <a:pPr algn="ctr" indent="0" marL="0">
              <a:buNone/>
            </a:pPr>
            <a:r>
              <a:rPr lang="en-US" sz="2000" b="1" dirty="0">
                <a:solidFill>
                  <a:srgbClr val="F4FAFC"/>
                </a:solidFill>
              </a:rPr>
              <a:t>Plusieurs pipelines de compression + OT contiennent suffisamment d’information pour distinguer les sujets dans le protocole étudié.</a:t>
            </a:r>
            <a:endParaRPr lang="en-US" sz="2000" dirty="0"/>
          </a:p>
        </p:txBody>
      </p:sp>
      <p:sp>
        <p:nvSpPr>
          <p:cNvPr id="32" name="Text 30"/>
          <p:cNvSpPr/>
          <p:nvPr/>
        </p:nvSpPr>
        <p:spPr>
          <a:xfrm>
            <a:off x="731520" y="5715000"/>
            <a:ext cx="10698480" cy="347472"/>
          </a:xfrm>
          <a:prstGeom prst="rect">
            <a:avLst/>
          </a:prstGeom>
          <a:noFill/>
          <a:ln/>
        </p:spPr>
        <p:txBody>
          <a:bodyPr wrap="square" lIns="0" tIns="0" rIns="0" bIns="0" rtlCol="0" anchor="ctr">
            <a:normAutofit/>
          </a:bodyPr>
          <a:lstStyle/>
          <a:p>
            <a:pPr algn="ctr" indent="0" marL="0">
              <a:buNone/>
            </a:pPr>
            <a:r>
              <a:rPr lang="en-US" sz="1250" dirty="0">
                <a:solidFill>
                  <a:srgbClr val="22D3C5"/>
                </a:solidFill>
              </a:rPr>
              <a:t>Suite : données pathologiques · harmonisation · registration · vraies streamlines · Sinkhorn + LDDMM · validation anatomique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6151B"/>
        </a:solidFill>
      </p:bgPr>
    </p:bg>
    <p:spTree>
      <p:nvGrpSpPr>
        <p:cNvPr id="1" name=""/>
        <p:cNvGrpSpPr/>
        <p:nvPr/>
      </p:nvGrpSpPr>
      <p:grpSpPr>
        <a:xfrm>
          <a:off x="0" y="0"/>
          <a:ext cx="0" cy="0"/>
          <a:chOff x="0" y="0"/>
          <a:chExt cx="0" cy="0"/>
        </a:xfrm>
      </p:grpSpPr>
      <p:sp>
        <p:nvSpPr>
          <p:cNvPr id="2" name="Shape 0"/>
          <p:cNvSpPr/>
          <p:nvPr/>
        </p:nvSpPr>
        <p:spPr>
          <a:xfrm rot="1320000">
            <a:off x="7818120" y="-731520"/>
            <a:ext cx="4937760" cy="4937760"/>
          </a:xfrm>
          <a:prstGeom prst="arc">
            <a:avLst/>
          </a:prstGeom>
          <a:solidFill>
            <a:srgbClr val="22D3C5">
              <a:alpha val="16000"/>
            </a:srgbClr>
          </a:solidFill>
          <a:ln w="12700">
            <a:solidFill>
              <a:srgbClr val="22D3C5">
                <a:alpha val="60000"/>
              </a:srgbClr>
            </a:solidFill>
            <a:prstDash val="solid"/>
          </a:ln>
        </p:spPr>
      </p:sp>
      <p:sp>
        <p:nvSpPr>
          <p:cNvPr id="3" name="Text 1"/>
          <p:cNvSpPr/>
          <p:nvPr/>
        </p:nvSpPr>
        <p:spPr>
          <a:xfrm>
            <a:off x="777240" y="2240280"/>
            <a:ext cx="6583680" cy="868680"/>
          </a:xfrm>
          <a:prstGeom prst="rect">
            <a:avLst/>
          </a:prstGeom>
          <a:noFill/>
          <a:ln/>
        </p:spPr>
        <p:txBody>
          <a:bodyPr wrap="square" lIns="0" tIns="0" rIns="0" bIns="0" rtlCol="0" anchor="ctr"/>
          <a:lstStyle/>
          <a:p>
            <a:pPr indent="0" marL="0">
              <a:buNone/>
            </a:pPr>
            <a:r>
              <a:rPr lang="en-US" sz="5000" b="1" dirty="0">
                <a:solidFill>
                  <a:srgbClr val="F4FAFC"/>
                </a:solidFill>
              </a:rPr>
              <a:t>Questions ?</a:t>
            </a:r>
            <a:endParaRPr lang="en-US" sz="5000" dirty="0"/>
          </a:p>
        </p:txBody>
      </p:sp>
      <p:sp>
        <p:nvSpPr>
          <p:cNvPr id="4" name="Text 2"/>
          <p:cNvSpPr/>
          <p:nvPr/>
        </p:nvSpPr>
        <p:spPr>
          <a:xfrm>
            <a:off x="822960" y="3310128"/>
            <a:ext cx="2743200" cy="365760"/>
          </a:xfrm>
          <a:prstGeom prst="rect">
            <a:avLst/>
          </a:prstGeom>
          <a:noFill/>
          <a:ln/>
        </p:spPr>
        <p:txBody>
          <a:bodyPr wrap="square" lIns="0" tIns="0" rIns="0" bIns="0" rtlCol="0" anchor="ctr"/>
          <a:lstStyle/>
          <a:p>
            <a:pPr indent="0" marL="0">
              <a:buNone/>
            </a:pPr>
            <a:r>
              <a:rPr lang="en-US" sz="1900" b="1" spc="150" kern="0" dirty="0">
                <a:solidFill>
                  <a:srgbClr val="22D3C5"/>
                </a:solidFill>
              </a:rPr>
              <a:t>KADMON</a:t>
            </a:r>
            <a:endParaRPr lang="en-US" sz="1900" dirty="0"/>
          </a:p>
        </p:txBody>
      </p:sp>
      <p:sp>
        <p:nvSpPr>
          <p:cNvPr id="5" name="Text 3"/>
          <p:cNvSpPr/>
          <p:nvPr/>
        </p:nvSpPr>
        <p:spPr>
          <a:xfrm>
            <a:off x="822960" y="3913632"/>
            <a:ext cx="6035040" cy="274320"/>
          </a:xfrm>
          <a:prstGeom prst="rect">
            <a:avLst/>
          </a:prstGeom>
          <a:noFill/>
          <a:ln/>
        </p:spPr>
        <p:txBody>
          <a:bodyPr wrap="square" lIns="0" tIns="0" rIns="0" bIns="0" rtlCol="0" anchor="ctr"/>
          <a:lstStyle/>
          <a:p>
            <a:pPr indent="0" marL="0">
              <a:buNone/>
            </a:pPr>
            <a:r>
              <a:rPr lang="en-US" sz="1300" dirty="0">
                <a:solidFill>
                  <a:srgbClr val="A8C1C9"/>
                </a:solidFill>
              </a:rPr>
              <a:t>Compression · Optimal Transport · RE-ID · cartographie locale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Université du Québec en Outaouais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KADMON — De la découverte de la tractographie à la cartographie de déviations</dc:title>
  <dc:subject>Progression scientifique du projet KADMON — été 2026</dc:subject>
  <dc:creator>Projet KADMON</dc:creator>
  <cp:lastModifiedBy>Projet KADMON</cp:lastModifiedBy>
  <cp:revision>1</cp:revision>
  <dcterms:created xsi:type="dcterms:W3CDTF">2026-08-24T15:57:23Z</dcterms:created>
  <dcterms:modified xsi:type="dcterms:W3CDTF">2026-08-24T15:57:23Z</dcterms:modified>
</cp:coreProperties>
</file>